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4팀입니다. 저희는 첫 월급을 받은 사회초년생이 돈을 어떻게 나누고, 얼마까지 써도 되는지, 예상치 못한 지출 뒤 계획을 어떻게 되살릴지를 함께 판단해 주는 AI 금융 코치 서비스, 머니쿠션을 기획하고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팀은 세 명입니다. 김혜리는 거래 분류 ML과 거래 분류 에이전트, 라우터와 통합 챗봇을 맡고 CODEF 연동, 알림, API 서버 통합을 담당합니다. 김나은은 카테고리 비율 ML과 예산 설계·예산 조정 에이전트를 맡고 계산 엔진과 승인 흐름, DB 스키마를 담당합니다. 권세진은 또래 비교 회귀와 큰 지출 상담 에이전트를 맡고 복지·대출 데이터, 소비 리포트, 배포를 담당합니다.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프로젝트 개요, 진행 현황, 예상 결과 목표의 세 파트로 진행하겠습니다.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웰니스가 무엇인지 짚고 가겠습니다. 웰니스는 신체적, 감정적, 지적, 사회적, 영적, 직업적, 환경적, 재정적의 8가지 영역으로 나뉩니다. 이 중 재정적 웰니스는 경제적 상황을 안정적으로 관리하고 지출, 저축, 투자를 합리적으로 계획해 금전적 스트레스를 줄이는 것입니다. 머니쿠션은 이 재정적 웰니스에 집중한 서비스입니다.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머니쿠션은 사회초년생 청년을 위한 멀티에이전트 기반 AI 금융 웰니스 서비스입니다. 첫 월급을 받은 사회초년생이 월급을 어떻게 나눌지, 다음 월급날까지 얼마를 더 써도 되는지, 예상치 못한 지출 뒤 계획을 어떻게 되살릴지를 함께 판단해 주는 AI 금융 코치입니다. 본인 계좌를 연결해야 이용할 수 있고, 송금이나 결제 없이 조회만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사회초년생은 처음으로 월급, 카드대금, 월세 같은 정기 지출을 스스로 관리하지만 돈 관리 습관은 아직 자리 잡지 않은 시기입니다. 2024 전국민 금융이해력 조사에서 20대의 재무 상황 점검 점수는 55.8점에서 33.2점으로, 재무 목표 설정 점수는 48.0점에서 36.1점으로 떨어졌습니다. 금융 지식보다 실제 돈 관리 행동이 약하다는 점에서, 정보를 더 주는 것보다 매달의 판단을 함께 해주는 도구가 필요하다고 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사회초년생이 실제로 겪는 문제와 머니쿠션의 해결 방향입니다. 월급이 들어오면 먼저 쓰고 남는 돈을 저축하는 경우, 예산 방향에 맞춘 추천 예산을 먼저 제시합니다. 잔액이 넉넉해 보여도 카드대금 출금일에 부족해지는 경우, 카드대금·고정지출을 뺀 더 써도 되는 돈을 보여줍니다. 경조사비나 병원비 뒤 예산 관리를 포기하는 경우, 세 가지 선택지로 계획을 되살립니다. 같은 항목이 반복 초과되면 조정안을 제안하고, 낯선 금융 용어는 화면 맥락에 맞게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머니쿠션의 1차 MVP 흐름은 추천 예산으로 월급을 나누고, 더 써도 되는 돈으로 매일 판단하고, 돌발 지출이나 초과가 생기면 머니 쿠션과 예산 조정으로 계획을 되살리는 것입니다. 1차를 점검한 뒤 2차로 소비 리포트, 3차로 큰 지출 상담을 붙입니다. 서비스 전반에 쓰이는 개념은 네 가지입니다. 안전 소비액은 확정 지출, 최소생활비, 저축, 쿠션을 지키고도 다음 급여일까지 더 쓸 수 있는 금액입니다. 머니 쿠션은 돌발 지출 대비 예비비, 자물쇠는 사용자가 고정한 카테고리, 그리고 모든 변경은 사용자 승인 후에만 반영됩니다.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유사 서비스로 토스와 뱅크샐러드를 봤습니다. 토스는 전 연령 대상의 조회와 알림 중심, 뱅크샐러드는 지난 소비 분석 중심입니다. 머니쿠션은 돈 관리를 처음 시작하는 청년에게 다음 월급날까지 얼마를 써도 되는지라는 앞으로의 판단을 제공합니다. 비교 범위는 각 서비스의 공식 공개 안내이며, 경쟁 서비스에 유사 기능이 없다고 단정하지는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머니쿠션의 차별점은 여섯 가지입니다. 사회초년생에 맞춘 시작점, 지난 소비보다 쓸 수 있는 돈을 먼저 보여주는 것, 월급의 3배를 기준으로 머니 쿠션을 먼저 확보해 돌발 지출에 대비하는 것, 실수해도 회복할 수 있는 구조, 계산 엔진이 검수하는 믿을 수 있는 숫자, 그리고 경험을 다음 달 계획에 반영하는 것입니다. 특히 금액은 AI가 아닌 계산 엔진이 계산하고 검수하며, 사용자 승인 없이 예산을 바꾸지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구현 범위는 요구사항정의서의 우선순위 그대로 나눴습니다. 1차 MVP는 회원·계좌 연결, 예산 설계, 거래 자동 분류, 예산 조정 네 가지 모드, 통합 챗봇, 머니 쿠션입니다. 1차 통합 점검 후 2차로 소비 리포트, 소액 돌발 지출, 알림을, 3차로 큰 지출 상담을 붙입니다. 카드 OCR은 검증 후 채택 여부를 정하고, 예정 지출 달력과 목표, 청년 정책, 예적금·카드 추천, 네이티브 앱은 후순위로 뒀습니다. 공동 결제 정산, 출금 계좌 잔액 부족 알림, 구매 상담은 이번 범위에서 제외했습니다.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시스템은 React 모바일 웹, FastAPI 서버, AI 에이전트, 계산 엔진과 ML, 데이터 계층으로 구성됩니다. 잔액이나 더 써도 되는 돈 같은 조회는 LLM 없이 DB와 계산 엔진으로 즉시 처리합니다. 라우터도 LLM을 쓰지 않고 버튼 선택과 시스템 진입점으로 담당 에이전트와 모드를 정하며, 판단이 필요한 요청만 작업 큐를 거쳐 AI Worker에서 처리합니다. 에이전트는 DB를 직접 변경하지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라우터는 규칙으로만 동작해 버튼과 진입점으로 담당 에이전트와 모드를 정합니다. 거래 분류는 ML이 먼저 분류하고, 확신도가 낮으면 검색·지도 정보와 LLM으로 추가 판단하며, 그래도 불명확하면 사용자에게 확인합니다. 예산 설계는 규칙 비율, ML 비율, LLM 보정, 엔진 검증 순서입니다. 예산 조정은 엔진이 조정 가능 금액을 계산하고 LLM이 재분배안을 만든 뒤 엔진 검수와 사용자 승인을 거칩니다. 큰 지출 상담은 부족 금액을 계산하고, 동의한 경우에만 복지 검색과 대출 비교를 호출합니다.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카테고리 예산 초과 시나리오로 에이전트 협업을 보여드리겠습니다. 매일 카테고리 소비를 점검하다가 식비 예산이 초과되면 라우터가 예산 조정 에이전트의 초과 모드를 지정합니다. 계산 엔진이 초과 금액과 카테고리별 조정 가능 금액을 계산하고, LLM이 우선순위가 낮고 여유가 많은 곳부터 재분배안을 작성합니다. 엔진이 초과 금액 전부 보충, 합계, 자물쇠, 최소·최대, 음수 여부를 검수하고, 통과한 안만 통합 챗봇에 보여줍니다. 사용자가 승인하면 새 예산 버전으로 저장됩니다. 검수에 실패하면 최대 3회까지 재생성하고, 그래도 실패하면 자동 반영 없이 사용자 확인으로 전환합니다.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 모델은 세 가지입니다. 거래 분류 모델은 규칙·사전·문자 n-gram 기준선과 한국어 인코더 모델을 비교하고, 상가 정보 API로 만든 업종-카테고리 대응표와 검증된 거래 표본으로 학습합니다. 카테고리 비율 예측과 또래 비교 회귀는 MDIS·KOSIS 가계동향조사를 사용하고 평균 기준선 대비 성능을 봅니다. 신뢰도가 낮으면 사용자 확인으로 넘기고, 최종 금액은 계산 엔진이 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1차 제공 형태는 React 모바일 웹이고, 백엔드는 FastAPI와 Cognito, AI 에이전트는 규칙 라우터와 LLM 에이전트 네 개로 별도 AI Worker에서 처리합니다. 데이터는 PostgreSQL에 원장과 예산 이력을, 벡터 DB에 금융 지식을, S3에 모델 파일을 둡니다. 인프라는 EC2 위의 Docker Compose와 SQS, CloudWatch를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일정은 8주이고 지금은 3주차입니다. 1~2주차에는 요구사항 정의서, WBS, 기획서, 화면설계서, 수집 데이터 보고서를 작성했고, 이번 주에는 10월 14일 에이전트 재구성과 우선순위를 반영한 v5 기획, DB 설계, 화면 프로토타입, 학습 자료와 복지·대출 데이터 범위 확인을 진행합니다. 4~5주차에 1차 MVP를 구현하고, 6주차에 MVP 통합 점검과 함께 2차 기능을 붙이며, 7~8주차에 3차 큰 지출 상담과 통합 테스트, 배포를 마칩니다.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데이터는 목적별로 수집합니다. CODEF 계좌 데이터는 필수이고 카드와 대출은 선택입니다. 사용자가 입력한 재정 프로필, 예산 설계와 또래 비교를 위한 가계동향조사, 거래 분류를 위한 상가 정보와 검색·지도 API, 큰 지출 상담을 위한 복지서비스 API와 대출 상품 데이터, 금융 용어 설명을 위한 공개 금융교육 자료를 벡터 DB로 구축합니다. 실제 연동 권한이나 학습 데이터를 확보하기 전에는 모의 데이터로 인터페이스를 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범위와 관련해 결정한 것과 아직 확정이 필요한 것을 정리했습니다. 공동 결제 정산, 출금 계좌 잔액 부족 알림, 구매 상담은 이번 범위에서 제외했고, 10월 14일 에이전트 구성을 규칙 라우터와 에이전트 네 개로 재구성하고, 기능을 1차 MVP, 2차, 3차, 후순위로 나눠 1차부터 구현하기로 했습니다. 1차 제공 형태는 React 모바일 웹입니다. 아직 확정이 필요한 것은 CODEF 조회 항목과 기관 범위, 금융상품 한눈에의 공개 API 제공 여부, 복지 데이터의 조회 방식, 대출 상환액을 예산에 반영하는 방식, 그리고 카드 OCR 채택 여부입니다. CODEF 범위는 연동 테스트 후, OCR은 검증 후 확정합니다.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주에는 라우터 진입점 매핑, 예산 조정 모드와 LLM 출력 7항목, 검수 실패 코드를 합의해 에이전트 사이에 전달되는 형식을 고정합니다. 4~5주차에는 1차 MVP인 ML 기준선, 라우터와 챗봇, 예산 설계부터 승인까지, 거래 분류와 머니 쿠션을 구현합니다. 6주차에 1차 MVP를 통합 점검하고 소비 리포트, 소액 돌발 지출, 알림 같은 2차 기능과 단일 LLM 비교 평가를 진행합니다. 7~8주차에는 3차인 큰 지출 상담을 붙이고 통합 테스트와 배포를 마무리합니다.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평가는 여섯 가지 기준으로 합니다. 금액 정확성은 독립적으로 계산한 기대값과 계산 엔진 결과를 비교해 보호 조건 위반과 중복 차감 0건을 목표로 합니다. 멀티에이전트 효과는 같은 데이터로 단일 LLM과 비교해 검수 통과율, 재생성 횟수, 응답 시간, 비용을 측정합니다. 이 밖에 안전성, 거래 분류 성능, 예산 설계 성능, 장애 시 안전한 종료를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머니쿠션을 통해 사용자는 매달 얼마까지 써도 되는지 확인하며 재무 상황 점검 습관을 만들고, 돌발 지출 이후에도 계획을 포기하지 않고 회복하는 경험을 하며, 큰 지출을 미리 준비할 수 있습니다. 효과는 사용자 과제 수행과 통합 시나리오 시험으로 검증합니다. 수익 모델은 상용화를 위한 가설로, 프리미엄 구독, 청년 금융상품 제휴, 기업·기관 금융교육 연계를 검토하고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들어주셔서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08930"/>
          </a:xfrm>
          <a:prstGeom prst="rect">
            <a:avLst/>
          </a:prstGeom>
          <a:noFill/>
          <a:ln/>
        </p:spPr>
        <p:txBody>
          <a:bodyPr wrap="square" lIns="0" tIns="0" rIns="0" bIns="0" rtlCol="0" anchor="t"/>
          <a:lstStyle>
            <a:lvl1pPr algn="l" indent="0" marL="0">
              <a:lnSpc>
                <a:spcPct val="115000"/>
              </a:lnSpc>
              <a:buNone/>
              <a:defRPr lang="en-US" sz="2800" dirty="0">
                <a:solidFill>
                  <a:srgbClr val="12202F"/>
                </a:solidFill>
                <a:latin typeface="Noto Sans KR" pitchFamily="34" charset="0"/>
                <a:ea typeface="Noto Sans KR" pitchFamily="34" charset="-122"/>
                <a:cs typeface="Noto Sans K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16050"/>
            <a:ext cx="10566400" cy="4229150"/>
          </a:xfrm>
          <a:prstGeom prst="rect">
            <a:avLst/>
          </a:prstGeom>
          <a:noFill/>
          <a:ln/>
        </p:spPr>
        <p:txBody>
          <a:bodyPr wrap="square" lIns="0" tIns="0" rIns="0" bIns="0" rtlCol="0" anchor="t"/>
          <a:lstStyle>
            <a:lvl1pPr algn="l" indent="0" marL="0">
              <a:lnSpc>
                <a:spcPct val="140000"/>
              </a:lnSpc>
              <a:buNone/>
              <a:defRPr lang="en-US" sz="1600" dirty="0">
                <a:solidFill>
                  <a:srgbClr val="12202F"/>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08930"/>
          </a:xfrm>
          <a:prstGeom prst="rect">
            <a:avLst/>
          </a:prstGeom>
          <a:noFill/>
          <a:ln/>
        </p:spPr>
        <p:txBody>
          <a:bodyPr wrap="square" lIns="0" tIns="0" rIns="0" bIns="0" rtlCol="0" anchor="t"/>
          <a:lstStyle>
            <a:lvl1pPr algn="l" indent="0" marL="0">
              <a:lnSpc>
                <a:spcPct val="115000"/>
              </a:lnSpc>
              <a:buNone/>
              <a:defRPr lang="en-US" sz="2800" dirty="0">
                <a:solidFill>
                  <a:srgbClr val="12202F"/>
                </a:solidFill>
                <a:latin typeface="Noto Sans KR" pitchFamily="34" charset="0"/>
                <a:ea typeface="Noto Sans KR" pitchFamily="34" charset="-122"/>
                <a:cs typeface="Noto Sans K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16050"/>
            <a:ext cx="10566400" cy="4229150"/>
          </a:xfrm>
          <a:prstGeom prst="rect">
            <a:avLst/>
          </a:prstGeom>
          <a:noFill/>
          <a:ln/>
        </p:spPr>
        <p:txBody>
          <a:bodyPr wrap="square" lIns="0" tIns="0" rIns="0" bIns="0" rtlCol="0" anchor="t"/>
          <a:lstStyle>
            <a:lvl1pPr algn="l" indent="0" marL="0">
              <a:lnSpc>
                <a:spcPct val="140000"/>
              </a:lnSpc>
              <a:buNone/>
              <a:defRPr lang="en-US" sz="1600" dirty="0">
                <a:solidFill>
                  <a:srgbClr val="12202F"/>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F"/>
        </a:solidFill>
      </p:bgPr>
    </p:bg>
    <p:spTree>
      <p:nvGrpSpPr>
        <p:cNvPr id="1" name=""/>
        <p:cNvGrpSpPr/>
        <p:nvPr/>
      </p:nvGrpSpPr>
      <p:grpSpPr>
        <a:xfrm>
          <a:off x="0" y="0"/>
          <a:ext cx="0" cy="0"/>
          <a:chOff x="0" y="0"/>
          <a:chExt cx="0" cy="0"/>
        </a:xfrm>
      </p:grpSpPr>
      <p:sp>
        <p:nvSpPr>
          <p:cNvPr id="2" name="Shape 0"/>
          <p:cNvSpPr/>
          <p:nvPr/>
        </p:nvSpPr>
        <p:spPr>
          <a:xfrm>
            <a:off x="8509000" y="1143000"/>
            <a:ext cx="2794000" cy="2794000"/>
          </a:xfrm>
          <a:prstGeom prst="roundRect">
            <a:avLst>
              <a:gd name="adj" fmla="val 50000"/>
            </a:avLst>
          </a:prstGeom>
          <a:solidFill>
            <a:srgbClr val="00BFA5">
              <a:alpha val="16000"/>
            </a:srgbClr>
          </a:solidFill>
          <a:ln/>
        </p:spPr>
      </p:sp>
      <p:sp>
        <p:nvSpPr>
          <p:cNvPr id="3" name="Shape 1"/>
          <p:cNvSpPr/>
          <p:nvPr/>
        </p:nvSpPr>
        <p:spPr>
          <a:xfrm>
            <a:off x="9525000" y="2667000"/>
            <a:ext cx="1905000" cy="1905000"/>
          </a:xfrm>
          <a:prstGeom prst="roundRect">
            <a:avLst>
              <a:gd name="adj" fmla="val 50000"/>
            </a:avLst>
          </a:prstGeom>
          <a:solidFill>
            <a:srgbClr val="FFD700">
              <a:alpha val="14000"/>
            </a:srgbClr>
          </a:solidFill>
          <a:ln/>
        </p:spPr>
      </p:sp>
      <p:sp>
        <p:nvSpPr>
          <p:cNvPr id="4" name="Text 2"/>
          <p:cNvSpPr/>
          <p:nvPr/>
        </p:nvSpPr>
        <p:spPr>
          <a:xfrm>
            <a:off x="812800" y="1844377"/>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00BFA5"/>
                </a:solidFill>
                <a:latin typeface="Noto Sans KR" pitchFamily="34" charset="0"/>
                <a:ea typeface="Noto Sans KR" pitchFamily="34" charset="-122"/>
                <a:cs typeface="Noto Sans KR" pitchFamily="34" charset="-120"/>
              </a:rPr>
              <a:t>SK네트웍스 Family AI 캠프 33기 · 4팀 · 중간 발표</a:t>
            </a:r>
            <a:endParaRPr lang="en-US" sz="1500" dirty="0"/>
          </a:p>
        </p:txBody>
      </p:sp>
      <p:sp>
        <p:nvSpPr>
          <p:cNvPr id="5" name="Text 3"/>
          <p:cNvSpPr/>
          <p:nvPr>
            <p:ph type="title"/>
          </p:nvPr>
        </p:nvSpPr>
        <p:spPr>
          <a:xfrm>
            <a:off x="812800" y="2365077"/>
            <a:ext cx="10883392" cy="1025525"/>
          </a:xfrm>
          <a:prstGeom prst="rect">
            <a:avLst/>
          </a:prstGeom>
          <a:noFill/>
          <a:ln/>
        </p:spPr>
        <p:txBody>
          <a:bodyPr wrap="square" lIns="0" tIns="0" rIns="0" bIns="0" rtlCol="0" anchor="t">
            <a:normAutofit/>
          </a:bodyPr>
          <a:lstStyle/>
          <a:p>
            <a:pPr algn="l" indent="0" marL="0">
              <a:lnSpc>
                <a:spcPts val="7875"/>
              </a:lnSpc>
              <a:buNone/>
            </a:pPr>
            <a:r>
              <a:rPr lang="en-US" sz="7500" b="1" i="0" dirty="0">
                <a:solidFill>
                  <a:srgbClr val="F6F7F3"/>
                </a:solidFill>
                <a:latin typeface="Noto Sans KR" pitchFamily="34" charset="0"/>
                <a:ea typeface="Noto Sans KR" pitchFamily="34" charset="-122"/>
                <a:cs typeface="Noto Sans KR" pitchFamily="34" charset="-120"/>
              </a:rPr>
              <a:t>머니쿠션</a:t>
            </a:r>
            <a:endParaRPr lang="en-US" sz="7500" dirty="0"/>
          </a:p>
        </p:txBody>
      </p:sp>
      <p:sp>
        <p:nvSpPr>
          <p:cNvPr id="6" name="Text 4"/>
          <p:cNvSpPr/>
          <p:nvPr/>
        </p:nvSpPr>
        <p:spPr>
          <a:xfrm>
            <a:off x="812800" y="3619202"/>
            <a:ext cx="8502650" cy="807641"/>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DCE6EA"/>
                </a:solidFill>
                <a:latin typeface="Noto Sans KR" pitchFamily="34" charset="0"/>
                <a:ea typeface="Noto Sans KR" pitchFamily="34" charset="-122"/>
                <a:cs typeface="Noto Sans KR" pitchFamily="34" charset="-120"/>
              </a:rPr>
              <a:t>사회초년생 청년을 위한</a:t>
            </a:r>
            <a:endParaRPr lang="en-US" sz="2200" dirty="0"/>
          </a:p>
          <a:p>
            <a:pPr algn="l" indent="0" marL="0">
              <a:lnSpc>
                <a:spcPts val="3080"/>
              </a:lnSpc>
              <a:buNone/>
            </a:pPr>
            <a:r>
              <a:rPr lang="en-US" sz="2200" dirty="0">
                <a:solidFill>
                  <a:srgbClr val="DCE6EA"/>
                </a:solidFill>
                <a:latin typeface="Noto Sans KR" pitchFamily="34" charset="0"/>
                <a:ea typeface="Noto Sans KR" pitchFamily="34" charset="-122"/>
                <a:cs typeface="Noto Sans KR" pitchFamily="34" charset="-120"/>
              </a:rPr>
              <a:t>멀티에이전트 기반 AI 금융 웰니스 서비스</a:t>
            </a:r>
            <a:endParaRPr lang="en-US" sz="2200" dirty="0"/>
          </a:p>
        </p:txBody>
      </p:sp>
      <p:sp>
        <p:nvSpPr>
          <p:cNvPr id="7" name="Text 5"/>
          <p:cNvSpPr/>
          <p:nvPr/>
        </p:nvSpPr>
        <p:spPr>
          <a:xfrm>
            <a:off x="812800" y="4655443"/>
            <a:ext cx="1319361" cy="358130"/>
          </a:xfrm>
          <a:prstGeom prst="roundRect">
            <a:avLst>
              <a:gd name="adj" fmla="val 50000"/>
            </a:avLst>
          </a:prstGeom>
          <a:solidFill>
            <a:srgbClr val="FFD700"/>
          </a:solidFill>
          <a:ln/>
        </p:spPr>
        <p:txBody>
          <a:bodyPr wrap="none" lIns="0" tIns="0" rIns="0" bIns="0" rtlCol="0" anchor="t">
            <a:normAutofit/>
          </a:bodyPr>
          <a:lstStyle/>
          <a:p>
            <a:pPr algn="ctr" indent="0" marL="0">
              <a:lnSpc>
                <a:spcPts val="1820"/>
              </a:lnSpc>
              <a:buNone/>
            </a:pPr>
            <a:r>
              <a:rPr lang="en-US" sz="1300" b="1" dirty="0">
                <a:solidFill>
                  <a:srgbClr val="12202F"/>
                </a:solidFill>
                <a:latin typeface="Noto Sans KR" pitchFamily="34" charset="0"/>
                <a:ea typeface="Noto Sans KR" pitchFamily="34" charset="-122"/>
                <a:cs typeface="Noto Sans KR" pitchFamily="34" charset="-120"/>
              </a:rPr>
              <a:t>2026. 10. 16.</a:t>
            </a:r>
            <a:endParaRPr lang="en-US" sz="1300" dirty="0"/>
          </a:p>
        </p:txBody>
      </p:sp>
      <p:sp>
        <p:nvSpPr>
          <p:cNvPr id="8" name="Text 6"/>
          <p:cNvSpPr/>
          <p:nvPr/>
        </p:nvSpPr>
        <p:spPr>
          <a:xfrm>
            <a:off x="2240111" y="4661793"/>
            <a:ext cx="1225600" cy="345430"/>
          </a:xfrm>
          <a:prstGeom prst="roundRect">
            <a:avLst>
              <a:gd name="adj" fmla="val 50000"/>
            </a:avLst>
          </a:prstGeom>
          <a:noFill/>
          <a:ln w="12700">
            <a:solidFill>
              <a:srgbClr val="3A4E61"/>
            </a:solidFill>
            <a:prstDash val="solid"/>
          </a:ln>
        </p:spPr>
        <p:txBody>
          <a:bodyPr wrap="none" lIns="0" tIns="0" rIns="0" bIns="0" rtlCol="0" anchor="ctr">
            <a:normAutofit/>
          </a:bodyPr>
          <a:lstStyle/>
          <a:p>
            <a:pPr algn="ctr" indent="0" marL="0">
              <a:lnSpc>
                <a:spcPts val="1820"/>
              </a:lnSpc>
              <a:buNone/>
            </a:pPr>
            <a:r>
              <a:rPr lang="en-US" sz="1300" dirty="0">
                <a:solidFill>
                  <a:srgbClr val="C5D3DA"/>
                </a:solidFill>
                <a:latin typeface="Noto Sans KR" pitchFamily="34" charset="0"/>
                <a:ea typeface="Noto Sans KR" pitchFamily="34" charset="-122"/>
                <a:cs typeface="Noto Sans KR" pitchFamily="34" charset="-120"/>
              </a:rPr>
              <a:t>발표자 [이름]</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TEAM · 역할 분담</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3명이 ML · 에이전트 · 연계 기능을 나눠 맡습니다</a:t>
            </a:r>
            <a:endParaRPr lang="en-US" sz="2800" dirty="0"/>
          </a:p>
        </p:txBody>
      </p:sp>
      <p:sp>
        <p:nvSpPr>
          <p:cNvPr id="4" name="Shape 2"/>
          <p:cNvSpPr/>
          <p:nvPr/>
        </p:nvSpPr>
        <p:spPr>
          <a:xfrm>
            <a:off x="819150" y="1771600"/>
            <a:ext cx="3407817" cy="4064050"/>
          </a:xfrm>
          <a:prstGeom prst="roundRect">
            <a:avLst>
              <a:gd name="adj" fmla="val 2795"/>
            </a:avLst>
          </a:prstGeom>
          <a:solidFill>
            <a:srgbClr val="FDFDFB"/>
          </a:solidFill>
          <a:ln w="12700">
            <a:solidFill>
              <a:srgbClr val="DDE3E0"/>
            </a:solidFill>
            <a:prstDash val="solid"/>
          </a:ln>
        </p:spPr>
      </p:sp>
      <p:sp>
        <p:nvSpPr>
          <p:cNvPr id="5" name="Text 3"/>
          <p:cNvSpPr/>
          <p:nvPr/>
        </p:nvSpPr>
        <p:spPr>
          <a:xfrm>
            <a:off x="1028700" y="1981150"/>
            <a:ext cx="307837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202F"/>
                </a:solidFill>
                <a:latin typeface="Noto Sans KR" pitchFamily="34" charset="0"/>
                <a:ea typeface="Noto Sans KR" pitchFamily="34" charset="-122"/>
                <a:cs typeface="Noto Sans KR" pitchFamily="34" charset="-120"/>
              </a:rPr>
              <a:t>김혜리 (APM)</a:t>
            </a:r>
            <a:endParaRPr lang="en-US" sz="2200" dirty="0"/>
          </a:p>
        </p:txBody>
      </p:sp>
      <p:sp>
        <p:nvSpPr>
          <p:cNvPr id="6" name="Text 4"/>
          <p:cNvSpPr/>
          <p:nvPr/>
        </p:nvSpPr>
        <p:spPr>
          <a:xfrm>
            <a:off x="1028700" y="2443411"/>
            <a:ext cx="3078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ML</a:t>
            </a:r>
            <a:endParaRPr lang="en-US" sz="1200" dirty="0"/>
          </a:p>
        </p:txBody>
      </p:sp>
      <p:sp>
        <p:nvSpPr>
          <p:cNvPr id="7" name="Text 5"/>
          <p:cNvSpPr/>
          <p:nvPr/>
        </p:nvSpPr>
        <p:spPr>
          <a:xfrm>
            <a:off x="1028700" y="2682131"/>
            <a:ext cx="307837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Noto Sans KR" pitchFamily="34" charset="0"/>
                <a:ea typeface="Noto Sans KR" pitchFamily="34" charset="-122"/>
                <a:cs typeface="Noto Sans KR" pitchFamily="34" charset="-120"/>
              </a:rPr>
              <a:t>거래 분류</a:t>
            </a:r>
            <a:endParaRPr lang="en-US" sz="1400" dirty="0"/>
          </a:p>
        </p:txBody>
      </p:sp>
      <p:sp>
        <p:nvSpPr>
          <p:cNvPr id="8" name="Text 6"/>
          <p:cNvSpPr/>
          <p:nvPr/>
        </p:nvSpPr>
        <p:spPr>
          <a:xfrm>
            <a:off x="1028700" y="3058021"/>
            <a:ext cx="3078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에이전트</a:t>
            </a:r>
            <a:endParaRPr lang="en-US" sz="1200" dirty="0"/>
          </a:p>
        </p:txBody>
      </p:sp>
      <p:sp>
        <p:nvSpPr>
          <p:cNvPr id="9" name="Text 7"/>
          <p:cNvSpPr/>
          <p:nvPr/>
        </p:nvSpPr>
        <p:spPr>
          <a:xfrm>
            <a:off x="1028700" y="3296741"/>
            <a:ext cx="307837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Noto Sans KR" pitchFamily="34" charset="0"/>
                <a:ea typeface="Noto Sans KR" pitchFamily="34" charset="-122"/>
                <a:cs typeface="Noto Sans KR" pitchFamily="34" charset="-120"/>
              </a:rPr>
              <a:t>① 거래 분류</a:t>
            </a:r>
            <a:endParaRPr lang="en-US" sz="1400" dirty="0"/>
          </a:p>
          <a:p>
            <a:pPr algn="l" indent="0" marL="0">
              <a:lnSpc>
                <a:spcPts val="1960"/>
              </a:lnSpc>
              <a:buNone/>
            </a:pPr>
            <a:r>
              <a:rPr lang="en-US" sz="1400" dirty="0">
                <a:solidFill>
                  <a:srgbClr val="12202F"/>
                </a:solidFill>
                <a:latin typeface="Noto Sans KR" pitchFamily="34" charset="0"/>
                <a:ea typeface="Noto Sans KR" pitchFamily="34" charset="-122"/>
                <a:cs typeface="Noto Sans KR" pitchFamily="34" charset="-120"/>
              </a:rPr>
              <a:t>라우터 · 통합 챗봇</a:t>
            </a:r>
            <a:endParaRPr lang="en-US" sz="1400" dirty="0"/>
          </a:p>
        </p:txBody>
      </p:sp>
      <p:sp>
        <p:nvSpPr>
          <p:cNvPr id="10" name="Shape 8"/>
          <p:cNvSpPr/>
          <p:nvPr/>
        </p:nvSpPr>
        <p:spPr>
          <a:xfrm>
            <a:off x="1028700" y="3924697"/>
            <a:ext cx="2988717" cy="0"/>
          </a:xfrm>
          <a:prstGeom prst="line">
            <a:avLst/>
          </a:prstGeom>
          <a:noFill/>
          <a:ln w="6350">
            <a:solidFill>
              <a:srgbClr val="DDE3E0"/>
            </a:solidFill>
            <a:prstDash val="solid"/>
          </a:ln>
        </p:spPr>
      </p:sp>
      <p:sp>
        <p:nvSpPr>
          <p:cNvPr id="11" name="Text 9"/>
          <p:cNvSpPr/>
          <p:nvPr/>
        </p:nvSpPr>
        <p:spPr>
          <a:xfrm>
            <a:off x="1028700" y="4029472"/>
            <a:ext cx="3078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96A0"/>
                </a:solidFill>
                <a:latin typeface="Noto Sans KR" pitchFamily="34" charset="0"/>
                <a:ea typeface="Noto Sans KR" pitchFamily="34" charset="-122"/>
                <a:cs typeface="Noto Sans KR" pitchFamily="34" charset="-120"/>
              </a:rPr>
              <a:t>연계 · 공통</a:t>
            </a:r>
            <a:endParaRPr lang="en-US" sz="1200" dirty="0"/>
          </a:p>
        </p:txBody>
      </p:sp>
      <p:sp>
        <p:nvSpPr>
          <p:cNvPr id="12" name="Text 10"/>
          <p:cNvSpPr/>
          <p:nvPr/>
        </p:nvSpPr>
        <p:spPr>
          <a:xfrm>
            <a:off x="1028700" y="4268192"/>
            <a:ext cx="307837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CODEF · 거래 원장 · 검색/지도 API, 알림, API 서버 통합</a:t>
            </a:r>
            <a:endParaRPr lang="en-US" sz="1200" dirty="0"/>
          </a:p>
        </p:txBody>
      </p:sp>
      <p:sp>
        <p:nvSpPr>
          <p:cNvPr id="13" name="Shape 11"/>
          <p:cNvSpPr/>
          <p:nvPr/>
        </p:nvSpPr>
        <p:spPr>
          <a:xfrm>
            <a:off x="4392067" y="1771600"/>
            <a:ext cx="3407817" cy="4064050"/>
          </a:xfrm>
          <a:prstGeom prst="roundRect">
            <a:avLst>
              <a:gd name="adj" fmla="val 2795"/>
            </a:avLst>
          </a:prstGeom>
          <a:solidFill>
            <a:srgbClr val="FDFDFB"/>
          </a:solidFill>
          <a:ln w="12700">
            <a:solidFill>
              <a:srgbClr val="DDE3E0"/>
            </a:solidFill>
            <a:prstDash val="solid"/>
          </a:ln>
        </p:spPr>
      </p:sp>
      <p:sp>
        <p:nvSpPr>
          <p:cNvPr id="14" name="Text 12"/>
          <p:cNvSpPr/>
          <p:nvPr/>
        </p:nvSpPr>
        <p:spPr>
          <a:xfrm>
            <a:off x="4601617" y="1981150"/>
            <a:ext cx="307837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202F"/>
                </a:solidFill>
                <a:latin typeface="Noto Sans KR" pitchFamily="34" charset="0"/>
                <a:ea typeface="Noto Sans KR" pitchFamily="34" charset="-122"/>
                <a:cs typeface="Noto Sans KR" pitchFamily="34" charset="-120"/>
              </a:rPr>
              <a:t>김나은 (PM)</a:t>
            </a:r>
            <a:endParaRPr lang="en-US" sz="2200" dirty="0"/>
          </a:p>
        </p:txBody>
      </p:sp>
      <p:sp>
        <p:nvSpPr>
          <p:cNvPr id="15" name="Text 13"/>
          <p:cNvSpPr/>
          <p:nvPr/>
        </p:nvSpPr>
        <p:spPr>
          <a:xfrm>
            <a:off x="4601617" y="2443411"/>
            <a:ext cx="3078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ML</a:t>
            </a:r>
            <a:endParaRPr lang="en-US" sz="1200" dirty="0"/>
          </a:p>
        </p:txBody>
      </p:sp>
      <p:sp>
        <p:nvSpPr>
          <p:cNvPr id="16" name="Text 14"/>
          <p:cNvSpPr/>
          <p:nvPr/>
        </p:nvSpPr>
        <p:spPr>
          <a:xfrm>
            <a:off x="4601617" y="2682131"/>
            <a:ext cx="307837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Noto Sans KR" pitchFamily="34" charset="0"/>
                <a:ea typeface="Noto Sans KR" pitchFamily="34" charset="-122"/>
                <a:cs typeface="Noto Sans KR" pitchFamily="34" charset="-120"/>
              </a:rPr>
              <a:t>카테고리 비율</a:t>
            </a:r>
            <a:endParaRPr lang="en-US" sz="1400" dirty="0"/>
          </a:p>
        </p:txBody>
      </p:sp>
      <p:sp>
        <p:nvSpPr>
          <p:cNvPr id="17" name="Text 15"/>
          <p:cNvSpPr/>
          <p:nvPr/>
        </p:nvSpPr>
        <p:spPr>
          <a:xfrm>
            <a:off x="4601617" y="3058021"/>
            <a:ext cx="3078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에이전트</a:t>
            </a:r>
            <a:endParaRPr lang="en-US" sz="1200" dirty="0"/>
          </a:p>
        </p:txBody>
      </p:sp>
      <p:sp>
        <p:nvSpPr>
          <p:cNvPr id="18" name="Text 16"/>
          <p:cNvSpPr/>
          <p:nvPr/>
        </p:nvSpPr>
        <p:spPr>
          <a:xfrm>
            <a:off x="4601617" y="3296741"/>
            <a:ext cx="307837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Noto Sans KR" pitchFamily="34" charset="0"/>
                <a:ea typeface="Noto Sans KR" pitchFamily="34" charset="-122"/>
                <a:cs typeface="Noto Sans KR" pitchFamily="34" charset="-120"/>
              </a:rPr>
              <a:t>② 예산 설계</a:t>
            </a:r>
            <a:endParaRPr lang="en-US" sz="1400" dirty="0"/>
          </a:p>
          <a:p>
            <a:pPr algn="l" indent="0" marL="0">
              <a:lnSpc>
                <a:spcPts val="1960"/>
              </a:lnSpc>
              <a:buNone/>
            </a:pPr>
            <a:r>
              <a:rPr lang="en-US" sz="1400" dirty="0">
                <a:solidFill>
                  <a:srgbClr val="12202F"/>
                </a:solidFill>
                <a:latin typeface="Noto Sans KR" pitchFamily="34" charset="0"/>
                <a:ea typeface="Noto Sans KR" pitchFamily="34" charset="-122"/>
                <a:cs typeface="Noto Sans KR" pitchFamily="34" charset="-120"/>
              </a:rPr>
              <a:t>③ 예산 조정</a:t>
            </a:r>
            <a:endParaRPr lang="en-US" sz="1400" dirty="0"/>
          </a:p>
        </p:txBody>
      </p:sp>
      <p:sp>
        <p:nvSpPr>
          <p:cNvPr id="19" name="Shape 17"/>
          <p:cNvSpPr/>
          <p:nvPr/>
        </p:nvSpPr>
        <p:spPr>
          <a:xfrm>
            <a:off x="4601617" y="3924697"/>
            <a:ext cx="2988717" cy="0"/>
          </a:xfrm>
          <a:prstGeom prst="line">
            <a:avLst/>
          </a:prstGeom>
          <a:noFill/>
          <a:ln w="6350">
            <a:solidFill>
              <a:srgbClr val="DDE3E0"/>
            </a:solidFill>
            <a:prstDash val="solid"/>
          </a:ln>
        </p:spPr>
      </p:sp>
      <p:sp>
        <p:nvSpPr>
          <p:cNvPr id="20" name="Text 18"/>
          <p:cNvSpPr/>
          <p:nvPr/>
        </p:nvSpPr>
        <p:spPr>
          <a:xfrm>
            <a:off x="4601617" y="4029472"/>
            <a:ext cx="3078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96A0"/>
                </a:solidFill>
                <a:latin typeface="Noto Sans KR" pitchFamily="34" charset="0"/>
                <a:ea typeface="Noto Sans KR" pitchFamily="34" charset="-122"/>
                <a:cs typeface="Noto Sans KR" pitchFamily="34" charset="-120"/>
              </a:rPr>
              <a:t>연계 · 공통</a:t>
            </a:r>
            <a:endParaRPr lang="en-US" sz="1200" dirty="0"/>
          </a:p>
        </p:txBody>
      </p:sp>
      <p:sp>
        <p:nvSpPr>
          <p:cNvPr id="21" name="Text 19"/>
          <p:cNvSpPr/>
          <p:nvPr/>
        </p:nvSpPr>
        <p:spPr>
          <a:xfrm>
            <a:off x="4601617" y="4268192"/>
            <a:ext cx="307837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계산 엔진 · 공통 검수 · 승인 흐름, 머니 쿠션 · 돌발지출, DB 스키마</a:t>
            </a:r>
            <a:endParaRPr lang="en-US" sz="1200" dirty="0"/>
          </a:p>
        </p:txBody>
      </p:sp>
      <p:sp>
        <p:nvSpPr>
          <p:cNvPr id="22" name="Shape 20"/>
          <p:cNvSpPr/>
          <p:nvPr/>
        </p:nvSpPr>
        <p:spPr>
          <a:xfrm>
            <a:off x="7964984" y="1771600"/>
            <a:ext cx="3407866" cy="4064050"/>
          </a:xfrm>
          <a:prstGeom prst="roundRect">
            <a:avLst>
              <a:gd name="adj" fmla="val 2795"/>
            </a:avLst>
          </a:prstGeom>
          <a:solidFill>
            <a:srgbClr val="FDFDFB"/>
          </a:solidFill>
          <a:ln w="12700">
            <a:solidFill>
              <a:srgbClr val="DDE3E0"/>
            </a:solidFill>
            <a:prstDash val="solid"/>
          </a:ln>
        </p:spPr>
      </p:sp>
      <p:sp>
        <p:nvSpPr>
          <p:cNvPr id="23" name="Text 21"/>
          <p:cNvSpPr/>
          <p:nvPr/>
        </p:nvSpPr>
        <p:spPr>
          <a:xfrm>
            <a:off x="8174534" y="1981150"/>
            <a:ext cx="307842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202F"/>
                </a:solidFill>
                <a:latin typeface="Noto Sans KR" pitchFamily="34" charset="0"/>
                <a:ea typeface="Noto Sans KR" pitchFamily="34" charset="-122"/>
                <a:cs typeface="Noto Sans KR" pitchFamily="34" charset="-120"/>
              </a:rPr>
              <a:t>권세진 (서기)</a:t>
            </a:r>
            <a:endParaRPr lang="en-US" sz="2200" dirty="0"/>
          </a:p>
        </p:txBody>
      </p:sp>
      <p:sp>
        <p:nvSpPr>
          <p:cNvPr id="24" name="Text 22"/>
          <p:cNvSpPr/>
          <p:nvPr/>
        </p:nvSpPr>
        <p:spPr>
          <a:xfrm>
            <a:off x="8174534" y="2443411"/>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ML</a:t>
            </a:r>
            <a:endParaRPr lang="en-US" sz="1200" dirty="0"/>
          </a:p>
        </p:txBody>
      </p:sp>
      <p:sp>
        <p:nvSpPr>
          <p:cNvPr id="25" name="Text 23"/>
          <p:cNvSpPr/>
          <p:nvPr/>
        </p:nvSpPr>
        <p:spPr>
          <a:xfrm>
            <a:off x="8174534" y="2682131"/>
            <a:ext cx="307842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Noto Sans KR" pitchFamily="34" charset="0"/>
                <a:ea typeface="Noto Sans KR" pitchFamily="34" charset="-122"/>
                <a:cs typeface="Noto Sans KR" pitchFamily="34" charset="-120"/>
              </a:rPr>
              <a:t>또래 비교 회귀</a:t>
            </a:r>
            <a:endParaRPr lang="en-US" sz="1400" dirty="0"/>
          </a:p>
        </p:txBody>
      </p:sp>
      <p:sp>
        <p:nvSpPr>
          <p:cNvPr id="26" name="Text 24"/>
          <p:cNvSpPr/>
          <p:nvPr/>
        </p:nvSpPr>
        <p:spPr>
          <a:xfrm>
            <a:off x="8174534" y="3058021"/>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에이전트</a:t>
            </a:r>
            <a:endParaRPr lang="en-US" sz="1200" dirty="0"/>
          </a:p>
        </p:txBody>
      </p:sp>
      <p:sp>
        <p:nvSpPr>
          <p:cNvPr id="27" name="Text 25"/>
          <p:cNvSpPr/>
          <p:nvPr/>
        </p:nvSpPr>
        <p:spPr>
          <a:xfrm>
            <a:off x="8174534" y="3296741"/>
            <a:ext cx="307842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F"/>
                </a:solidFill>
                <a:latin typeface="Noto Sans KR" pitchFamily="34" charset="0"/>
                <a:ea typeface="Noto Sans KR" pitchFamily="34" charset="-122"/>
                <a:cs typeface="Noto Sans KR" pitchFamily="34" charset="-120"/>
              </a:rPr>
              <a:t>④ 큰 지출 상담</a:t>
            </a:r>
            <a:endParaRPr lang="en-US" sz="1400" dirty="0"/>
          </a:p>
          <a:p>
            <a:pPr algn="l" indent="0" marL="0">
              <a:lnSpc>
                <a:spcPts val="1960"/>
              </a:lnSpc>
              <a:buNone/>
            </a:pPr>
            <a:r>
              <a:rPr lang="en-US" sz="1400" dirty="0">
                <a:solidFill>
                  <a:srgbClr val="12202F"/>
                </a:solidFill>
                <a:latin typeface="Noto Sans KR" pitchFamily="34" charset="0"/>
                <a:ea typeface="Noto Sans KR" pitchFamily="34" charset="-122"/>
                <a:cs typeface="Noto Sans KR" pitchFamily="34" charset="-120"/>
              </a:rPr>
              <a:t>(④-1 복지 검색 · ④-2 대출 비교)</a:t>
            </a:r>
            <a:endParaRPr lang="en-US" sz="1400" dirty="0"/>
          </a:p>
        </p:txBody>
      </p:sp>
      <p:sp>
        <p:nvSpPr>
          <p:cNvPr id="28" name="Shape 26"/>
          <p:cNvSpPr/>
          <p:nvPr/>
        </p:nvSpPr>
        <p:spPr>
          <a:xfrm>
            <a:off x="8174534" y="3924697"/>
            <a:ext cx="2988766" cy="0"/>
          </a:xfrm>
          <a:prstGeom prst="line">
            <a:avLst/>
          </a:prstGeom>
          <a:noFill/>
          <a:ln w="6350">
            <a:solidFill>
              <a:srgbClr val="DDE3E0"/>
            </a:solidFill>
            <a:prstDash val="solid"/>
          </a:ln>
        </p:spPr>
      </p:sp>
      <p:sp>
        <p:nvSpPr>
          <p:cNvPr id="29" name="Text 27"/>
          <p:cNvSpPr/>
          <p:nvPr/>
        </p:nvSpPr>
        <p:spPr>
          <a:xfrm>
            <a:off x="8174534" y="4029472"/>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96A0"/>
                </a:solidFill>
                <a:latin typeface="Noto Sans KR" pitchFamily="34" charset="0"/>
                <a:ea typeface="Noto Sans KR" pitchFamily="34" charset="-122"/>
                <a:cs typeface="Noto Sans KR" pitchFamily="34" charset="-120"/>
              </a:rPr>
              <a:t>연계 · 공통</a:t>
            </a:r>
            <a:endParaRPr lang="en-US" sz="1200" dirty="0"/>
          </a:p>
        </p:txBody>
      </p:sp>
      <p:sp>
        <p:nvSpPr>
          <p:cNvPr id="30" name="Text 28"/>
          <p:cNvSpPr/>
          <p:nvPr/>
        </p:nvSpPr>
        <p:spPr>
          <a:xfrm>
            <a:off x="8174534" y="4268192"/>
            <a:ext cx="3078429"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자금 계산 엔진 · 복지/대출 데이터, 소비 리포트(서버 계산 · 템플릿), 배포</a:t>
            </a:r>
            <a:endParaRPr lang="en-US" sz="1200" dirty="0"/>
          </a:p>
        </p:txBody>
      </p:sp>
      <p:sp>
        <p:nvSpPr>
          <p:cNvPr id="31" name="Text 2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CONTENTS</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목차</a:t>
            </a:r>
            <a:endParaRPr lang="en-US" sz="2800" dirty="0"/>
          </a:p>
        </p:txBody>
      </p:sp>
      <p:sp>
        <p:nvSpPr>
          <p:cNvPr id="4" name="Shape 2"/>
          <p:cNvSpPr/>
          <p:nvPr/>
        </p:nvSpPr>
        <p:spPr>
          <a:xfrm>
            <a:off x="819150" y="2489150"/>
            <a:ext cx="10553700" cy="774700"/>
          </a:xfrm>
          <a:prstGeom prst="roundRect">
            <a:avLst>
              <a:gd name="adj" fmla="val 12295"/>
            </a:avLst>
          </a:prstGeom>
          <a:solidFill>
            <a:srgbClr val="FDFDFB"/>
          </a:solidFill>
          <a:ln w="12700">
            <a:solidFill>
              <a:srgbClr val="DDE3E0"/>
            </a:solidFill>
            <a:prstDash val="solid"/>
          </a:ln>
        </p:spPr>
      </p:sp>
      <p:sp>
        <p:nvSpPr>
          <p:cNvPr id="5" name="Text 3"/>
          <p:cNvSpPr/>
          <p:nvPr/>
        </p:nvSpPr>
        <p:spPr>
          <a:xfrm>
            <a:off x="1079500" y="2698700"/>
            <a:ext cx="37129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0806E"/>
                </a:solidFill>
                <a:latin typeface="Noto Sans KR" pitchFamily="34" charset="0"/>
                <a:ea typeface="Noto Sans KR" pitchFamily="34" charset="-122"/>
                <a:cs typeface="Noto Sans KR" pitchFamily="34" charset="-120"/>
              </a:rPr>
              <a:t>01</a:t>
            </a:r>
            <a:endParaRPr lang="en-US" sz="2000" dirty="0"/>
          </a:p>
        </p:txBody>
      </p:sp>
      <p:sp>
        <p:nvSpPr>
          <p:cNvPr id="6" name="Text 4"/>
          <p:cNvSpPr/>
          <p:nvPr/>
        </p:nvSpPr>
        <p:spPr>
          <a:xfrm>
            <a:off x="1592114" y="2724100"/>
            <a:ext cx="17517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02F"/>
                </a:solidFill>
                <a:latin typeface="Noto Sans KR" pitchFamily="34" charset="0"/>
                <a:ea typeface="Noto Sans KR" pitchFamily="34" charset="-122"/>
                <a:cs typeface="Noto Sans KR" pitchFamily="34" charset="-120"/>
              </a:rPr>
              <a:t>프로젝트 개요</a:t>
            </a:r>
            <a:endParaRPr lang="en-US" sz="2000" dirty="0"/>
          </a:p>
        </p:txBody>
      </p:sp>
      <p:sp>
        <p:nvSpPr>
          <p:cNvPr id="7" name="Shape 5"/>
          <p:cNvSpPr/>
          <p:nvPr/>
        </p:nvSpPr>
        <p:spPr>
          <a:xfrm>
            <a:off x="4133850" y="2539950"/>
            <a:ext cx="0" cy="673100"/>
          </a:xfrm>
          <a:prstGeom prst="line">
            <a:avLst/>
          </a:prstGeom>
          <a:noFill/>
          <a:ln w="12700">
            <a:solidFill>
              <a:srgbClr val="DDE3E0"/>
            </a:solidFill>
            <a:prstDash val="dash"/>
          </a:ln>
        </p:spPr>
      </p:sp>
      <p:sp>
        <p:nvSpPr>
          <p:cNvPr id="8" name="Text 6"/>
          <p:cNvSpPr/>
          <p:nvPr/>
        </p:nvSpPr>
        <p:spPr>
          <a:xfrm>
            <a:off x="4394200" y="2743150"/>
            <a:ext cx="3684192"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4525F"/>
                </a:solidFill>
                <a:latin typeface="Noto Sans KR" pitchFamily="34" charset="0"/>
                <a:ea typeface="Noto Sans KR" pitchFamily="34" charset="-122"/>
                <a:cs typeface="Noto Sans KR" pitchFamily="34" charset="-120"/>
              </a:rPr>
              <a:t>웰니스 · 주제 · 문제 정의 · 시장조사 · 기획 소개</a:t>
            </a:r>
            <a:endParaRPr lang="en-US" sz="1400" dirty="0"/>
          </a:p>
        </p:txBody>
      </p:sp>
      <p:sp>
        <p:nvSpPr>
          <p:cNvPr id="9" name="Shape 7"/>
          <p:cNvSpPr/>
          <p:nvPr/>
        </p:nvSpPr>
        <p:spPr>
          <a:xfrm>
            <a:off x="812800" y="3422600"/>
            <a:ext cx="10566400" cy="762000"/>
          </a:xfrm>
          <a:prstGeom prst="roundRect">
            <a:avLst>
              <a:gd name="adj" fmla="val 13333"/>
            </a:avLst>
          </a:prstGeom>
          <a:solidFill>
            <a:srgbClr val="12202F"/>
          </a:solidFill>
          <a:ln/>
        </p:spPr>
      </p:sp>
      <p:sp>
        <p:nvSpPr>
          <p:cNvPr id="10" name="Text 8"/>
          <p:cNvSpPr/>
          <p:nvPr/>
        </p:nvSpPr>
        <p:spPr>
          <a:xfrm>
            <a:off x="1066800" y="3625800"/>
            <a:ext cx="37129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0BFA5"/>
                </a:solidFill>
                <a:latin typeface="Noto Sans KR" pitchFamily="34" charset="0"/>
                <a:ea typeface="Noto Sans KR" pitchFamily="34" charset="-122"/>
                <a:cs typeface="Noto Sans KR" pitchFamily="34" charset="-120"/>
              </a:rPr>
              <a:t>02</a:t>
            </a:r>
            <a:endParaRPr lang="en-US" sz="2000" dirty="0"/>
          </a:p>
        </p:txBody>
      </p:sp>
      <p:sp>
        <p:nvSpPr>
          <p:cNvPr id="11" name="Text 9"/>
          <p:cNvSpPr/>
          <p:nvPr/>
        </p:nvSpPr>
        <p:spPr>
          <a:xfrm>
            <a:off x="1579414" y="3651200"/>
            <a:ext cx="11908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7F3"/>
                </a:solidFill>
                <a:latin typeface="Noto Sans KR" pitchFamily="34" charset="0"/>
                <a:ea typeface="Noto Sans KR" pitchFamily="34" charset="-122"/>
                <a:cs typeface="Noto Sans KR" pitchFamily="34" charset="-120"/>
              </a:rPr>
              <a:t>진행 현황</a:t>
            </a:r>
            <a:endParaRPr lang="en-US" sz="2000" dirty="0"/>
          </a:p>
        </p:txBody>
      </p:sp>
      <p:sp>
        <p:nvSpPr>
          <p:cNvPr id="12" name="Shape 10"/>
          <p:cNvSpPr/>
          <p:nvPr/>
        </p:nvSpPr>
        <p:spPr>
          <a:xfrm>
            <a:off x="4121150" y="3467050"/>
            <a:ext cx="0" cy="673100"/>
          </a:xfrm>
          <a:prstGeom prst="line">
            <a:avLst/>
          </a:prstGeom>
          <a:noFill/>
          <a:ln w="12700">
            <a:solidFill>
              <a:srgbClr val="3A4E61"/>
            </a:solidFill>
            <a:prstDash val="dash"/>
          </a:ln>
        </p:spPr>
      </p:sp>
      <p:sp>
        <p:nvSpPr>
          <p:cNvPr id="13" name="Text 11"/>
          <p:cNvSpPr/>
          <p:nvPr/>
        </p:nvSpPr>
        <p:spPr>
          <a:xfrm>
            <a:off x="4381500" y="3670250"/>
            <a:ext cx="2354273"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DCE6EA"/>
                </a:solidFill>
                <a:latin typeface="Noto Sans KR" pitchFamily="34" charset="0"/>
                <a:ea typeface="Noto Sans KR" pitchFamily="34" charset="-122"/>
                <a:cs typeface="Noto Sans KR" pitchFamily="34" charset="-120"/>
              </a:rPr>
              <a:t>WBS 진행 현황 · 데이터 · 이슈</a:t>
            </a:r>
            <a:endParaRPr lang="en-US" sz="1400" dirty="0"/>
          </a:p>
        </p:txBody>
      </p:sp>
      <p:sp>
        <p:nvSpPr>
          <p:cNvPr id="14" name="Shape 12"/>
          <p:cNvSpPr/>
          <p:nvPr/>
        </p:nvSpPr>
        <p:spPr>
          <a:xfrm>
            <a:off x="819150" y="4343350"/>
            <a:ext cx="10553700" cy="774700"/>
          </a:xfrm>
          <a:prstGeom prst="roundRect">
            <a:avLst>
              <a:gd name="adj" fmla="val 12295"/>
            </a:avLst>
          </a:prstGeom>
          <a:solidFill>
            <a:srgbClr val="FDFDFB"/>
          </a:solidFill>
          <a:ln w="12700">
            <a:solidFill>
              <a:srgbClr val="DDE3E0"/>
            </a:solidFill>
            <a:prstDash val="solid"/>
          </a:ln>
        </p:spPr>
      </p:sp>
      <p:sp>
        <p:nvSpPr>
          <p:cNvPr id="15" name="Text 13"/>
          <p:cNvSpPr/>
          <p:nvPr/>
        </p:nvSpPr>
        <p:spPr>
          <a:xfrm>
            <a:off x="1079500" y="4552900"/>
            <a:ext cx="37129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0806E"/>
                </a:solidFill>
                <a:latin typeface="Noto Sans KR" pitchFamily="34" charset="0"/>
                <a:ea typeface="Noto Sans KR" pitchFamily="34" charset="-122"/>
                <a:cs typeface="Noto Sans KR" pitchFamily="34" charset="-120"/>
              </a:rPr>
              <a:t>03</a:t>
            </a:r>
            <a:endParaRPr lang="en-US" sz="2000" dirty="0"/>
          </a:p>
        </p:txBody>
      </p:sp>
      <p:sp>
        <p:nvSpPr>
          <p:cNvPr id="16" name="Text 14"/>
          <p:cNvSpPr/>
          <p:nvPr/>
        </p:nvSpPr>
        <p:spPr>
          <a:xfrm>
            <a:off x="1592114" y="4578300"/>
            <a:ext cx="182094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02F"/>
                </a:solidFill>
                <a:latin typeface="Noto Sans KR" pitchFamily="34" charset="0"/>
                <a:ea typeface="Noto Sans KR" pitchFamily="34" charset="-122"/>
                <a:cs typeface="Noto Sans KR" pitchFamily="34" charset="-120"/>
              </a:rPr>
              <a:t>예상 결과 목표</a:t>
            </a:r>
            <a:endParaRPr lang="en-US" sz="2000" dirty="0"/>
          </a:p>
        </p:txBody>
      </p:sp>
      <p:sp>
        <p:nvSpPr>
          <p:cNvPr id="17" name="Shape 15"/>
          <p:cNvSpPr/>
          <p:nvPr/>
        </p:nvSpPr>
        <p:spPr>
          <a:xfrm>
            <a:off x="4133850" y="4394150"/>
            <a:ext cx="0" cy="673100"/>
          </a:xfrm>
          <a:prstGeom prst="line">
            <a:avLst/>
          </a:prstGeom>
          <a:noFill/>
          <a:ln w="12700">
            <a:solidFill>
              <a:srgbClr val="DDE3E0"/>
            </a:solidFill>
            <a:prstDash val="dash"/>
          </a:ln>
        </p:spPr>
      </p:sp>
      <p:sp>
        <p:nvSpPr>
          <p:cNvPr id="18" name="Text 16"/>
          <p:cNvSpPr/>
          <p:nvPr/>
        </p:nvSpPr>
        <p:spPr>
          <a:xfrm>
            <a:off x="4394200" y="4597350"/>
            <a:ext cx="2472769"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4525F"/>
                </a:solidFill>
                <a:latin typeface="Noto Sans KR" pitchFamily="34" charset="0"/>
                <a:ea typeface="Noto Sans KR" pitchFamily="34" charset="-122"/>
                <a:cs typeface="Noto Sans KR" pitchFamily="34" charset="-120"/>
              </a:rPr>
              <a:t>향후 계획 · 결과 목표 · 기대효과</a:t>
            </a:r>
            <a:endParaRPr lang="en-US" sz="1400" dirty="0"/>
          </a:p>
        </p:txBody>
      </p:sp>
      <p:sp>
        <p:nvSpPr>
          <p:cNvPr id="19" name="Text 1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02F"/>
        </a:solidFill>
      </p:bgPr>
    </p:bg>
    <p:spTree>
      <p:nvGrpSpPr>
        <p:cNvPr id="1" name=""/>
        <p:cNvGrpSpPr/>
        <p:nvPr/>
      </p:nvGrpSpPr>
      <p:grpSpPr>
        <a:xfrm>
          <a:off x="0" y="0"/>
          <a:ext cx="0" cy="0"/>
          <a:chOff x="0" y="0"/>
          <a:chExt cx="0" cy="0"/>
        </a:xfrm>
      </p:grpSpPr>
      <p:sp>
        <p:nvSpPr>
          <p:cNvPr id="2" name="Shape 0"/>
          <p:cNvSpPr/>
          <p:nvPr/>
        </p:nvSpPr>
        <p:spPr>
          <a:xfrm>
            <a:off x="8890000" y="1651000"/>
            <a:ext cx="2540000" cy="2540000"/>
          </a:xfrm>
          <a:prstGeom prst="roundRect">
            <a:avLst>
              <a:gd name="adj" fmla="val 50000"/>
            </a:avLst>
          </a:prstGeom>
          <a:solidFill>
            <a:srgbClr val="00BFA5">
              <a:alpha val="14000"/>
            </a:srgbClr>
          </a:solidFill>
          <a:ln/>
        </p:spPr>
      </p:sp>
      <p:sp>
        <p:nvSpPr>
          <p:cNvPr id="3" name="Text 1"/>
          <p:cNvSpPr/>
          <p:nvPr/>
        </p:nvSpPr>
        <p:spPr>
          <a:xfrm>
            <a:off x="812800" y="253747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spc="200" kern="0" dirty="0">
                <a:solidFill>
                  <a:srgbClr val="00BFA5"/>
                </a:solidFill>
                <a:latin typeface="Noto Sans KR" pitchFamily="34" charset="0"/>
                <a:ea typeface="Noto Sans KR" pitchFamily="34" charset="-122"/>
                <a:cs typeface="Noto Sans KR" pitchFamily="34" charset="-120"/>
              </a:rPr>
              <a:t>PART 01</a:t>
            </a:r>
            <a:endParaRPr lang="en-US" sz="2000" dirty="0"/>
          </a:p>
        </p:txBody>
      </p:sp>
      <p:sp>
        <p:nvSpPr>
          <p:cNvPr id="4" name="Text 2"/>
          <p:cNvSpPr/>
          <p:nvPr>
            <p:ph type="title"/>
          </p:nvPr>
        </p:nvSpPr>
        <p:spPr>
          <a:xfrm>
            <a:off x="812800" y="304547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6F7F3"/>
                </a:solidFill>
                <a:latin typeface="Noto Sans KR" pitchFamily="34" charset="0"/>
                <a:ea typeface="Noto Sans KR" pitchFamily="34" charset="-122"/>
                <a:cs typeface="Noto Sans KR" pitchFamily="34" charset="-120"/>
              </a:rPr>
              <a:t>프로젝트 개요</a:t>
            </a:r>
            <a:endParaRPr lang="en-US" sz="6000" dirty="0"/>
          </a:p>
        </p:txBody>
      </p:sp>
      <p:sp>
        <p:nvSpPr>
          <p:cNvPr id="5" name="Text 3"/>
          <p:cNvSpPr/>
          <p:nvPr/>
        </p:nvSpPr>
        <p:spPr>
          <a:xfrm>
            <a:off x="812800" y="403607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5D3DA"/>
                </a:solidFill>
                <a:latin typeface="Noto Sans KR" pitchFamily="34" charset="0"/>
                <a:ea typeface="Noto Sans KR" pitchFamily="34" charset="-122"/>
                <a:cs typeface="Noto Sans KR" pitchFamily="34" charset="-120"/>
              </a:rPr>
              <a:t>주제 소개 · 문제 정의 · 시장조사 · 기획 소개</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01 · 웰니스란?</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웰니스의 8가지 영역</a:t>
            </a:r>
            <a:endParaRPr lang="en-US" sz="2800" dirty="0"/>
          </a:p>
        </p:txBody>
      </p:sp>
      <p:sp>
        <p:nvSpPr>
          <p:cNvPr id="4" name="Shape 2"/>
          <p:cNvSpPr/>
          <p:nvPr/>
        </p:nvSpPr>
        <p:spPr>
          <a:xfrm>
            <a:off x="819150" y="1771600"/>
            <a:ext cx="2533650" cy="1860550"/>
          </a:xfrm>
          <a:prstGeom prst="roundRect">
            <a:avLst>
              <a:gd name="adj" fmla="val 4437"/>
            </a:avLst>
          </a:prstGeom>
          <a:solidFill>
            <a:srgbClr val="FDFDFB"/>
          </a:solidFill>
          <a:ln w="12700">
            <a:solidFill>
              <a:srgbClr val="DDE3E0"/>
            </a:solidFill>
            <a:prstDash val="solid"/>
          </a:ln>
        </p:spPr>
      </p:sp>
      <p:sp>
        <p:nvSpPr>
          <p:cNvPr id="5" name="Text 3"/>
          <p:cNvSpPr/>
          <p:nvPr/>
        </p:nvSpPr>
        <p:spPr>
          <a:xfrm>
            <a:off x="1003300" y="1955750"/>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02F"/>
                </a:solidFill>
                <a:latin typeface="Noto Sans KR" pitchFamily="34" charset="0"/>
                <a:ea typeface="Noto Sans KR" pitchFamily="34" charset="-122"/>
                <a:cs typeface="Noto Sans KR" pitchFamily="34" charset="-120"/>
              </a:rPr>
              <a:t>신체적</a:t>
            </a:r>
            <a:endParaRPr lang="en-US" sz="1500" dirty="0"/>
          </a:p>
        </p:txBody>
      </p:sp>
      <p:sp>
        <p:nvSpPr>
          <p:cNvPr id="6" name="Text 4"/>
          <p:cNvSpPr/>
          <p:nvPr/>
        </p:nvSpPr>
        <p:spPr>
          <a:xfrm>
            <a:off x="1003300" y="2235150"/>
            <a:ext cx="22303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Physical</a:t>
            </a:r>
            <a:endParaRPr lang="en-US" sz="1200" dirty="0"/>
          </a:p>
        </p:txBody>
      </p:sp>
      <p:sp>
        <p:nvSpPr>
          <p:cNvPr id="7" name="Text 5"/>
          <p:cNvSpPr/>
          <p:nvPr/>
        </p:nvSpPr>
        <p:spPr>
          <a:xfrm>
            <a:off x="1003300" y="2499271"/>
            <a:ext cx="223031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영양 · 운동 · 수면 · 건강 검진으로 몸의 기능 유지</a:t>
            </a:r>
            <a:endParaRPr lang="en-US" sz="1200" dirty="0"/>
          </a:p>
        </p:txBody>
      </p:sp>
      <p:sp>
        <p:nvSpPr>
          <p:cNvPr id="8" name="Shape 6"/>
          <p:cNvSpPr/>
          <p:nvPr/>
        </p:nvSpPr>
        <p:spPr>
          <a:xfrm>
            <a:off x="3492500" y="1771600"/>
            <a:ext cx="2533650" cy="1860550"/>
          </a:xfrm>
          <a:prstGeom prst="roundRect">
            <a:avLst>
              <a:gd name="adj" fmla="val 4437"/>
            </a:avLst>
          </a:prstGeom>
          <a:solidFill>
            <a:srgbClr val="FDFDFB"/>
          </a:solidFill>
          <a:ln w="12700">
            <a:solidFill>
              <a:srgbClr val="DDE3E0"/>
            </a:solidFill>
            <a:prstDash val="solid"/>
          </a:ln>
        </p:spPr>
      </p:sp>
      <p:sp>
        <p:nvSpPr>
          <p:cNvPr id="9" name="Text 7"/>
          <p:cNvSpPr/>
          <p:nvPr/>
        </p:nvSpPr>
        <p:spPr>
          <a:xfrm>
            <a:off x="3676650" y="1955750"/>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02F"/>
                </a:solidFill>
                <a:latin typeface="Noto Sans KR" pitchFamily="34" charset="0"/>
                <a:ea typeface="Noto Sans KR" pitchFamily="34" charset="-122"/>
                <a:cs typeface="Noto Sans KR" pitchFamily="34" charset="-120"/>
              </a:rPr>
              <a:t>감정적</a:t>
            </a:r>
            <a:endParaRPr lang="en-US" sz="1500" dirty="0"/>
          </a:p>
        </p:txBody>
      </p:sp>
      <p:sp>
        <p:nvSpPr>
          <p:cNvPr id="10" name="Text 8"/>
          <p:cNvSpPr/>
          <p:nvPr/>
        </p:nvSpPr>
        <p:spPr>
          <a:xfrm>
            <a:off x="3676650" y="2235150"/>
            <a:ext cx="22303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Emotional</a:t>
            </a:r>
            <a:endParaRPr lang="en-US" sz="1200" dirty="0"/>
          </a:p>
        </p:txBody>
      </p:sp>
      <p:sp>
        <p:nvSpPr>
          <p:cNvPr id="11" name="Text 9"/>
          <p:cNvSpPr/>
          <p:nvPr/>
        </p:nvSpPr>
        <p:spPr>
          <a:xfrm>
            <a:off x="3676650" y="2499271"/>
            <a:ext cx="223031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감정을 이해 · 표현하고 스트레스에 유연하게 대처</a:t>
            </a:r>
            <a:endParaRPr lang="en-US" sz="1200" dirty="0"/>
          </a:p>
        </p:txBody>
      </p:sp>
      <p:sp>
        <p:nvSpPr>
          <p:cNvPr id="12" name="Shape 10"/>
          <p:cNvSpPr/>
          <p:nvPr/>
        </p:nvSpPr>
        <p:spPr>
          <a:xfrm>
            <a:off x="6165850" y="1771600"/>
            <a:ext cx="2533650" cy="1860550"/>
          </a:xfrm>
          <a:prstGeom prst="roundRect">
            <a:avLst>
              <a:gd name="adj" fmla="val 4437"/>
            </a:avLst>
          </a:prstGeom>
          <a:solidFill>
            <a:srgbClr val="FDFDFB"/>
          </a:solidFill>
          <a:ln w="12700">
            <a:solidFill>
              <a:srgbClr val="DDE3E0"/>
            </a:solidFill>
            <a:prstDash val="solid"/>
          </a:ln>
        </p:spPr>
      </p:sp>
      <p:sp>
        <p:nvSpPr>
          <p:cNvPr id="13" name="Text 11"/>
          <p:cNvSpPr/>
          <p:nvPr/>
        </p:nvSpPr>
        <p:spPr>
          <a:xfrm>
            <a:off x="6350000" y="1955750"/>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02F"/>
                </a:solidFill>
                <a:latin typeface="Noto Sans KR" pitchFamily="34" charset="0"/>
                <a:ea typeface="Noto Sans KR" pitchFamily="34" charset="-122"/>
                <a:cs typeface="Noto Sans KR" pitchFamily="34" charset="-120"/>
              </a:rPr>
              <a:t>지적</a:t>
            </a:r>
            <a:endParaRPr lang="en-US" sz="1500" dirty="0"/>
          </a:p>
        </p:txBody>
      </p:sp>
      <p:sp>
        <p:nvSpPr>
          <p:cNvPr id="14" name="Text 12"/>
          <p:cNvSpPr/>
          <p:nvPr/>
        </p:nvSpPr>
        <p:spPr>
          <a:xfrm>
            <a:off x="6350000" y="2235150"/>
            <a:ext cx="22303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Intellectual</a:t>
            </a:r>
            <a:endParaRPr lang="en-US" sz="1200" dirty="0"/>
          </a:p>
        </p:txBody>
      </p:sp>
      <p:sp>
        <p:nvSpPr>
          <p:cNvPr id="15" name="Text 13"/>
          <p:cNvSpPr/>
          <p:nvPr/>
        </p:nvSpPr>
        <p:spPr>
          <a:xfrm>
            <a:off x="6350000" y="2499271"/>
            <a:ext cx="223031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독서 · 학습 · 창의적 사고로 문제 해결력 확장</a:t>
            </a:r>
            <a:endParaRPr lang="en-US" sz="1200" dirty="0"/>
          </a:p>
        </p:txBody>
      </p:sp>
      <p:sp>
        <p:nvSpPr>
          <p:cNvPr id="16" name="Shape 14"/>
          <p:cNvSpPr/>
          <p:nvPr/>
        </p:nvSpPr>
        <p:spPr>
          <a:xfrm>
            <a:off x="8839200" y="1771600"/>
            <a:ext cx="2533650" cy="1860550"/>
          </a:xfrm>
          <a:prstGeom prst="roundRect">
            <a:avLst>
              <a:gd name="adj" fmla="val 4437"/>
            </a:avLst>
          </a:prstGeom>
          <a:solidFill>
            <a:srgbClr val="FDFDFB"/>
          </a:solidFill>
          <a:ln w="12700">
            <a:solidFill>
              <a:srgbClr val="DDE3E0"/>
            </a:solidFill>
            <a:prstDash val="solid"/>
          </a:ln>
        </p:spPr>
      </p:sp>
      <p:sp>
        <p:nvSpPr>
          <p:cNvPr id="17" name="Text 15"/>
          <p:cNvSpPr/>
          <p:nvPr/>
        </p:nvSpPr>
        <p:spPr>
          <a:xfrm>
            <a:off x="9023350" y="1955750"/>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02F"/>
                </a:solidFill>
                <a:latin typeface="Noto Sans KR" pitchFamily="34" charset="0"/>
                <a:ea typeface="Noto Sans KR" pitchFamily="34" charset="-122"/>
                <a:cs typeface="Noto Sans KR" pitchFamily="34" charset="-120"/>
              </a:rPr>
              <a:t>사회적</a:t>
            </a:r>
            <a:endParaRPr lang="en-US" sz="1500" dirty="0"/>
          </a:p>
        </p:txBody>
      </p:sp>
      <p:sp>
        <p:nvSpPr>
          <p:cNvPr id="18" name="Text 16"/>
          <p:cNvSpPr/>
          <p:nvPr/>
        </p:nvSpPr>
        <p:spPr>
          <a:xfrm>
            <a:off x="9023350" y="2235150"/>
            <a:ext cx="22303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Social</a:t>
            </a:r>
            <a:endParaRPr lang="en-US" sz="1200" dirty="0"/>
          </a:p>
        </p:txBody>
      </p:sp>
      <p:sp>
        <p:nvSpPr>
          <p:cNvPr id="19" name="Text 17"/>
          <p:cNvSpPr/>
          <p:nvPr/>
        </p:nvSpPr>
        <p:spPr>
          <a:xfrm>
            <a:off x="9023350" y="2499271"/>
            <a:ext cx="223031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주변 사람들과 의미 있는 유대감, 공동체 참여</a:t>
            </a:r>
            <a:endParaRPr lang="en-US" sz="1200" dirty="0"/>
          </a:p>
        </p:txBody>
      </p:sp>
      <p:sp>
        <p:nvSpPr>
          <p:cNvPr id="20" name="Shape 18"/>
          <p:cNvSpPr/>
          <p:nvPr/>
        </p:nvSpPr>
        <p:spPr>
          <a:xfrm>
            <a:off x="819150" y="3771850"/>
            <a:ext cx="2533650" cy="2063800"/>
          </a:xfrm>
          <a:prstGeom prst="roundRect">
            <a:avLst>
              <a:gd name="adj" fmla="val 4000"/>
            </a:avLst>
          </a:prstGeom>
          <a:solidFill>
            <a:srgbClr val="FDFDFB"/>
          </a:solidFill>
          <a:ln w="12700">
            <a:solidFill>
              <a:srgbClr val="DDE3E0"/>
            </a:solidFill>
            <a:prstDash val="solid"/>
          </a:ln>
        </p:spPr>
      </p:sp>
      <p:sp>
        <p:nvSpPr>
          <p:cNvPr id="21" name="Text 19"/>
          <p:cNvSpPr/>
          <p:nvPr/>
        </p:nvSpPr>
        <p:spPr>
          <a:xfrm>
            <a:off x="1003300" y="3956000"/>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02F"/>
                </a:solidFill>
                <a:latin typeface="Noto Sans KR" pitchFamily="34" charset="0"/>
                <a:ea typeface="Noto Sans KR" pitchFamily="34" charset="-122"/>
                <a:cs typeface="Noto Sans KR" pitchFamily="34" charset="-120"/>
              </a:rPr>
              <a:t>영적</a:t>
            </a:r>
            <a:endParaRPr lang="en-US" sz="1500" dirty="0"/>
          </a:p>
        </p:txBody>
      </p:sp>
      <p:sp>
        <p:nvSpPr>
          <p:cNvPr id="22" name="Text 20"/>
          <p:cNvSpPr/>
          <p:nvPr/>
        </p:nvSpPr>
        <p:spPr>
          <a:xfrm>
            <a:off x="1003300" y="4235400"/>
            <a:ext cx="22303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Spiritual</a:t>
            </a:r>
            <a:endParaRPr lang="en-US" sz="1200" dirty="0"/>
          </a:p>
        </p:txBody>
      </p:sp>
      <p:sp>
        <p:nvSpPr>
          <p:cNvPr id="23" name="Text 21"/>
          <p:cNvSpPr/>
          <p:nvPr/>
        </p:nvSpPr>
        <p:spPr>
          <a:xfrm>
            <a:off x="1003300" y="4499521"/>
            <a:ext cx="223031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삶의 가치와 의미를 찾고 내면의 평화 유지</a:t>
            </a:r>
            <a:endParaRPr lang="en-US" sz="1200" dirty="0"/>
          </a:p>
        </p:txBody>
      </p:sp>
      <p:sp>
        <p:nvSpPr>
          <p:cNvPr id="24" name="Shape 22"/>
          <p:cNvSpPr/>
          <p:nvPr/>
        </p:nvSpPr>
        <p:spPr>
          <a:xfrm>
            <a:off x="3492500" y="3771850"/>
            <a:ext cx="2533650" cy="2063800"/>
          </a:xfrm>
          <a:prstGeom prst="roundRect">
            <a:avLst>
              <a:gd name="adj" fmla="val 4000"/>
            </a:avLst>
          </a:prstGeom>
          <a:solidFill>
            <a:srgbClr val="FDFDFB"/>
          </a:solidFill>
          <a:ln w="12700">
            <a:solidFill>
              <a:srgbClr val="DDE3E0"/>
            </a:solidFill>
            <a:prstDash val="solid"/>
          </a:ln>
        </p:spPr>
      </p:sp>
      <p:sp>
        <p:nvSpPr>
          <p:cNvPr id="25" name="Text 23"/>
          <p:cNvSpPr/>
          <p:nvPr/>
        </p:nvSpPr>
        <p:spPr>
          <a:xfrm>
            <a:off x="3676650" y="3956000"/>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02F"/>
                </a:solidFill>
                <a:latin typeface="Noto Sans KR" pitchFamily="34" charset="0"/>
                <a:ea typeface="Noto Sans KR" pitchFamily="34" charset="-122"/>
                <a:cs typeface="Noto Sans KR" pitchFamily="34" charset="-120"/>
              </a:rPr>
              <a:t>직업적</a:t>
            </a:r>
            <a:endParaRPr lang="en-US" sz="1500" dirty="0"/>
          </a:p>
        </p:txBody>
      </p:sp>
      <p:sp>
        <p:nvSpPr>
          <p:cNvPr id="26" name="Text 24"/>
          <p:cNvSpPr/>
          <p:nvPr/>
        </p:nvSpPr>
        <p:spPr>
          <a:xfrm>
            <a:off x="3676650" y="4235400"/>
            <a:ext cx="22303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Occupational</a:t>
            </a:r>
            <a:endParaRPr lang="en-US" sz="1200" dirty="0"/>
          </a:p>
        </p:txBody>
      </p:sp>
      <p:sp>
        <p:nvSpPr>
          <p:cNvPr id="27" name="Text 25"/>
          <p:cNvSpPr/>
          <p:nvPr/>
        </p:nvSpPr>
        <p:spPr>
          <a:xfrm>
            <a:off x="3676650" y="4499521"/>
            <a:ext cx="234315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일 · 학업에서 보람, 일과 삶의 균형</a:t>
            </a:r>
            <a:endParaRPr lang="en-US" sz="1200" dirty="0"/>
          </a:p>
        </p:txBody>
      </p:sp>
      <p:sp>
        <p:nvSpPr>
          <p:cNvPr id="28" name="Shape 26"/>
          <p:cNvSpPr/>
          <p:nvPr/>
        </p:nvSpPr>
        <p:spPr>
          <a:xfrm>
            <a:off x="6165850" y="3771850"/>
            <a:ext cx="2533650" cy="2063800"/>
          </a:xfrm>
          <a:prstGeom prst="roundRect">
            <a:avLst>
              <a:gd name="adj" fmla="val 4000"/>
            </a:avLst>
          </a:prstGeom>
          <a:solidFill>
            <a:srgbClr val="FDFDFB"/>
          </a:solidFill>
          <a:ln w="12700">
            <a:solidFill>
              <a:srgbClr val="DDE3E0"/>
            </a:solidFill>
            <a:prstDash val="solid"/>
          </a:ln>
        </p:spPr>
      </p:sp>
      <p:sp>
        <p:nvSpPr>
          <p:cNvPr id="29" name="Text 27"/>
          <p:cNvSpPr/>
          <p:nvPr/>
        </p:nvSpPr>
        <p:spPr>
          <a:xfrm>
            <a:off x="6350000" y="3956000"/>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02F"/>
                </a:solidFill>
                <a:latin typeface="Noto Sans KR" pitchFamily="34" charset="0"/>
                <a:ea typeface="Noto Sans KR" pitchFamily="34" charset="-122"/>
                <a:cs typeface="Noto Sans KR" pitchFamily="34" charset="-120"/>
              </a:rPr>
              <a:t>환경적</a:t>
            </a:r>
            <a:endParaRPr lang="en-US" sz="1500" dirty="0"/>
          </a:p>
        </p:txBody>
      </p:sp>
      <p:sp>
        <p:nvSpPr>
          <p:cNvPr id="30" name="Text 28"/>
          <p:cNvSpPr/>
          <p:nvPr/>
        </p:nvSpPr>
        <p:spPr>
          <a:xfrm>
            <a:off x="6350000" y="4235400"/>
            <a:ext cx="22303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Environmental</a:t>
            </a:r>
            <a:endParaRPr lang="en-US" sz="1200" dirty="0"/>
          </a:p>
        </p:txBody>
      </p:sp>
      <p:sp>
        <p:nvSpPr>
          <p:cNvPr id="31" name="Text 29"/>
          <p:cNvSpPr/>
          <p:nvPr/>
        </p:nvSpPr>
        <p:spPr>
          <a:xfrm>
            <a:off x="6350000" y="4499521"/>
            <a:ext cx="223031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쾌적 · 안전한 주거 · 근무 환경, 지속 가능한 생태계</a:t>
            </a:r>
            <a:endParaRPr lang="en-US" sz="1200" dirty="0"/>
          </a:p>
        </p:txBody>
      </p:sp>
      <p:sp>
        <p:nvSpPr>
          <p:cNvPr id="32" name="Shape 30"/>
          <p:cNvSpPr/>
          <p:nvPr/>
        </p:nvSpPr>
        <p:spPr>
          <a:xfrm>
            <a:off x="8832850" y="3765500"/>
            <a:ext cx="2546350" cy="2076500"/>
          </a:xfrm>
          <a:prstGeom prst="roundRect">
            <a:avLst>
              <a:gd name="adj" fmla="val 4281"/>
            </a:avLst>
          </a:prstGeom>
          <a:solidFill>
            <a:srgbClr val="12202F"/>
          </a:solidFill>
          <a:ln/>
        </p:spPr>
      </p:sp>
      <p:sp>
        <p:nvSpPr>
          <p:cNvPr id="33" name="Text 31"/>
          <p:cNvSpPr/>
          <p:nvPr/>
        </p:nvSpPr>
        <p:spPr>
          <a:xfrm>
            <a:off x="9010650" y="3943300"/>
            <a:ext cx="225647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D700"/>
                </a:solidFill>
                <a:latin typeface="Noto Sans KR" pitchFamily="34" charset="0"/>
                <a:ea typeface="Noto Sans KR" pitchFamily="34" charset="-122"/>
                <a:cs typeface="Noto Sans KR" pitchFamily="34" charset="-120"/>
              </a:rPr>
              <a:t>재정적</a:t>
            </a:r>
            <a:endParaRPr lang="en-US" sz="1500" dirty="0"/>
          </a:p>
        </p:txBody>
      </p:sp>
      <p:sp>
        <p:nvSpPr>
          <p:cNvPr id="34" name="Text 32"/>
          <p:cNvSpPr/>
          <p:nvPr/>
        </p:nvSpPr>
        <p:spPr>
          <a:xfrm>
            <a:off x="9010650" y="4222700"/>
            <a:ext cx="22564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BFA5"/>
                </a:solidFill>
                <a:latin typeface="Noto Sans KR" pitchFamily="34" charset="0"/>
                <a:ea typeface="Noto Sans KR" pitchFamily="34" charset="-122"/>
                <a:cs typeface="Noto Sans KR" pitchFamily="34" charset="-120"/>
              </a:rPr>
              <a:t>Financial</a:t>
            </a:r>
            <a:endParaRPr lang="en-US" sz="1200" dirty="0"/>
          </a:p>
        </p:txBody>
      </p:sp>
      <p:sp>
        <p:nvSpPr>
          <p:cNvPr id="35" name="Text 33"/>
          <p:cNvSpPr/>
          <p:nvPr/>
        </p:nvSpPr>
        <p:spPr>
          <a:xfrm>
            <a:off x="9010650" y="4486821"/>
            <a:ext cx="2256473"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6F7F3"/>
                </a:solidFill>
                <a:latin typeface="Noto Sans KR" pitchFamily="34" charset="0"/>
                <a:ea typeface="Noto Sans KR" pitchFamily="34" charset="-122"/>
                <a:cs typeface="Noto Sans KR" pitchFamily="34" charset="-120"/>
              </a:rPr>
              <a:t>지출 · 저축 · 투자를 합리적으로 계획해 금전적 스트레스를 줄이는 것</a:t>
            </a:r>
            <a:endParaRPr lang="en-US" sz="1200" dirty="0"/>
          </a:p>
        </p:txBody>
      </p:sp>
      <p:sp>
        <p:nvSpPr>
          <p:cNvPr id="36" name="Text 3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2F"/>
                </a:solidFill>
                <a:latin typeface="Noto Sans KR" pitchFamily="34" charset="0"/>
                <a:ea typeface="Noto Sans KR" pitchFamily="34" charset="-122"/>
                <a:cs typeface="Noto Sans KR" pitchFamily="34" charset="-120"/>
              </a:rPr>
              <a:t>머니쿠션은 이 중 </a:t>
            </a:r>
            <a:r>
              <a:rPr lang="en-US" sz="1200" b="1" dirty="0">
                <a:solidFill>
                  <a:srgbClr val="00806E"/>
                </a:solidFill>
                <a:latin typeface="Noto Sans KR" pitchFamily="34" charset="0"/>
                <a:ea typeface="Noto Sans KR" pitchFamily="34" charset="-122"/>
                <a:cs typeface="Noto Sans KR" pitchFamily="34" charset="-120"/>
              </a:rPr>
              <a:t>재정적 웰니스</a:t>
            </a:r>
            <a:r>
              <a:rPr lang="en-US" sz="1200" b="1" dirty="0">
                <a:solidFill>
                  <a:srgbClr val="12202F"/>
                </a:solidFill>
                <a:latin typeface="Noto Sans KR" pitchFamily="34" charset="0"/>
                <a:ea typeface="Noto Sans KR" pitchFamily="34" charset="-122"/>
                <a:cs typeface="Noto Sans KR" pitchFamily="34" charset="-120"/>
              </a:rPr>
              <a:t>에 집중합니다</a:t>
            </a:r>
            <a:endParaRPr lang="en-US" sz="1200" dirty="0"/>
          </a:p>
        </p:txBody>
      </p:sp>
      <p:sp>
        <p:nvSpPr>
          <p:cNvPr id="37" name="Text 3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01 · 프로젝트 주제</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머니쿠션 = 사회초년생의 AI 금융 코치</a:t>
            </a:r>
            <a:endParaRPr lang="en-US" sz="2800" dirty="0"/>
          </a:p>
        </p:txBody>
      </p:sp>
      <p:sp>
        <p:nvSpPr>
          <p:cNvPr id="4" name="Text 2"/>
          <p:cNvSpPr/>
          <p:nvPr/>
        </p:nvSpPr>
        <p:spPr>
          <a:xfrm>
            <a:off x="812800" y="17652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44525F"/>
                </a:solidFill>
                <a:latin typeface="Noto Sans KR" pitchFamily="34" charset="0"/>
                <a:ea typeface="Noto Sans KR" pitchFamily="34" charset="-122"/>
                <a:cs typeface="Noto Sans KR" pitchFamily="34" charset="-120"/>
              </a:rPr>
              <a:t>첫 월급을 받은 사회초년생이 던지는 세 가지 질문을 </a:t>
            </a:r>
            <a:r>
              <a:rPr lang="en-US" sz="1600" b="1" dirty="0">
                <a:solidFill>
                  <a:srgbClr val="12202F"/>
                </a:solidFill>
                <a:latin typeface="Noto Sans KR" pitchFamily="34" charset="0"/>
                <a:ea typeface="Noto Sans KR" pitchFamily="34" charset="-122"/>
                <a:cs typeface="Noto Sans KR" pitchFamily="34" charset="-120"/>
              </a:rPr>
              <a:t>함께 판단</a:t>
            </a:r>
            <a:r>
              <a:rPr lang="en-US" sz="1600" dirty="0">
                <a:solidFill>
                  <a:srgbClr val="44525F"/>
                </a:solidFill>
                <a:latin typeface="Noto Sans KR" pitchFamily="34" charset="0"/>
                <a:ea typeface="Noto Sans KR" pitchFamily="34" charset="-122"/>
                <a:cs typeface="Noto Sans KR" pitchFamily="34" charset="-120"/>
              </a:rPr>
              <a:t>해 줍니다.</a:t>
            </a:r>
            <a:endParaRPr lang="en-US" sz="1600" dirty="0"/>
          </a:p>
        </p:txBody>
      </p:sp>
      <p:sp>
        <p:nvSpPr>
          <p:cNvPr id="5" name="Shape 3"/>
          <p:cNvSpPr/>
          <p:nvPr/>
        </p:nvSpPr>
        <p:spPr>
          <a:xfrm>
            <a:off x="812800" y="2324050"/>
            <a:ext cx="3420517" cy="2923629"/>
          </a:xfrm>
          <a:prstGeom prst="roundRect">
            <a:avLst>
              <a:gd name="adj" fmla="val 3475"/>
            </a:avLst>
          </a:prstGeom>
          <a:solidFill>
            <a:srgbClr val="12202F"/>
          </a:solidFill>
          <a:ln/>
        </p:spPr>
      </p:sp>
      <p:sp>
        <p:nvSpPr>
          <p:cNvPr id="6" name="Text 4"/>
          <p:cNvSpPr/>
          <p:nvPr/>
        </p:nvSpPr>
        <p:spPr>
          <a:xfrm>
            <a:off x="1041400" y="2552650"/>
            <a:ext cx="30522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BFA5"/>
                </a:solidFill>
                <a:latin typeface="Noto Sans KR" pitchFamily="34" charset="0"/>
                <a:ea typeface="Noto Sans KR" pitchFamily="34" charset="-122"/>
                <a:cs typeface="Noto Sans KR" pitchFamily="34" charset="-120"/>
              </a:rPr>
              <a:t>배분</a:t>
            </a:r>
            <a:endParaRPr lang="en-US" sz="1200" dirty="0"/>
          </a:p>
        </p:txBody>
      </p:sp>
      <p:sp>
        <p:nvSpPr>
          <p:cNvPr id="7" name="Text 5"/>
          <p:cNvSpPr/>
          <p:nvPr/>
        </p:nvSpPr>
        <p:spPr>
          <a:xfrm>
            <a:off x="1041400" y="2867571"/>
            <a:ext cx="3052216"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F6F7F3"/>
                </a:solidFill>
                <a:latin typeface="Noto Sans KR" pitchFamily="34" charset="0"/>
                <a:ea typeface="Noto Sans KR" pitchFamily="34" charset="-122"/>
                <a:cs typeface="Noto Sans KR" pitchFamily="34" charset="-120"/>
              </a:rPr>
              <a:t>“이번 월급,</a:t>
            </a:r>
            <a:endParaRPr lang="en-US" sz="1800" dirty="0"/>
          </a:p>
          <a:p>
            <a:pPr algn="l" indent="0" marL="0">
              <a:lnSpc>
                <a:spcPts val="2430"/>
              </a:lnSpc>
              <a:buNone/>
            </a:pPr>
            <a:r>
              <a:rPr lang="en-US" sz="1800" b="1" dirty="0">
                <a:solidFill>
                  <a:srgbClr val="F6F7F3"/>
                </a:solidFill>
                <a:latin typeface="Noto Sans KR" pitchFamily="34" charset="0"/>
                <a:ea typeface="Noto Sans KR" pitchFamily="34" charset="-122"/>
                <a:cs typeface="Noto Sans KR" pitchFamily="34" charset="-120"/>
              </a:rPr>
              <a:t>어떻게 나눌까?”</a:t>
            </a:r>
            <a:endParaRPr lang="en-US" sz="1800" dirty="0"/>
          </a:p>
        </p:txBody>
      </p:sp>
      <p:sp>
        <p:nvSpPr>
          <p:cNvPr id="8" name="Shape 6"/>
          <p:cNvSpPr/>
          <p:nvPr/>
        </p:nvSpPr>
        <p:spPr>
          <a:xfrm>
            <a:off x="4385717" y="2324050"/>
            <a:ext cx="3420517" cy="2923629"/>
          </a:xfrm>
          <a:prstGeom prst="roundRect">
            <a:avLst>
              <a:gd name="adj" fmla="val 3475"/>
            </a:avLst>
          </a:prstGeom>
          <a:solidFill>
            <a:srgbClr val="12202F"/>
          </a:solidFill>
          <a:ln/>
        </p:spPr>
      </p:sp>
      <p:sp>
        <p:nvSpPr>
          <p:cNvPr id="9" name="Text 7"/>
          <p:cNvSpPr/>
          <p:nvPr/>
        </p:nvSpPr>
        <p:spPr>
          <a:xfrm>
            <a:off x="4614317" y="2552650"/>
            <a:ext cx="30522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BFA5"/>
                </a:solidFill>
                <a:latin typeface="Noto Sans KR" pitchFamily="34" charset="0"/>
                <a:ea typeface="Noto Sans KR" pitchFamily="34" charset="-122"/>
                <a:cs typeface="Noto Sans KR" pitchFamily="34" charset="-120"/>
              </a:rPr>
              <a:t>판단</a:t>
            </a:r>
            <a:endParaRPr lang="en-US" sz="1200" dirty="0"/>
          </a:p>
        </p:txBody>
      </p:sp>
      <p:sp>
        <p:nvSpPr>
          <p:cNvPr id="10" name="Text 8"/>
          <p:cNvSpPr/>
          <p:nvPr/>
        </p:nvSpPr>
        <p:spPr>
          <a:xfrm>
            <a:off x="4614317" y="2867571"/>
            <a:ext cx="3052216"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F6F7F3"/>
                </a:solidFill>
                <a:latin typeface="Noto Sans KR" pitchFamily="34" charset="0"/>
                <a:ea typeface="Noto Sans KR" pitchFamily="34" charset="-122"/>
                <a:cs typeface="Noto Sans KR" pitchFamily="34" charset="-120"/>
              </a:rPr>
              <a:t>“다음 월급날까지</a:t>
            </a:r>
            <a:endParaRPr lang="en-US" sz="1800" dirty="0"/>
          </a:p>
          <a:p>
            <a:pPr algn="l" indent="0" marL="0">
              <a:lnSpc>
                <a:spcPts val="2430"/>
              </a:lnSpc>
              <a:buNone/>
            </a:pPr>
            <a:r>
              <a:rPr lang="en-US" sz="1800" b="1" dirty="0">
                <a:solidFill>
                  <a:srgbClr val="F6F7F3"/>
                </a:solidFill>
                <a:latin typeface="Noto Sans KR" pitchFamily="34" charset="0"/>
                <a:ea typeface="Noto Sans KR" pitchFamily="34" charset="-122"/>
                <a:cs typeface="Noto Sans KR" pitchFamily="34" charset="-120"/>
              </a:rPr>
              <a:t>얼마 더 써도 될까?”</a:t>
            </a:r>
            <a:endParaRPr lang="en-US" sz="1800" dirty="0"/>
          </a:p>
        </p:txBody>
      </p:sp>
      <p:sp>
        <p:nvSpPr>
          <p:cNvPr id="11" name="Shape 9"/>
          <p:cNvSpPr/>
          <p:nvPr/>
        </p:nvSpPr>
        <p:spPr>
          <a:xfrm>
            <a:off x="7958634" y="2324050"/>
            <a:ext cx="3420566" cy="2923629"/>
          </a:xfrm>
          <a:prstGeom prst="roundRect">
            <a:avLst>
              <a:gd name="adj" fmla="val 3475"/>
            </a:avLst>
          </a:prstGeom>
          <a:solidFill>
            <a:srgbClr val="12202F"/>
          </a:solidFill>
          <a:ln/>
        </p:spPr>
      </p:sp>
      <p:sp>
        <p:nvSpPr>
          <p:cNvPr id="12" name="Text 10"/>
          <p:cNvSpPr/>
          <p:nvPr/>
        </p:nvSpPr>
        <p:spPr>
          <a:xfrm>
            <a:off x="8187234" y="2552650"/>
            <a:ext cx="3052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D700"/>
                </a:solidFill>
                <a:latin typeface="Noto Sans KR" pitchFamily="34" charset="0"/>
                <a:ea typeface="Noto Sans KR" pitchFamily="34" charset="-122"/>
                <a:cs typeface="Noto Sans KR" pitchFamily="34" charset="-120"/>
              </a:rPr>
              <a:t>회복</a:t>
            </a:r>
            <a:endParaRPr lang="en-US" sz="1200" dirty="0"/>
          </a:p>
        </p:txBody>
      </p:sp>
      <p:sp>
        <p:nvSpPr>
          <p:cNvPr id="13" name="Text 11"/>
          <p:cNvSpPr/>
          <p:nvPr/>
        </p:nvSpPr>
        <p:spPr>
          <a:xfrm>
            <a:off x="8187234" y="2867571"/>
            <a:ext cx="3052267"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F6F7F3"/>
                </a:solidFill>
                <a:latin typeface="Noto Sans KR" pitchFamily="34" charset="0"/>
                <a:ea typeface="Noto Sans KR" pitchFamily="34" charset="-122"/>
                <a:cs typeface="Noto Sans KR" pitchFamily="34" charset="-120"/>
              </a:rPr>
              <a:t>“큰돈을 썼는데,</a:t>
            </a:r>
            <a:endParaRPr lang="en-US" sz="1800" dirty="0"/>
          </a:p>
          <a:p>
            <a:pPr algn="l" indent="0" marL="0">
              <a:lnSpc>
                <a:spcPts val="2430"/>
              </a:lnSpc>
              <a:buNone/>
            </a:pPr>
            <a:r>
              <a:rPr lang="en-US" sz="1800" b="1" dirty="0">
                <a:solidFill>
                  <a:srgbClr val="F6F7F3"/>
                </a:solidFill>
                <a:latin typeface="Noto Sans KR" pitchFamily="34" charset="0"/>
                <a:ea typeface="Noto Sans KR" pitchFamily="34" charset="-122"/>
                <a:cs typeface="Noto Sans KR" pitchFamily="34" charset="-120"/>
              </a:rPr>
              <a:t>계획을 어떻게 다시 맞추지?”</a:t>
            </a:r>
            <a:endParaRPr lang="en-US" sz="1800" dirty="0"/>
          </a:p>
        </p:txBody>
      </p:sp>
      <p:sp>
        <p:nvSpPr>
          <p:cNvPr id="14" name="Text 12"/>
          <p:cNvSpPr/>
          <p:nvPr/>
        </p:nvSpPr>
        <p:spPr>
          <a:xfrm>
            <a:off x="812800" y="5501680"/>
            <a:ext cx="2263825" cy="340320"/>
          </a:xfrm>
          <a:prstGeom prst="roundRect">
            <a:avLst>
              <a:gd name="adj" fmla="val 50000"/>
            </a:avLst>
          </a:prstGeom>
          <a:solidFill>
            <a:srgbClr val="E3F5F1"/>
          </a:solidFill>
          <a:ln/>
        </p:spPr>
        <p:txBody>
          <a:bodyPr wrap="none" lIns="0" tIns="0" rIns="0" bIns="0" rtlCol="0" anchor="ctr">
            <a:normAutofit/>
          </a:bodyPr>
          <a:lstStyle/>
          <a:p>
            <a:pPr algn="ctr" indent="0" marL="0">
              <a:lnSpc>
                <a:spcPts val="1680"/>
              </a:lnSpc>
              <a:buNone/>
            </a:pPr>
            <a:r>
              <a:rPr lang="en-US" sz="1200" b="1" dirty="0">
                <a:solidFill>
                  <a:srgbClr val="12202F"/>
                </a:solidFill>
                <a:latin typeface="Noto Sans KR" pitchFamily="34" charset="0"/>
                <a:ea typeface="Noto Sans KR" pitchFamily="34" charset="-122"/>
                <a:cs typeface="Noto Sans KR" pitchFamily="34" charset="-120"/>
              </a:rPr>
              <a:t>대상</a:t>
            </a:r>
            <a:r>
              <a:rPr lang="en-US" sz="1200" dirty="0">
                <a:solidFill>
                  <a:srgbClr val="12202F"/>
                </a:solidFill>
                <a:latin typeface="Noto Sans KR" pitchFamily="34" charset="0"/>
                <a:ea typeface="Noto Sans KR" pitchFamily="34" charset="-122"/>
                <a:cs typeface="Noto Sans KR" pitchFamily="34" charset="-120"/>
              </a:rPr>
              <a:t> 첫 월급을 받은 사회초년생</a:t>
            </a:r>
            <a:endParaRPr lang="en-US" sz="1200" dirty="0"/>
          </a:p>
        </p:txBody>
      </p:sp>
      <p:sp>
        <p:nvSpPr>
          <p:cNvPr id="15" name="Text 13"/>
          <p:cNvSpPr/>
          <p:nvPr/>
        </p:nvSpPr>
        <p:spPr>
          <a:xfrm>
            <a:off x="3178225" y="5501680"/>
            <a:ext cx="2277170" cy="340320"/>
          </a:xfrm>
          <a:prstGeom prst="roundRect">
            <a:avLst>
              <a:gd name="adj" fmla="val 50000"/>
            </a:avLst>
          </a:prstGeom>
          <a:solidFill>
            <a:srgbClr val="E3F5F1"/>
          </a:solidFill>
          <a:ln/>
        </p:spPr>
        <p:txBody>
          <a:bodyPr wrap="none" lIns="0" tIns="0" rIns="0" bIns="0" rtlCol="0" anchor="ctr">
            <a:normAutofit/>
          </a:bodyPr>
          <a:lstStyle/>
          <a:p>
            <a:pPr algn="ctr" indent="0" marL="0">
              <a:lnSpc>
                <a:spcPts val="1680"/>
              </a:lnSpc>
              <a:buNone/>
            </a:pPr>
            <a:r>
              <a:rPr lang="en-US" sz="1200" b="1" dirty="0">
                <a:solidFill>
                  <a:srgbClr val="12202F"/>
                </a:solidFill>
                <a:latin typeface="Noto Sans KR" pitchFamily="34" charset="0"/>
                <a:ea typeface="Noto Sans KR" pitchFamily="34" charset="-122"/>
                <a:cs typeface="Noto Sans KR" pitchFamily="34" charset="-120"/>
              </a:rPr>
              <a:t>조건</a:t>
            </a:r>
            <a:r>
              <a:rPr lang="en-US" sz="1200" dirty="0">
                <a:solidFill>
                  <a:srgbClr val="12202F"/>
                </a:solidFill>
                <a:latin typeface="Noto Sans KR" pitchFamily="34" charset="0"/>
                <a:ea typeface="Noto Sans KR" pitchFamily="34" charset="-122"/>
                <a:cs typeface="Noto Sans KR" pitchFamily="34" charset="-120"/>
              </a:rPr>
              <a:t> 계좌 연결 필수 · 조회 전용</a:t>
            </a:r>
            <a:endParaRPr lang="en-US" sz="1200" dirty="0"/>
          </a:p>
        </p:txBody>
      </p:sp>
      <p:sp>
        <p:nvSpPr>
          <p:cNvPr id="16" name="Text 14"/>
          <p:cNvSpPr/>
          <p:nvPr/>
        </p:nvSpPr>
        <p:spPr>
          <a:xfrm>
            <a:off x="5556994" y="5501680"/>
            <a:ext cx="1643311" cy="340320"/>
          </a:xfrm>
          <a:prstGeom prst="roundRect">
            <a:avLst>
              <a:gd name="adj" fmla="val 50000"/>
            </a:avLst>
          </a:prstGeom>
          <a:solidFill>
            <a:srgbClr val="E3F5F1"/>
          </a:solidFill>
          <a:ln/>
        </p:spPr>
        <p:txBody>
          <a:bodyPr wrap="none" lIns="0" tIns="0" rIns="0" bIns="0" rtlCol="0" anchor="ctr">
            <a:normAutofit/>
          </a:bodyPr>
          <a:lstStyle/>
          <a:p>
            <a:pPr algn="ctr" indent="0" marL="0">
              <a:lnSpc>
                <a:spcPts val="1680"/>
              </a:lnSpc>
              <a:buNone/>
            </a:pPr>
            <a:r>
              <a:rPr lang="en-US" sz="1200" b="1" dirty="0">
                <a:solidFill>
                  <a:srgbClr val="12202F"/>
                </a:solidFill>
                <a:latin typeface="Noto Sans KR" pitchFamily="34" charset="0"/>
                <a:ea typeface="Noto Sans KR" pitchFamily="34" charset="-122"/>
                <a:cs typeface="Noto Sans KR" pitchFamily="34" charset="-120"/>
              </a:rPr>
              <a:t>형태</a:t>
            </a:r>
            <a:r>
              <a:rPr lang="en-US" sz="1200" dirty="0">
                <a:solidFill>
                  <a:srgbClr val="12202F"/>
                </a:solidFill>
                <a:latin typeface="Noto Sans KR" pitchFamily="34" charset="0"/>
                <a:ea typeface="Noto Sans KR" pitchFamily="34" charset="-122"/>
                <a:cs typeface="Noto Sans KR" pitchFamily="34" charset="-120"/>
              </a:rPr>
              <a:t> React 모바일 웹</a:t>
            </a:r>
            <a:endParaRPr lang="en-US" sz="1200" dirty="0"/>
          </a:p>
        </p:txBody>
      </p:sp>
      <p:sp>
        <p:nvSpPr>
          <p:cNvPr id="17" name="Text 15"/>
          <p:cNvSpPr/>
          <p:nvPr/>
        </p:nvSpPr>
        <p:spPr>
          <a:xfrm>
            <a:off x="7301905" y="5501680"/>
            <a:ext cx="1808311" cy="340320"/>
          </a:xfrm>
          <a:prstGeom prst="roundRect">
            <a:avLst>
              <a:gd name="adj" fmla="val 50000"/>
            </a:avLst>
          </a:prstGeom>
          <a:solidFill>
            <a:srgbClr val="E3F5F1"/>
          </a:solidFill>
          <a:ln/>
        </p:spPr>
        <p:txBody>
          <a:bodyPr wrap="none" lIns="0" tIns="0" rIns="0" bIns="0" rtlCol="0" anchor="ctr">
            <a:normAutofit/>
          </a:bodyPr>
          <a:lstStyle/>
          <a:p>
            <a:pPr algn="ctr" indent="0" marL="0">
              <a:lnSpc>
                <a:spcPts val="1680"/>
              </a:lnSpc>
              <a:buNone/>
            </a:pPr>
            <a:r>
              <a:rPr lang="en-US" sz="1200" b="1" dirty="0">
                <a:solidFill>
                  <a:srgbClr val="12202F"/>
                </a:solidFill>
                <a:latin typeface="Noto Sans KR" pitchFamily="34" charset="0"/>
                <a:ea typeface="Noto Sans KR" pitchFamily="34" charset="-122"/>
                <a:cs typeface="Noto Sans KR" pitchFamily="34" charset="-120"/>
              </a:rPr>
              <a:t>기간</a:t>
            </a:r>
            <a:r>
              <a:rPr lang="en-US" sz="1200" dirty="0">
                <a:solidFill>
                  <a:srgbClr val="12202F"/>
                </a:solidFill>
                <a:latin typeface="Noto Sans KR" pitchFamily="34" charset="0"/>
                <a:ea typeface="Noto Sans KR" pitchFamily="34" charset="-122"/>
                <a:cs typeface="Noto Sans KR" pitchFamily="34" charset="-120"/>
              </a:rPr>
              <a:t> 8주 (9.28 – 11.20)</a:t>
            </a:r>
            <a:endParaRPr lang="en-US" sz="1200" dirty="0"/>
          </a:p>
        </p:txBody>
      </p:sp>
      <p:sp>
        <p:nvSpPr>
          <p:cNvPr id="18"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01 · 배경</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20대의 돈 관리 행동 점수, 2년 새 급락</a:t>
            </a:r>
            <a:endParaRPr lang="en-US" sz="2800" dirty="0"/>
          </a:p>
        </p:txBody>
      </p:sp>
      <p:sp>
        <p:nvSpPr>
          <p:cNvPr id="4" name="Text 2"/>
          <p:cNvSpPr/>
          <p:nvPr/>
        </p:nvSpPr>
        <p:spPr>
          <a:xfrm>
            <a:off x="812800" y="2607270"/>
            <a:ext cx="698525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Noto Sans KR" pitchFamily="34" charset="0"/>
                <a:ea typeface="Noto Sans KR" pitchFamily="34" charset="-122"/>
                <a:cs typeface="Noto Sans KR" pitchFamily="34" charset="-120"/>
              </a:rPr>
              <a:t>재무 상황 점검 점수</a:t>
            </a:r>
            <a:endParaRPr lang="en-US" sz="1600" dirty="0"/>
          </a:p>
        </p:txBody>
      </p:sp>
      <p:sp>
        <p:nvSpPr>
          <p:cNvPr id="5" name="Text 3"/>
          <p:cNvSpPr/>
          <p:nvPr/>
        </p:nvSpPr>
        <p:spPr>
          <a:xfrm>
            <a:off x="812800" y="2989511"/>
            <a:ext cx="622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2022</a:t>
            </a:r>
            <a:endParaRPr lang="en-US" sz="1300" dirty="0"/>
          </a:p>
        </p:txBody>
      </p:sp>
      <p:sp>
        <p:nvSpPr>
          <p:cNvPr id="6" name="Shape 4"/>
          <p:cNvSpPr/>
          <p:nvPr/>
        </p:nvSpPr>
        <p:spPr>
          <a:xfrm>
            <a:off x="1511300" y="2952700"/>
            <a:ext cx="4133850" cy="304800"/>
          </a:xfrm>
          <a:prstGeom prst="roundRect">
            <a:avLst>
              <a:gd name="adj" fmla="val 16667"/>
            </a:avLst>
          </a:prstGeom>
          <a:solidFill>
            <a:srgbClr val="B8C4CC"/>
          </a:solidFill>
          <a:ln/>
        </p:spPr>
      </p:sp>
      <p:sp>
        <p:nvSpPr>
          <p:cNvPr id="7" name="Text 5"/>
          <p:cNvSpPr/>
          <p:nvPr/>
        </p:nvSpPr>
        <p:spPr>
          <a:xfrm>
            <a:off x="5772150" y="2971750"/>
            <a:ext cx="4786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4525F"/>
                </a:solidFill>
                <a:latin typeface="Noto Sans KR" pitchFamily="34" charset="0"/>
                <a:ea typeface="Noto Sans KR" pitchFamily="34" charset="-122"/>
                <a:cs typeface="Noto Sans KR" pitchFamily="34" charset="-120"/>
              </a:rPr>
              <a:t>55.8</a:t>
            </a:r>
            <a:endParaRPr lang="en-US" sz="1500" dirty="0"/>
          </a:p>
        </p:txBody>
      </p:sp>
      <p:sp>
        <p:nvSpPr>
          <p:cNvPr id="8" name="Text 6"/>
          <p:cNvSpPr/>
          <p:nvPr/>
        </p:nvSpPr>
        <p:spPr>
          <a:xfrm>
            <a:off x="812800" y="3395911"/>
            <a:ext cx="622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2024</a:t>
            </a:r>
            <a:endParaRPr lang="en-US" sz="1300" dirty="0"/>
          </a:p>
        </p:txBody>
      </p:sp>
      <p:sp>
        <p:nvSpPr>
          <p:cNvPr id="9" name="Shape 7"/>
          <p:cNvSpPr/>
          <p:nvPr/>
        </p:nvSpPr>
        <p:spPr>
          <a:xfrm>
            <a:off x="1511300" y="3359100"/>
            <a:ext cx="2457450" cy="304800"/>
          </a:xfrm>
          <a:prstGeom prst="roundRect">
            <a:avLst>
              <a:gd name="adj" fmla="val 16667"/>
            </a:avLst>
          </a:prstGeom>
          <a:solidFill>
            <a:srgbClr val="00BFA5"/>
          </a:solidFill>
          <a:ln/>
        </p:spPr>
      </p:sp>
      <p:sp>
        <p:nvSpPr>
          <p:cNvPr id="10" name="Text 8"/>
          <p:cNvSpPr/>
          <p:nvPr/>
        </p:nvSpPr>
        <p:spPr>
          <a:xfrm>
            <a:off x="4095750" y="3378150"/>
            <a:ext cx="131659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202F"/>
                </a:solidFill>
                <a:latin typeface="Noto Sans KR" pitchFamily="34" charset="0"/>
                <a:ea typeface="Noto Sans KR" pitchFamily="34" charset="-122"/>
                <a:cs typeface="Noto Sans KR" pitchFamily="34" charset="-120"/>
              </a:rPr>
              <a:t>33.2 </a:t>
            </a:r>
            <a:r>
              <a:rPr lang="en-US" sz="1500" b="1" dirty="0">
                <a:solidFill>
                  <a:srgbClr val="00806E"/>
                </a:solidFill>
                <a:latin typeface="Noto Sans KR" pitchFamily="34" charset="0"/>
                <a:ea typeface="Noto Sans KR" pitchFamily="34" charset="-122"/>
                <a:cs typeface="Noto Sans KR" pitchFamily="34" charset="-120"/>
              </a:rPr>
              <a:t>(−22.6)</a:t>
            </a:r>
            <a:endParaRPr lang="en-US" sz="1500" dirty="0"/>
          </a:p>
        </p:txBody>
      </p:sp>
      <p:sp>
        <p:nvSpPr>
          <p:cNvPr id="11" name="Text 9"/>
          <p:cNvSpPr/>
          <p:nvPr/>
        </p:nvSpPr>
        <p:spPr>
          <a:xfrm>
            <a:off x="812800" y="3943300"/>
            <a:ext cx="698525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Noto Sans KR" pitchFamily="34" charset="0"/>
                <a:ea typeface="Noto Sans KR" pitchFamily="34" charset="-122"/>
                <a:cs typeface="Noto Sans KR" pitchFamily="34" charset="-120"/>
              </a:rPr>
              <a:t>재무 목표 설정 점수</a:t>
            </a:r>
            <a:endParaRPr lang="en-US" sz="1600" dirty="0"/>
          </a:p>
        </p:txBody>
      </p:sp>
      <p:sp>
        <p:nvSpPr>
          <p:cNvPr id="12" name="Text 10"/>
          <p:cNvSpPr/>
          <p:nvPr/>
        </p:nvSpPr>
        <p:spPr>
          <a:xfrm>
            <a:off x="812800" y="4325541"/>
            <a:ext cx="622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2022</a:t>
            </a:r>
            <a:endParaRPr lang="en-US" sz="1300" dirty="0"/>
          </a:p>
        </p:txBody>
      </p:sp>
      <p:sp>
        <p:nvSpPr>
          <p:cNvPr id="13" name="Shape 11"/>
          <p:cNvSpPr/>
          <p:nvPr/>
        </p:nvSpPr>
        <p:spPr>
          <a:xfrm>
            <a:off x="1511300" y="4288730"/>
            <a:ext cx="3556000" cy="304800"/>
          </a:xfrm>
          <a:prstGeom prst="roundRect">
            <a:avLst>
              <a:gd name="adj" fmla="val 16667"/>
            </a:avLst>
          </a:prstGeom>
          <a:solidFill>
            <a:srgbClr val="B8C4CC"/>
          </a:solidFill>
          <a:ln/>
        </p:spPr>
      </p:sp>
      <p:sp>
        <p:nvSpPr>
          <p:cNvPr id="14" name="Text 12"/>
          <p:cNvSpPr/>
          <p:nvPr/>
        </p:nvSpPr>
        <p:spPr>
          <a:xfrm>
            <a:off x="5194300" y="4307780"/>
            <a:ext cx="4786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4525F"/>
                </a:solidFill>
                <a:latin typeface="Noto Sans KR" pitchFamily="34" charset="0"/>
                <a:ea typeface="Noto Sans KR" pitchFamily="34" charset="-122"/>
                <a:cs typeface="Noto Sans KR" pitchFamily="34" charset="-120"/>
              </a:rPr>
              <a:t>48.0</a:t>
            </a:r>
            <a:endParaRPr lang="en-US" sz="1500" dirty="0"/>
          </a:p>
        </p:txBody>
      </p:sp>
      <p:sp>
        <p:nvSpPr>
          <p:cNvPr id="15" name="Text 13"/>
          <p:cNvSpPr/>
          <p:nvPr/>
        </p:nvSpPr>
        <p:spPr>
          <a:xfrm>
            <a:off x="812800" y="4731941"/>
            <a:ext cx="622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2024</a:t>
            </a:r>
            <a:endParaRPr lang="en-US" sz="1300" dirty="0"/>
          </a:p>
        </p:txBody>
      </p:sp>
      <p:sp>
        <p:nvSpPr>
          <p:cNvPr id="16" name="Shape 14"/>
          <p:cNvSpPr/>
          <p:nvPr/>
        </p:nvSpPr>
        <p:spPr>
          <a:xfrm>
            <a:off x="1511300" y="4695130"/>
            <a:ext cx="2673350" cy="304800"/>
          </a:xfrm>
          <a:prstGeom prst="roundRect">
            <a:avLst>
              <a:gd name="adj" fmla="val 16667"/>
            </a:avLst>
          </a:prstGeom>
          <a:solidFill>
            <a:srgbClr val="00BFA5"/>
          </a:solidFill>
          <a:ln/>
        </p:spPr>
      </p:sp>
      <p:sp>
        <p:nvSpPr>
          <p:cNvPr id="17" name="Text 15"/>
          <p:cNvSpPr/>
          <p:nvPr/>
        </p:nvSpPr>
        <p:spPr>
          <a:xfrm>
            <a:off x="4311650" y="4714180"/>
            <a:ext cx="131659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202F"/>
                </a:solidFill>
                <a:latin typeface="Noto Sans KR" pitchFamily="34" charset="0"/>
                <a:ea typeface="Noto Sans KR" pitchFamily="34" charset="-122"/>
                <a:cs typeface="Noto Sans KR" pitchFamily="34" charset="-120"/>
              </a:rPr>
              <a:t>36.1 </a:t>
            </a:r>
            <a:r>
              <a:rPr lang="en-US" sz="1500" b="1" dirty="0">
                <a:solidFill>
                  <a:srgbClr val="00806E"/>
                </a:solidFill>
                <a:latin typeface="Noto Sans KR" pitchFamily="34" charset="0"/>
                <a:ea typeface="Noto Sans KR" pitchFamily="34" charset="-122"/>
                <a:cs typeface="Noto Sans KR" pitchFamily="34" charset="-120"/>
              </a:rPr>
              <a:t>(−11.9)</a:t>
            </a:r>
            <a:endParaRPr lang="en-US" sz="1500" dirty="0"/>
          </a:p>
        </p:txBody>
      </p:sp>
      <p:sp>
        <p:nvSpPr>
          <p:cNvPr id="18" name="Shape 16"/>
          <p:cNvSpPr/>
          <p:nvPr/>
        </p:nvSpPr>
        <p:spPr>
          <a:xfrm>
            <a:off x="7950200" y="1765250"/>
            <a:ext cx="3429000" cy="4076750"/>
          </a:xfrm>
          <a:prstGeom prst="roundRect">
            <a:avLst>
              <a:gd name="adj" fmla="val 3704"/>
            </a:avLst>
          </a:prstGeom>
          <a:solidFill>
            <a:srgbClr val="12202F"/>
          </a:solidFill>
          <a:ln/>
        </p:spPr>
      </p:sp>
      <p:sp>
        <p:nvSpPr>
          <p:cNvPr id="19" name="Text 17"/>
          <p:cNvSpPr/>
          <p:nvPr/>
        </p:nvSpPr>
        <p:spPr>
          <a:xfrm>
            <a:off x="8255000" y="3092400"/>
            <a:ext cx="2903982" cy="711200"/>
          </a:xfrm>
          <a:prstGeom prst="rect">
            <a:avLst/>
          </a:prstGeom>
          <a:noFill/>
          <a:ln/>
        </p:spPr>
        <p:txBody>
          <a:bodyPr wrap="square" lIns="0" tIns="0" rIns="0" bIns="0" rtlCol="0" anchor="t">
            <a:normAutofit/>
          </a:bodyPr>
          <a:lstStyle/>
          <a:p>
            <a:pPr algn="l" indent="0" marL="0">
              <a:lnSpc>
                <a:spcPts val="2700"/>
              </a:lnSpc>
              <a:buNone/>
            </a:pPr>
            <a:r>
              <a:rPr lang="en-US" sz="2000" b="1" dirty="0">
                <a:solidFill>
                  <a:srgbClr val="F6F7F3"/>
                </a:solidFill>
                <a:latin typeface="Noto Sans KR" pitchFamily="34" charset="0"/>
                <a:ea typeface="Noto Sans KR" pitchFamily="34" charset="-122"/>
                <a:cs typeface="Noto Sans KR" pitchFamily="34" charset="-120"/>
              </a:rPr>
              <a:t>지식보다</a:t>
            </a:r>
            <a:endParaRPr lang="en-US" sz="2000" dirty="0"/>
          </a:p>
          <a:p>
            <a:pPr algn="l" indent="0" marL="0">
              <a:lnSpc>
                <a:spcPts val="2700"/>
              </a:lnSpc>
              <a:buNone/>
            </a:pPr>
            <a:r>
              <a:rPr lang="en-US" sz="2000" b="1" dirty="0">
                <a:solidFill>
                  <a:srgbClr val="FFD700"/>
                </a:solidFill>
                <a:latin typeface="Noto Sans KR" pitchFamily="34" charset="0"/>
                <a:ea typeface="Noto Sans KR" pitchFamily="34" charset="-122"/>
                <a:cs typeface="Noto Sans KR" pitchFamily="34" charset="-120"/>
              </a:rPr>
              <a:t>돈 관리 행동</a:t>
            </a:r>
            <a:r>
              <a:rPr lang="en-US" sz="2000" b="1" dirty="0">
                <a:solidFill>
                  <a:srgbClr val="F6F7F3"/>
                </a:solidFill>
                <a:latin typeface="Noto Sans KR" pitchFamily="34" charset="0"/>
                <a:ea typeface="Noto Sans KR" pitchFamily="34" charset="-122"/>
                <a:cs typeface="Noto Sans KR" pitchFamily="34" charset="-120"/>
              </a:rPr>
              <a:t>이 약하다</a:t>
            </a:r>
            <a:endParaRPr lang="en-US" sz="2000" dirty="0"/>
          </a:p>
        </p:txBody>
      </p:sp>
      <p:sp>
        <p:nvSpPr>
          <p:cNvPr id="20" name="Text 18"/>
          <p:cNvSpPr/>
          <p:nvPr/>
        </p:nvSpPr>
        <p:spPr>
          <a:xfrm>
            <a:off x="8255000" y="3981400"/>
            <a:ext cx="290398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5D3DA"/>
                </a:solidFill>
                <a:latin typeface="Noto Sans KR" pitchFamily="34" charset="0"/>
                <a:ea typeface="Noto Sans KR" pitchFamily="34" charset="-122"/>
                <a:cs typeface="Noto Sans KR" pitchFamily="34" charset="-120"/>
              </a:rPr>
              <a:t>→ 정보보다 매달의 판단을 함께 해주는 도구가 필요</a:t>
            </a:r>
            <a:endParaRPr lang="en-US" sz="1400" dirty="0"/>
          </a:p>
        </p:txBody>
      </p:sp>
      <p:sp>
        <p:nvSpPr>
          <p:cNvPr id="21" name="Text 1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출처: 한국은행 · 금융감독원 「2024 전국민 금융이해력 조사」 20대 점수</a:t>
            </a:r>
            <a:endParaRPr lang="en-US" sz="1200" dirty="0"/>
          </a:p>
        </p:txBody>
      </p:sp>
      <p:sp>
        <p:nvSpPr>
          <p:cNvPr id="22" name="Text 2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01 · 문제 정의</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사회초년생의 문제 → 머니쿠션의 해결</a:t>
            </a:r>
            <a:endParaRPr lang="en-US" sz="2800" dirty="0"/>
          </a:p>
        </p:txBody>
      </p:sp>
      <p:sp>
        <p:nvSpPr>
          <p:cNvPr id="4" name="Text 2"/>
          <p:cNvSpPr/>
          <p:nvPr/>
        </p:nvSpPr>
        <p:spPr>
          <a:xfrm>
            <a:off x="819150" y="2241500"/>
            <a:ext cx="4305300" cy="533400"/>
          </a:xfrm>
          <a:prstGeom prst="roundRect">
            <a:avLst>
              <a:gd name="adj" fmla="val 13095"/>
            </a:avLst>
          </a:prstGeom>
          <a:solidFill>
            <a:srgbClr val="FDFDFB"/>
          </a:solidFill>
          <a:ln w="12700">
            <a:solidFill>
              <a:srgbClr val="DDE3E0"/>
            </a:solidFill>
            <a:prstDash val="solid"/>
          </a:ln>
        </p:spPr>
        <p:txBody>
          <a:bodyPr wrap="square" lIns="163692" tIns="112892" rIns="45582" bIns="87492" rtlCol="0" anchor="t">
            <a:normAutofit/>
          </a:bodyPr>
          <a:lstStyle/>
          <a:p>
            <a:pPr algn="l" indent="0" marL="0">
              <a:lnSpc>
                <a:spcPts val="2100"/>
              </a:lnSpc>
              <a:buNone/>
            </a:pPr>
            <a:r>
              <a:rPr lang="en-US" sz="1500" dirty="0">
                <a:solidFill>
                  <a:srgbClr val="12202F"/>
                </a:solidFill>
                <a:latin typeface="Noto Sans KR" pitchFamily="34" charset="0"/>
                <a:ea typeface="Noto Sans KR" pitchFamily="34" charset="-122"/>
                <a:cs typeface="Noto Sans KR" pitchFamily="34" charset="-120"/>
              </a:rPr>
              <a:t>첫 월급을 어떻게 나눌지 모른다</a:t>
            </a:r>
            <a:endParaRPr lang="en-US" sz="1500" dirty="0"/>
          </a:p>
        </p:txBody>
      </p:sp>
      <p:pic>
        <p:nvPicPr>
          <p:cNvPr id="5" name="Image 0" descr="arrow-right">    </p:cNvPr>
          <p:cNvPicPr>
            <a:picLocks noChangeAspect="1"/>
          </p:cNvPicPr>
          <p:nvPr/>
        </p:nvPicPr>
        <p:blipFill>
          <a:blip r:embed="rId1"/>
          <a:srcRect l="0" r="0" t="0" b="0"/>
          <a:stretch/>
        </p:blipFill>
        <p:spPr>
          <a:xfrm>
            <a:off x="5283200" y="2419300"/>
            <a:ext cx="355600" cy="177800"/>
          </a:xfrm>
          <a:prstGeom prst="rect">
            <a:avLst/>
          </a:prstGeom>
        </p:spPr>
      </p:pic>
      <p:sp>
        <p:nvSpPr>
          <p:cNvPr id="6" name="Text 3"/>
          <p:cNvSpPr/>
          <p:nvPr/>
        </p:nvSpPr>
        <p:spPr>
          <a:xfrm>
            <a:off x="5791200" y="2247850"/>
            <a:ext cx="5588000" cy="520700"/>
          </a:xfrm>
          <a:prstGeom prst="roundRect">
            <a:avLst>
              <a:gd name="adj" fmla="val 14634"/>
            </a:avLst>
          </a:prstGeom>
          <a:solidFill>
            <a:srgbClr val="12202F"/>
          </a:solidFill>
          <a:ln/>
        </p:spPr>
        <p:txBody>
          <a:bodyPr wrap="square" lIns="155482" tIns="104682" rIns="0" bIns="79282" rtlCol="0" anchor="t">
            <a:normAutofit/>
          </a:bodyPr>
          <a:lstStyle/>
          <a:p>
            <a:pPr algn="l" indent="0" marL="0">
              <a:lnSpc>
                <a:spcPts val="2100"/>
              </a:lnSpc>
              <a:buNone/>
            </a:pPr>
            <a:r>
              <a:rPr lang="en-US" sz="1500" b="1" dirty="0">
                <a:solidFill>
                  <a:srgbClr val="F6F7F3"/>
                </a:solidFill>
                <a:latin typeface="Noto Sans KR" pitchFamily="34" charset="0"/>
                <a:ea typeface="Noto Sans KR" pitchFamily="34" charset="-122"/>
                <a:cs typeface="Noto Sans KR" pitchFamily="34" charset="-120"/>
              </a:rPr>
              <a:t>추천 예산 1개를 먼저 제시</a:t>
            </a:r>
            <a:endParaRPr lang="en-US" sz="1500" dirty="0"/>
          </a:p>
        </p:txBody>
      </p:sp>
      <p:sp>
        <p:nvSpPr>
          <p:cNvPr id="7" name="Text 4"/>
          <p:cNvSpPr/>
          <p:nvPr/>
        </p:nvSpPr>
        <p:spPr>
          <a:xfrm>
            <a:off x="819150" y="2889200"/>
            <a:ext cx="4305300" cy="533400"/>
          </a:xfrm>
          <a:prstGeom prst="roundRect">
            <a:avLst>
              <a:gd name="adj" fmla="val 13095"/>
            </a:avLst>
          </a:prstGeom>
          <a:solidFill>
            <a:srgbClr val="FDFDFB"/>
          </a:solidFill>
          <a:ln w="12700">
            <a:solidFill>
              <a:srgbClr val="DDE3E0"/>
            </a:solidFill>
            <a:prstDash val="solid"/>
          </a:ln>
        </p:spPr>
        <p:txBody>
          <a:bodyPr wrap="square" lIns="163692" tIns="112892" rIns="45582" bIns="87492" rtlCol="0" anchor="t">
            <a:normAutofit/>
          </a:bodyPr>
          <a:lstStyle/>
          <a:p>
            <a:pPr algn="l" indent="0" marL="0">
              <a:lnSpc>
                <a:spcPts val="2100"/>
              </a:lnSpc>
              <a:buNone/>
            </a:pPr>
            <a:r>
              <a:rPr lang="en-US" sz="1500" dirty="0">
                <a:solidFill>
                  <a:srgbClr val="12202F"/>
                </a:solidFill>
                <a:latin typeface="Noto Sans KR" pitchFamily="34" charset="0"/>
                <a:ea typeface="Noto Sans KR" pitchFamily="34" charset="-122"/>
                <a:cs typeface="Noto Sans KR" pitchFamily="34" charset="-120"/>
              </a:rPr>
              <a:t>통장 잔액을 쓸 수 있는 돈으로 착각한다</a:t>
            </a:r>
            <a:endParaRPr lang="en-US" sz="1500" dirty="0"/>
          </a:p>
        </p:txBody>
      </p:sp>
      <p:pic>
        <p:nvPicPr>
          <p:cNvPr id="8" name="Image 1" descr="arrow-right">    </p:cNvPr>
          <p:cNvPicPr>
            <a:picLocks noChangeAspect="1"/>
          </p:cNvPicPr>
          <p:nvPr/>
        </p:nvPicPr>
        <p:blipFill>
          <a:blip r:embed="rId2"/>
          <a:srcRect l="0" r="0" t="0" b="0"/>
          <a:stretch/>
        </p:blipFill>
        <p:spPr>
          <a:xfrm>
            <a:off x="5283200" y="3067000"/>
            <a:ext cx="355600" cy="177800"/>
          </a:xfrm>
          <a:prstGeom prst="rect">
            <a:avLst/>
          </a:prstGeom>
        </p:spPr>
      </p:pic>
      <p:sp>
        <p:nvSpPr>
          <p:cNvPr id="9" name="Text 5"/>
          <p:cNvSpPr/>
          <p:nvPr/>
        </p:nvSpPr>
        <p:spPr>
          <a:xfrm>
            <a:off x="5791200" y="2895550"/>
            <a:ext cx="5588000" cy="520700"/>
          </a:xfrm>
          <a:prstGeom prst="roundRect">
            <a:avLst>
              <a:gd name="adj" fmla="val 14634"/>
            </a:avLst>
          </a:prstGeom>
          <a:solidFill>
            <a:srgbClr val="12202F"/>
          </a:solidFill>
          <a:ln/>
        </p:spPr>
        <p:txBody>
          <a:bodyPr wrap="square" lIns="155482" tIns="104682" rIns="0" bIns="79282" rtlCol="0" anchor="t">
            <a:normAutofit/>
          </a:bodyPr>
          <a:lstStyle/>
          <a:p>
            <a:pPr algn="l" indent="0" marL="0">
              <a:lnSpc>
                <a:spcPts val="2100"/>
              </a:lnSpc>
              <a:buNone/>
            </a:pPr>
            <a:r>
              <a:rPr lang="en-US" sz="1500" b="1" dirty="0">
                <a:solidFill>
                  <a:srgbClr val="F6F7F3"/>
                </a:solidFill>
                <a:latin typeface="Noto Sans KR" pitchFamily="34" charset="0"/>
                <a:ea typeface="Noto Sans KR" pitchFamily="34" charset="-122"/>
                <a:cs typeface="Noto Sans KR" pitchFamily="34" charset="-120"/>
              </a:rPr>
              <a:t>‘더 써도 되는 돈’ · 하루 생활비 표시</a:t>
            </a:r>
            <a:endParaRPr lang="en-US" sz="1500" dirty="0"/>
          </a:p>
        </p:txBody>
      </p:sp>
      <p:sp>
        <p:nvSpPr>
          <p:cNvPr id="10" name="Text 6"/>
          <p:cNvSpPr/>
          <p:nvPr/>
        </p:nvSpPr>
        <p:spPr>
          <a:xfrm>
            <a:off x="819150" y="3536900"/>
            <a:ext cx="4305300" cy="533400"/>
          </a:xfrm>
          <a:prstGeom prst="roundRect">
            <a:avLst>
              <a:gd name="adj" fmla="val 13095"/>
            </a:avLst>
          </a:prstGeom>
          <a:solidFill>
            <a:srgbClr val="FDFDFB"/>
          </a:solidFill>
          <a:ln w="12700">
            <a:solidFill>
              <a:srgbClr val="DDE3E0"/>
            </a:solidFill>
            <a:prstDash val="solid"/>
          </a:ln>
        </p:spPr>
        <p:txBody>
          <a:bodyPr wrap="square" lIns="163692" tIns="112892" rIns="45582" bIns="87492" rtlCol="0" anchor="t">
            <a:normAutofit/>
          </a:bodyPr>
          <a:lstStyle/>
          <a:p>
            <a:pPr algn="l" indent="0" marL="0">
              <a:lnSpc>
                <a:spcPts val="2100"/>
              </a:lnSpc>
              <a:buNone/>
            </a:pPr>
            <a:r>
              <a:rPr lang="en-US" sz="1500" dirty="0">
                <a:solidFill>
                  <a:srgbClr val="12202F"/>
                </a:solidFill>
                <a:latin typeface="Noto Sans KR" pitchFamily="34" charset="0"/>
                <a:ea typeface="Noto Sans KR" pitchFamily="34" charset="-122"/>
                <a:cs typeface="Noto Sans KR" pitchFamily="34" charset="-120"/>
              </a:rPr>
              <a:t>돌발 지출 한 번에 계획을 포기한다</a:t>
            </a:r>
            <a:endParaRPr lang="en-US" sz="1500" dirty="0"/>
          </a:p>
        </p:txBody>
      </p:sp>
      <p:pic>
        <p:nvPicPr>
          <p:cNvPr id="11" name="Image 2" descr="arrow-right">    </p:cNvPr>
          <p:cNvPicPr>
            <a:picLocks noChangeAspect="1"/>
          </p:cNvPicPr>
          <p:nvPr/>
        </p:nvPicPr>
        <p:blipFill>
          <a:blip r:embed="rId3"/>
          <a:srcRect l="0" r="0" t="0" b="0"/>
          <a:stretch/>
        </p:blipFill>
        <p:spPr>
          <a:xfrm>
            <a:off x="5283200" y="3714700"/>
            <a:ext cx="355600" cy="177800"/>
          </a:xfrm>
          <a:prstGeom prst="rect">
            <a:avLst/>
          </a:prstGeom>
        </p:spPr>
      </p:pic>
      <p:sp>
        <p:nvSpPr>
          <p:cNvPr id="12" name="Text 7"/>
          <p:cNvSpPr/>
          <p:nvPr/>
        </p:nvSpPr>
        <p:spPr>
          <a:xfrm>
            <a:off x="5791200" y="3543250"/>
            <a:ext cx="5588000" cy="520700"/>
          </a:xfrm>
          <a:prstGeom prst="roundRect">
            <a:avLst>
              <a:gd name="adj" fmla="val 14634"/>
            </a:avLst>
          </a:prstGeom>
          <a:solidFill>
            <a:srgbClr val="12202F"/>
          </a:solidFill>
          <a:ln/>
        </p:spPr>
        <p:txBody>
          <a:bodyPr wrap="square" lIns="155482" tIns="104682" rIns="0" bIns="79282" rtlCol="0" anchor="t">
            <a:normAutofit/>
          </a:bodyPr>
          <a:lstStyle/>
          <a:p>
            <a:pPr algn="l" indent="0" marL="0">
              <a:lnSpc>
                <a:spcPts val="2100"/>
              </a:lnSpc>
              <a:buNone/>
            </a:pPr>
            <a:r>
              <a:rPr lang="en-US" sz="1500" b="1" dirty="0">
                <a:solidFill>
                  <a:srgbClr val="F6F7F3"/>
                </a:solidFill>
                <a:latin typeface="Noto Sans KR" pitchFamily="34" charset="0"/>
                <a:ea typeface="Noto Sans KR" pitchFamily="34" charset="-122"/>
                <a:cs typeface="Noto Sans KR" pitchFamily="34" charset="-120"/>
              </a:rPr>
              <a:t>여유 · 다시 짜기 · 머니 쿠션 중 선택</a:t>
            </a:r>
            <a:endParaRPr lang="en-US" sz="1500" dirty="0"/>
          </a:p>
        </p:txBody>
      </p:sp>
      <p:sp>
        <p:nvSpPr>
          <p:cNvPr id="13" name="Text 8"/>
          <p:cNvSpPr/>
          <p:nvPr/>
        </p:nvSpPr>
        <p:spPr>
          <a:xfrm>
            <a:off x="819150" y="4184600"/>
            <a:ext cx="4305300" cy="533400"/>
          </a:xfrm>
          <a:prstGeom prst="roundRect">
            <a:avLst>
              <a:gd name="adj" fmla="val 13095"/>
            </a:avLst>
          </a:prstGeom>
          <a:solidFill>
            <a:srgbClr val="FDFDFB"/>
          </a:solidFill>
          <a:ln w="12700">
            <a:solidFill>
              <a:srgbClr val="DDE3E0"/>
            </a:solidFill>
            <a:prstDash val="solid"/>
          </a:ln>
        </p:spPr>
        <p:txBody>
          <a:bodyPr wrap="square" lIns="163692" tIns="112892" rIns="45582" bIns="87492" rtlCol="0" anchor="t">
            <a:normAutofit/>
          </a:bodyPr>
          <a:lstStyle/>
          <a:p>
            <a:pPr algn="l" indent="0" marL="0">
              <a:lnSpc>
                <a:spcPts val="2100"/>
              </a:lnSpc>
              <a:buNone/>
            </a:pPr>
            <a:r>
              <a:rPr lang="en-US" sz="1500" dirty="0">
                <a:solidFill>
                  <a:srgbClr val="12202F"/>
                </a:solidFill>
                <a:latin typeface="Noto Sans KR" pitchFamily="34" charset="0"/>
                <a:ea typeface="Noto Sans KR" pitchFamily="34" charset="-122"/>
                <a:cs typeface="Noto Sans KR" pitchFamily="34" charset="-120"/>
              </a:rPr>
              <a:t>같은 항목에서 예산이 반복 초과된다</a:t>
            </a:r>
            <a:endParaRPr lang="en-US" sz="1500" dirty="0"/>
          </a:p>
        </p:txBody>
      </p:sp>
      <p:pic>
        <p:nvPicPr>
          <p:cNvPr id="14" name="Image 3" descr="arrow-right">    </p:cNvPr>
          <p:cNvPicPr>
            <a:picLocks noChangeAspect="1"/>
          </p:cNvPicPr>
          <p:nvPr/>
        </p:nvPicPr>
        <p:blipFill>
          <a:blip r:embed="rId4"/>
          <a:srcRect l="0" r="0" t="0" b="0"/>
          <a:stretch/>
        </p:blipFill>
        <p:spPr>
          <a:xfrm>
            <a:off x="5283200" y="4362400"/>
            <a:ext cx="355600" cy="177800"/>
          </a:xfrm>
          <a:prstGeom prst="rect">
            <a:avLst/>
          </a:prstGeom>
        </p:spPr>
      </p:pic>
      <p:sp>
        <p:nvSpPr>
          <p:cNvPr id="15" name="Text 9"/>
          <p:cNvSpPr/>
          <p:nvPr/>
        </p:nvSpPr>
        <p:spPr>
          <a:xfrm>
            <a:off x="5791200" y="4190950"/>
            <a:ext cx="5588000" cy="520700"/>
          </a:xfrm>
          <a:prstGeom prst="roundRect">
            <a:avLst>
              <a:gd name="adj" fmla="val 14634"/>
            </a:avLst>
          </a:prstGeom>
          <a:solidFill>
            <a:srgbClr val="12202F"/>
          </a:solidFill>
          <a:ln/>
        </p:spPr>
        <p:txBody>
          <a:bodyPr wrap="square" lIns="155482" tIns="104682" rIns="0" bIns="79282" rtlCol="0" anchor="t">
            <a:normAutofit/>
          </a:bodyPr>
          <a:lstStyle/>
          <a:p>
            <a:pPr algn="l" indent="0" marL="0">
              <a:lnSpc>
                <a:spcPts val="2100"/>
              </a:lnSpc>
              <a:buNone/>
            </a:pPr>
            <a:r>
              <a:rPr lang="en-US" sz="1500" b="1" dirty="0">
                <a:solidFill>
                  <a:srgbClr val="F6F7F3"/>
                </a:solidFill>
                <a:latin typeface="Noto Sans KR" pitchFamily="34" charset="0"/>
                <a:ea typeface="Noto Sans KR" pitchFamily="34" charset="-122"/>
                <a:cs typeface="Noto Sans KR" pitchFamily="34" charset="-120"/>
              </a:rPr>
              <a:t>초과 감지 → 조정안 제안 → 승인</a:t>
            </a:r>
            <a:endParaRPr lang="en-US" sz="1500" dirty="0"/>
          </a:p>
        </p:txBody>
      </p:sp>
      <p:sp>
        <p:nvSpPr>
          <p:cNvPr id="16" name="Text 10"/>
          <p:cNvSpPr/>
          <p:nvPr/>
        </p:nvSpPr>
        <p:spPr>
          <a:xfrm>
            <a:off x="819150" y="4832300"/>
            <a:ext cx="4305300" cy="533400"/>
          </a:xfrm>
          <a:prstGeom prst="roundRect">
            <a:avLst>
              <a:gd name="adj" fmla="val 13095"/>
            </a:avLst>
          </a:prstGeom>
          <a:solidFill>
            <a:srgbClr val="FDFDFB"/>
          </a:solidFill>
          <a:ln w="12700">
            <a:solidFill>
              <a:srgbClr val="DDE3E0"/>
            </a:solidFill>
            <a:prstDash val="solid"/>
          </a:ln>
        </p:spPr>
        <p:txBody>
          <a:bodyPr wrap="square" lIns="163692" tIns="112892" rIns="45582" bIns="87492" rtlCol="0" anchor="t">
            <a:normAutofit/>
          </a:bodyPr>
          <a:lstStyle/>
          <a:p>
            <a:pPr algn="l" indent="0" marL="0">
              <a:lnSpc>
                <a:spcPts val="2100"/>
              </a:lnSpc>
              <a:buNone/>
            </a:pPr>
            <a:r>
              <a:rPr lang="en-US" sz="1500" dirty="0">
                <a:solidFill>
                  <a:srgbClr val="12202F"/>
                </a:solidFill>
                <a:latin typeface="Noto Sans KR" pitchFamily="34" charset="0"/>
                <a:ea typeface="Noto Sans KR" pitchFamily="34" charset="-122"/>
                <a:cs typeface="Noto Sans KR" pitchFamily="34" charset="-120"/>
              </a:rPr>
              <a:t>금융 용어와 계산이 낯설다</a:t>
            </a:r>
            <a:endParaRPr lang="en-US" sz="1500" dirty="0"/>
          </a:p>
        </p:txBody>
      </p:sp>
      <p:pic>
        <p:nvPicPr>
          <p:cNvPr id="17" name="Image 4" descr="arrow-right">    </p:cNvPr>
          <p:cNvPicPr>
            <a:picLocks noChangeAspect="1"/>
          </p:cNvPicPr>
          <p:nvPr/>
        </p:nvPicPr>
        <p:blipFill>
          <a:blip r:embed="rId5"/>
          <a:srcRect l="0" r="0" t="0" b="0"/>
          <a:stretch/>
        </p:blipFill>
        <p:spPr>
          <a:xfrm>
            <a:off x="5283200" y="5010100"/>
            <a:ext cx="355600" cy="177800"/>
          </a:xfrm>
          <a:prstGeom prst="rect">
            <a:avLst/>
          </a:prstGeom>
        </p:spPr>
      </p:pic>
      <p:sp>
        <p:nvSpPr>
          <p:cNvPr id="18" name="Text 11"/>
          <p:cNvSpPr/>
          <p:nvPr/>
        </p:nvSpPr>
        <p:spPr>
          <a:xfrm>
            <a:off x="5791200" y="4838650"/>
            <a:ext cx="5588000" cy="520700"/>
          </a:xfrm>
          <a:prstGeom prst="roundRect">
            <a:avLst>
              <a:gd name="adj" fmla="val 14634"/>
            </a:avLst>
          </a:prstGeom>
          <a:solidFill>
            <a:srgbClr val="12202F"/>
          </a:solidFill>
          <a:ln/>
        </p:spPr>
        <p:txBody>
          <a:bodyPr wrap="square" lIns="155482" tIns="104682" rIns="0" bIns="79282" rtlCol="0" anchor="t">
            <a:normAutofit/>
          </a:bodyPr>
          <a:lstStyle/>
          <a:p>
            <a:pPr algn="l" indent="0" marL="0">
              <a:lnSpc>
                <a:spcPts val="2100"/>
              </a:lnSpc>
              <a:buNone/>
            </a:pPr>
            <a:r>
              <a:rPr lang="en-US" sz="1500" b="1" dirty="0">
                <a:solidFill>
                  <a:srgbClr val="F6F7F3"/>
                </a:solidFill>
                <a:latin typeface="Noto Sans KR" pitchFamily="34" charset="0"/>
                <a:ea typeface="Noto Sans KR" pitchFamily="34" charset="-122"/>
                <a:cs typeface="Noto Sans KR" pitchFamily="34" charset="-120"/>
              </a:rPr>
              <a:t>용어 설명 · 금액별 계산 근거 표시</a:t>
            </a:r>
            <a:endParaRPr lang="en-US" sz="1500" dirty="0"/>
          </a:p>
        </p:txBody>
      </p:sp>
      <p:sp>
        <p:nvSpPr>
          <p:cNvPr id="19" name="Text 1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01 · 핵심 흐름</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배분 → 판단 → 회복을 한 흐름으로</a:t>
            </a:r>
            <a:endParaRPr lang="en-US" sz="2800" dirty="0"/>
          </a:p>
        </p:txBody>
      </p:sp>
      <p:sp>
        <p:nvSpPr>
          <p:cNvPr id="4" name="Shape 2"/>
          <p:cNvSpPr/>
          <p:nvPr/>
        </p:nvSpPr>
        <p:spPr>
          <a:xfrm>
            <a:off x="812800" y="1765250"/>
            <a:ext cx="1676400" cy="817811"/>
          </a:xfrm>
          <a:prstGeom prst="roundRect">
            <a:avLst>
              <a:gd name="adj" fmla="val 10870"/>
            </a:avLst>
          </a:prstGeom>
          <a:solidFill>
            <a:srgbClr val="12202F"/>
          </a:solidFill>
          <a:ln/>
        </p:spPr>
      </p:sp>
      <p:sp>
        <p:nvSpPr>
          <p:cNvPr id="5" name="Text 3"/>
          <p:cNvSpPr/>
          <p:nvPr/>
        </p:nvSpPr>
        <p:spPr>
          <a:xfrm>
            <a:off x="965200" y="1917650"/>
            <a:ext cx="1422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BFA5"/>
                </a:solidFill>
                <a:latin typeface="Noto Sans KR" pitchFamily="34" charset="0"/>
                <a:ea typeface="Noto Sans KR" pitchFamily="34" charset="-122"/>
                <a:cs typeface="Noto Sans KR" pitchFamily="34" charset="-120"/>
              </a:rPr>
              <a:t>01 배분</a:t>
            </a:r>
            <a:endParaRPr lang="en-US" sz="1200" dirty="0"/>
          </a:p>
        </p:txBody>
      </p:sp>
      <p:sp>
        <p:nvSpPr>
          <p:cNvPr id="6" name="Text 4"/>
          <p:cNvSpPr/>
          <p:nvPr/>
        </p:nvSpPr>
        <p:spPr>
          <a:xfrm>
            <a:off x="965200" y="2181771"/>
            <a:ext cx="142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7F3"/>
                </a:solidFill>
                <a:latin typeface="Noto Sans KR" pitchFamily="34" charset="0"/>
                <a:ea typeface="Noto Sans KR" pitchFamily="34" charset="-122"/>
                <a:cs typeface="Noto Sans KR" pitchFamily="34" charset="-120"/>
              </a:rPr>
              <a:t>추천 예산</a:t>
            </a:r>
            <a:endParaRPr lang="en-US" sz="1400" dirty="0"/>
          </a:p>
        </p:txBody>
      </p:sp>
      <p:sp>
        <p:nvSpPr>
          <p:cNvPr id="7" name="Shape 5"/>
          <p:cNvSpPr/>
          <p:nvPr/>
        </p:nvSpPr>
        <p:spPr>
          <a:xfrm>
            <a:off x="2590800" y="1765250"/>
            <a:ext cx="1676400" cy="817811"/>
          </a:xfrm>
          <a:prstGeom prst="roundRect">
            <a:avLst>
              <a:gd name="adj" fmla="val 10870"/>
            </a:avLst>
          </a:prstGeom>
          <a:solidFill>
            <a:srgbClr val="12202F"/>
          </a:solidFill>
          <a:ln/>
        </p:spPr>
      </p:sp>
      <p:sp>
        <p:nvSpPr>
          <p:cNvPr id="8" name="Text 6"/>
          <p:cNvSpPr/>
          <p:nvPr/>
        </p:nvSpPr>
        <p:spPr>
          <a:xfrm>
            <a:off x="2743200" y="1917650"/>
            <a:ext cx="1422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BFA5"/>
                </a:solidFill>
                <a:latin typeface="Noto Sans KR" pitchFamily="34" charset="0"/>
                <a:ea typeface="Noto Sans KR" pitchFamily="34" charset="-122"/>
                <a:cs typeface="Noto Sans KR" pitchFamily="34" charset="-120"/>
              </a:rPr>
              <a:t>02 판단</a:t>
            </a:r>
            <a:endParaRPr lang="en-US" sz="1200" dirty="0"/>
          </a:p>
        </p:txBody>
      </p:sp>
      <p:sp>
        <p:nvSpPr>
          <p:cNvPr id="9" name="Text 7"/>
          <p:cNvSpPr/>
          <p:nvPr/>
        </p:nvSpPr>
        <p:spPr>
          <a:xfrm>
            <a:off x="2743200" y="2181771"/>
            <a:ext cx="142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7F3"/>
                </a:solidFill>
                <a:latin typeface="Noto Sans KR" pitchFamily="34" charset="0"/>
                <a:ea typeface="Noto Sans KR" pitchFamily="34" charset="-122"/>
                <a:cs typeface="Noto Sans KR" pitchFamily="34" charset="-120"/>
              </a:rPr>
              <a:t>더 써도 되는 돈</a:t>
            </a:r>
            <a:endParaRPr lang="en-US" sz="1400" dirty="0"/>
          </a:p>
        </p:txBody>
      </p:sp>
      <p:sp>
        <p:nvSpPr>
          <p:cNvPr id="10" name="Shape 8"/>
          <p:cNvSpPr/>
          <p:nvPr/>
        </p:nvSpPr>
        <p:spPr>
          <a:xfrm>
            <a:off x="4368800" y="1765250"/>
            <a:ext cx="1676400" cy="817811"/>
          </a:xfrm>
          <a:prstGeom prst="roundRect">
            <a:avLst>
              <a:gd name="adj" fmla="val 10870"/>
            </a:avLst>
          </a:prstGeom>
          <a:solidFill>
            <a:srgbClr val="12202F"/>
          </a:solidFill>
          <a:ln/>
        </p:spPr>
      </p:sp>
      <p:sp>
        <p:nvSpPr>
          <p:cNvPr id="11" name="Text 9"/>
          <p:cNvSpPr/>
          <p:nvPr/>
        </p:nvSpPr>
        <p:spPr>
          <a:xfrm>
            <a:off x="4521200" y="1917650"/>
            <a:ext cx="1422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D700"/>
                </a:solidFill>
                <a:latin typeface="Noto Sans KR" pitchFamily="34" charset="0"/>
                <a:ea typeface="Noto Sans KR" pitchFamily="34" charset="-122"/>
                <a:cs typeface="Noto Sans KR" pitchFamily="34" charset="-120"/>
              </a:rPr>
              <a:t>03 회복</a:t>
            </a:r>
            <a:endParaRPr lang="en-US" sz="1200" dirty="0"/>
          </a:p>
        </p:txBody>
      </p:sp>
      <p:sp>
        <p:nvSpPr>
          <p:cNvPr id="12" name="Text 10"/>
          <p:cNvSpPr/>
          <p:nvPr/>
        </p:nvSpPr>
        <p:spPr>
          <a:xfrm>
            <a:off x="4521200" y="2181771"/>
            <a:ext cx="142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7F3"/>
                </a:solidFill>
                <a:latin typeface="Noto Sans KR" pitchFamily="34" charset="0"/>
                <a:ea typeface="Noto Sans KR" pitchFamily="34" charset="-122"/>
                <a:cs typeface="Noto Sans KR" pitchFamily="34" charset="-120"/>
              </a:rPr>
              <a:t>머니 쿠션</a:t>
            </a:r>
            <a:endParaRPr lang="en-US" sz="1400" dirty="0"/>
          </a:p>
        </p:txBody>
      </p:sp>
      <p:sp>
        <p:nvSpPr>
          <p:cNvPr id="13" name="Shape 11"/>
          <p:cNvSpPr/>
          <p:nvPr/>
        </p:nvSpPr>
        <p:spPr>
          <a:xfrm>
            <a:off x="6146800" y="1765250"/>
            <a:ext cx="1676400" cy="817811"/>
          </a:xfrm>
          <a:prstGeom prst="roundRect">
            <a:avLst>
              <a:gd name="adj" fmla="val 10870"/>
            </a:avLst>
          </a:prstGeom>
          <a:solidFill>
            <a:srgbClr val="12202F"/>
          </a:solidFill>
          <a:ln/>
        </p:spPr>
      </p:sp>
      <p:sp>
        <p:nvSpPr>
          <p:cNvPr id="14" name="Text 12"/>
          <p:cNvSpPr/>
          <p:nvPr/>
        </p:nvSpPr>
        <p:spPr>
          <a:xfrm>
            <a:off x="6299200" y="1917650"/>
            <a:ext cx="1422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D700"/>
                </a:solidFill>
                <a:latin typeface="Noto Sans KR" pitchFamily="34" charset="0"/>
                <a:ea typeface="Noto Sans KR" pitchFamily="34" charset="-122"/>
                <a:cs typeface="Noto Sans KR" pitchFamily="34" charset="-120"/>
              </a:rPr>
              <a:t>04 회복</a:t>
            </a:r>
            <a:endParaRPr lang="en-US" sz="1200" dirty="0"/>
          </a:p>
        </p:txBody>
      </p:sp>
      <p:sp>
        <p:nvSpPr>
          <p:cNvPr id="15" name="Text 13"/>
          <p:cNvSpPr/>
          <p:nvPr/>
        </p:nvSpPr>
        <p:spPr>
          <a:xfrm>
            <a:off x="6299200" y="2181771"/>
            <a:ext cx="142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7F3"/>
                </a:solidFill>
                <a:latin typeface="Noto Sans KR" pitchFamily="34" charset="0"/>
                <a:ea typeface="Noto Sans KR" pitchFamily="34" charset="-122"/>
                <a:cs typeface="Noto Sans KR" pitchFamily="34" charset="-120"/>
              </a:rPr>
              <a:t>예산 조정</a:t>
            </a:r>
            <a:endParaRPr lang="en-US" sz="1400" dirty="0"/>
          </a:p>
        </p:txBody>
      </p:sp>
      <p:sp>
        <p:nvSpPr>
          <p:cNvPr id="16" name="Shape 14"/>
          <p:cNvSpPr/>
          <p:nvPr/>
        </p:nvSpPr>
        <p:spPr>
          <a:xfrm>
            <a:off x="7924800" y="1765250"/>
            <a:ext cx="1676400" cy="817811"/>
          </a:xfrm>
          <a:prstGeom prst="roundRect">
            <a:avLst>
              <a:gd name="adj" fmla="val 10870"/>
            </a:avLst>
          </a:prstGeom>
          <a:solidFill>
            <a:srgbClr val="12202F"/>
          </a:solidFill>
          <a:ln/>
        </p:spPr>
      </p:sp>
      <p:sp>
        <p:nvSpPr>
          <p:cNvPr id="17" name="Text 15"/>
          <p:cNvSpPr/>
          <p:nvPr/>
        </p:nvSpPr>
        <p:spPr>
          <a:xfrm>
            <a:off x="8077200" y="1917650"/>
            <a:ext cx="1422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5D3DA"/>
                </a:solidFill>
                <a:latin typeface="Noto Sans KR" pitchFamily="34" charset="0"/>
                <a:ea typeface="Noto Sans KR" pitchFamily="34" charset="-122"/>
                <a:cs typeface="Noto Sans KR" pitchFamily="34" charset="-120"/>
              </a:rPr>
              <a:t>05 · 2차</a:t>
            </a:r>
            <a:endParaRPr lang="en-US" sz="1200" dirty="0"/>
          </a:p>
        </p:txBody>
      </p:sp>
      <p:sp>
        <p:nvSpPr>
          <p:cNvPr id="18" name="Text 16"/>
          <p:cNvSpPr/>
          <p:nvPr/>
        </p:nvSpPr>
        <p:spPr>
          <a:xfrm>
            <a:off x="8077200" y="2181771"/>
            <a:ext cx="142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7F3"/>
                </a:solidFill>
                <a:latin typeface="Noto Sans KR" pitchFamily="34" charset="0"/>
                <a:ea typeface="Noto Sans KR" pitchFamily="34" charset="-122"/>
                <a:cs typeface="Noto Sans KR" pitchFamily="34" charset="-120"/>
              </a:rPr>
              <a:t>소비 리포트</a:t>
            </a:r>
            <a:endParaRPr lang="en-US" sz="1400" dirty="0"/>
          </a:p>
        </p:txBody>
      </p:sp>
      <p:sp>
        <p:nvSpPr>
          <p:cNvPr id="19" name="Shape 17"/>
          <p:cNvSpPr/>
          <p:nvPr/>
        </p:nvSpPr>
        <p:spPr>
          <a:xfrm>
            <a:off x="9702800" y="1765250"/>
            <a:ext cx="1676400" cy="817811"/>
          </a:xfrm>
          <a:prstGeom prst="roundRect">
            <a:avLst>
              <a:gd name="adj" fmla="val 10870"/>
            </a:avLst>
          </a:prstGeom>
          <a:solidFill>
            <a:srgbClr val="12202F"/>
          </a:solidFill>
          <a:ln/>
        </p:spPr>
      </p:sp>
      <p:sp>
        <p:nvSpPr>
          <p:cNvPr id="20" name="Text 18"/>
          <p:cNvSpPr/>
          <p:nvPr/>
        </p:nvSpPr>
        <p:spPr>
          <a:xfrm>
            <a:off x="9855200" y="1917650"/>
            <a:ext cx="14224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5D3DA"/>
                </a:solidFill>
                <a:latin typeface="Noto Sans KR" pitchFamily="34" charset="0"/>
                <a:ea typeface="Noto Sans KR" pitchFamily="34" charset="-122"/>
                <a:cs typeface="Noto Sans KR" pitchFamily="34" charset="-120"/>
              </a:rPr>
              <a:t>06 · 3차</a:t>
            </a:r>
            <a:endParaRPr lang="en-US" sz="1200" dirty="0"/>
          </a:p>
        </p:txBody>
      </p:sp>
      <p:sp>
        <p:nvSpPr>
          <p:cNvPr id="21" name="Text 19"/>
          <p:cNvSpPr/>
          <p:nvPr/>
        </p:nvSpPr>
        <p:spPr>
          <a:xfrm>
            <a:off x="9855200" y="2181771"/>
            <a:ext cx="142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7F3"/>
                </a:solidFill>
                <a:latin typeface="Noto Sans KR" pitchFamily="34" charset="0"/>
                <a:ea typeface="Noto Sans KR" pitchFamily="34" charset="-122"/>
                <a:cs typeface="Noto Sans KR" pitchFamily="34" charset="-120"/>
              </a:rPr>
              <a:t>큰 지출 상담</a:t>
            </a:r>
            <a:endParaRPr lang="en-US" sz="1400" dirty="0"/>
          </a:p>
        </p:txBody>
      </p:sp>
      <p:sp>
        <p:nvSpPr>
          <p:cNvPr id="22" name="Text 20"/>
          <p:cNvSpPr/>
          <p:nvPr/>
        </p:nvSpPr>
        <p:spPr>
          <a:xfrm>
            <a:off x="812800" y="2837061"/>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2F"/>
                </a:solidFill>
                <a:latin typeface="Noto Sans KR" pitchFamily="34" charset="0"/>
                <a:ea typeface="Noto Sans KR" pitchFamily="34" charset="-122"/>
                <a:cs typeface="Noto Sans KR" pitchFamily="34" charset="-120"/>
              </a:rPr>
              <a:t>꼭 알아야 할 개념 4가지</a:t>
            </a:r>
            <a:endParaRPr lang="en-US" sz="1300" dirty="0"/>
          </a:p>
        </p:txBody>
      </p:sp>
      <p:sp>
        <p:nvSpPr>
          <p:cNvPr id="23" name="Shape 21"/>
          <p:cNvSpPr/>
          <p:nvPr/>
        </p:nvSpPr>
        <p:spPr>
          <a:xfrm>
            <a:off x="819150" y="3176141"/>
            <a:ext cx="2533650" cy="1130300"/>
          </a:xfrm>
          <a:prstGeom prst="roundRect">
            <a:avLst>
              <a:gd name="adj" fmla="val 8427"/>
            </a:avLst>
          </a:prstGeom>
          <a:solidFill>
            <a:srgbClr val="FDFDFB"/>
          </a:solidFill>
          <a:ln w="12700">
            <a:solidFill>
              <a:srgbClr val="DDE3E0"/>
            </a:solidFill>
            <a:prstDash val="solid"/>
          </a:ln>
        </p:spPr>
      </p:sp>
      <p:sp>
        <p:nvSpPr>
          <p:cNvPr id="24" name="Text 22"/>
          <p:cNvSpPr/>
          <p:nvPr/>
        </p:nvSpPr>
        <p:spPr>
          <a:xfrm>
            <a:off x="1003300" y="336029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806E"/>
                </a:solidFill>
                <a:latin typeface="Noto Sans KR" pitchFamily="34" charset="0"/>
                <a:ea typeface="Noto Sans KR" pitchFamily="34" charset="-122"/>
                <a:cs typeface="Noto Sans KR" pitchFamily="34" charset="-120"/>
              </a:rPr>
              <a:t>안전 소비액</a:t>
            </a:r>
            <a:endParaRPr lang="en-US" sz="1500" dirty="0"/>
          </a:p>
        </p:txBody>
      </p:sp>
      <p:sp>
        <p:nvSpPr>
          <p:cNvPr id="25" name="Text 23"/>
          <p:cNvSpPr/>
          <p:nvPr/>
        </p:nvSpPr>
        <p:spPr>
          <a:xfrm>
            <a:off x="1003300" y="3665091"/>
            <a:ext cx="223031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지킬 돈을 빼고 다음 급여일까지 더 쓸 수 있는 금액</a:t>
            </a:r>
            <a:endParaRPr lang="en-US" sz="1200" dirty="0"/>
          </a:p>
        </p:txBody>
      </p:sp>
      <p:sp>
        <p:nvSpPr>
          <p:cNvPr id="26" name="Shape 24"/>
          <p:cNvSpPr/>
          <p:nvPr/>
        </p:nvSpPr>
        <p:spPr>
          <a:xfrm>
            <a:off x="3492500" y="3176141"/>
            <a:ext cx="2533650" cy="1130300"/>
          </a:xfrm>
          <a:prstGeom prst="roundRect">
            <a:avLst>
              <a:gd name="adj" fmla="val 8427"/>
            </a:avLst>
          </a:prstGeom>
          <a:solidFill>
            <a:srgbClr val="FDFDFB"/>
          </a:solidFill>
          <a:ln w="12700">
            <a:solidFill>
              <a:srgbClr val="DDE3E0"/>
            </a:solidFill>
            <a:prstDash val="solid"/>
          </a:ln>
        </p:spPr>
      </p:sp>
      <p:sp>
        <p:nvSpPr>
          <p:cNvPr id="27" name="Text 25"/>
          <p:cNvSpPr/>
          <p:nvPr/>
        </p:nvSpPr>
        <p:spPr>
          <a:xfrm>
            <a:off x="3676650" y="336029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806E"/>
                </a:solidFill>
                <a:latin typeface="Noto Sans KR" pitchFamily="34" charset="0"/>
                <a:ea typeface="Noto Sans KR" pitchFamily="34" charset="-122"/>
                <a:cs typeface="Noto Sans KR" pitchFamily="34" charset="-120"/>
              </a:rPr>
              <a:t>머니 쿠션</a:t>
            </a:r>
            <a:endParaRPr lang="en-US" sz="1500" dirty="0"/>
          </a:p>
        </p:txBody>
      </p:sp>
      <p:sp>
        <p:nvSpPr>
          <p:cNvPr id="28" name="Text 26"/>
          <p:cNvSpPr/>
          <p:nvPr/>
        </p:nvSpPr>
        <p:spPr>
          <a:xfrm>
            <a:off x="3676650" y="3665091"/>
            <a:ext cx="223031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생활비 · 저축과 분리한 돌발 지출 대비 예비비</a:t>
            </a:r>
            <a:endParaRPr lang="en-US" sz="1200" dirty="0"/>
          </a:p>
        </p:txBody>
      </p:sp>
      <p:sp>
        <p:nvSpPr>
          <p:cNvPr id="29" name="Shape 27"/>
          <p:cNvSpPr/>
          <p:nvPr/>
        </p:nvSpPr>
        <p:spPr>
          <a:xfrm>
            <a:off x="6165850" y="3176141"/>
            <a:ext cx="2533650" cy="1130300"/>
          </a:xfrm>
          <a:prstGeom prst="roundRect">
            <a:avLst>
              <a:gd name="adj" fmla="val 8427"/>
            </a:avLst>
          </a:prstGeom>
          <a:solidFill>
            <a:srgbClr val="FDFDFB"/>
          </a:solidFill>
          <a:ln w="12700">
            <a:solidFill>
              <a:srgbClr val="DDE3E0"/>
            </a:solidFill>
            <a:prstDash val="solid"/>
          </a:ln>
        </p:spPr>
      </p:sp>
      <p:sp>
        <p:nvSpPr>
          <p:cNvPr id="30" name="Text 28"/>
          <p:cNvSpPr/>
          <p:nvPr/>
        </p:nvSpPr>
        <p:spPr>
          <a:xfrm>
            <a:off x="6350000" y="336029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806E"/>
                </a:solidFill>
                <a:latin typeface="Noto Sans KR" pitchFamily="34" charset="0"/>
                <a:ea typeface="Noto Sans KR" pitchFamily="34" charset="-122"/>
                <a:cs typeface="Noto Sans KR" pitchFamily="34" charset="-120"/>
              </a:rPr>
              <a:t>자물쇠</a:t>
            </a:r>
            <a:endParaRPr lang="en-US" sz="1500" dirty="0"/>
          </a:p>
        </p:txBody>
      </p:sp>
      <p:sp>
        <p:nvSpPr>
          <p:cNvPr id="31" name="Text 29"/>
          <p:cNvSpPr/>
          <p:nvPr/>
        </p:nvSpPr>
        <p:spPr>
          <a:xfrm>
            <a:off x="6350000" y="3665091"/>
            <a:ext cx="223031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사용자가 고정한 카테고리 — AI가 바꾸지 않음</a:t>
            </a:r>
            <a:endParaRPr lang="en-US" sz="1200" dirty="0"/>
          </a:p>
        </p:txBody>
      </p:sp>
      <p:sp>
        <p:nvSpPr>
          <p:cNvPr id="32" name="Shape 30"/>
          <p:cNvSpPr/>
          <p:nvPr/>
        </p:nvSpPr>
        <p:spPr>
          <a:xfrm>
            <a:off x="8839200" y="3176141"/>
            <a:ext cx="2533650" cy="1130300"/>
          </a:xfrm>
          <a:prstGeom prst="roundRect">
            <a:avLst>
              <a:gd name="adj" fmla="val 8427"/>
            </a:avLst>
          </a:prstGeom>
          <a:solidFill>
            <a:srgbClr val="FDFDFB"/>
          </a:solidFill>
          <a:ln w="12700">
            <a:solidFill>
              <a:srgbClr val="DDE3E0"/>
            </a:solidFill>
            <a:prstDash val="solid"/>
          </a:ln>
        </p:spPr>
      </p:sp>
      <p:sp>
        <p:nvSpPr>
          <p:cNvPr id="33" name="Text 31"/>
          <p:cNvSpPr/>
          <p:nvPr/>
        </p:nvSpPr>
        <p:spPr>
          <a:xfrm>
            <a:off x="9023350" y="336029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0806E"/>
                </a:solidFill>
                <a:latin typeface="Noto Sans KR" pitchFamily="34" charset="0"/>
                <a:ea typeface="Noto Sans KR" pitchFamily="34" charset="-122"/>
                <a:cs typeface="Noto Sans KR" pitchFamily="34" charset="-120"/>
              </a:rPr>
              <a:t>사용자 승인</a:t>
            </a:r>
            <a:endParaRPr lang="en-US" sz="1500" dirty="0"/>
          </a:p>
        </p:txBody>
      </p:sp>
      <p:sp>
        <p:nvSpPr>
          <p:cNvPr id="34" name="Text 32"/>
          <p:cNvSpPr/>
          <p:nvPr/>
        </p:nvSpPr>
        <p:spPr>
          <a:xfrm>
            <a:off x="9023350" y="3665091"/>
            <a:ext cx="234315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AI는 제안만, 승인해야 예산에 반영</a:t>
            </a:r>
            <a:endParaRPr lang="en-US" sz="1200" dirty="0"/>
          </a:p>
        </p:txBody>
      </p:sp>
      <p:sp>
        <p:nvSpPr>
          <p:cNvPr id="35" name="Text 3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01 · 시장조사</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지난 소비보다 ‘앞으로의 판단’</a:t>
            </a:r>
            <a:endParaRPr lang="en-US" sz="2800" dirty="0"/>
          </a:p>
        </p:txBody>
      </p:sp>
      <p:sp>
        <p:nvSpPr>
          <p:cNvPr id="4" name="Shape 2"/>
          <p:cNvSpPr/>
          <p:nvPr/>
        </p:nvSpPr>
        <p:spPr>
          <a:xfrm>
            <a:off x="819150" y="1771600"/>
            <a:ext cx="3407817" cy="4064050"/>
          </a:xfrm>
          <a:prstGeom prst="roundRect">
            <a:avLst>
              <a:gd name="adj" fmla="val 2795"/>
            </a:avLst>
          </a:prstGeom>
          <a:solidFill>
            <a:srgbClr val="FDFDFB"/>
          </a:solidFill>
          <a:ln w="12700">
            <a:solidFill>
              <a:srgbClr val="DDE3E0"/>
            </a:solidFill>
            <a:prstDash val="solid"/>
          </a:ln>
        </p:spPr>
      </p:sp>
      <p:sp>
        <p:nvSpPr>
          <p:cNvPr id="5" name="Text 3"/>
          <p:cNvSpPr/>
          <p:nvPr/>
        </p:nvSpPr>
        <p:spPr>
          <a:xfrm>
            <a:off x="1079500" y="2031950"/>
            <a:ext cx="29737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02F"/>
                </a:solidFill>
                <a:latin typeface="Noto Sans KR" pitchFamily="34" charset="0"/>
                <a:ea typeface="Noto Sans KR" pitchFamily="34" charset="-122"/>
                <a:cs typeface="Noto Sans KR" pitchFamily="34" charset="-120"/>
              </a:rPr>
              <a:t>토스</a:t>
            </a:r>
            <a:endParaRPr lang="en-US" sz="2000" dirty="0"/>
          </a:p>
        </p:txBody>
      </p:sp>
      <p:sp>
        <p:nvSpPr>
          <p:cNvPr id="6" name="Text 4"/>
          <p:cNvSpPr/>
          <p:nvPr/>
        </p:nvSpPr>
        <p:spPr>
          <a:xfrm>
            <a:off x="1079500" y="2463750"/>
            <a:ext cx="297373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4525F"/>
                </a:solidFill>
                <a:latin typeface="Noto Sans KR" pitchFamily="34" charset="0"/>
                <a:ea typeface="Noto Sans KR" pitchFamily="34" charset="-122"/>
                <a:cs typeface="Noto Sans KR" pitchFamily="34" charset="-120"/>
              </a:rPr>
              <a:t>자산 모아보기</a:t>
            </a:r>
            <a:endParaRPr lang="en-US" sz="1400" dirty="0"/>
          </a:p>
          <a:p>
            <a:pPr algn="l" indent="0" marL="0">
              <a:lnSpc>
                <a:spcPts val="2100"/>
              </a:lnSpc>
              <a:buNone/>
            </a:pPr>
            <a:r>
              <a:rPr lang="en-US" sz="1400" dirty="0">
                <a:solidFill>
                  <a:srgbClr val="44525F"/>
                </a:solidFill>
                <a:latin typeface="Noto Sans KR" pitchFamily="34" charset="0"/>
                <a:ea typeface="Noto Sans KR" pitchFamily="34" charset="-122"/>
                <a:cs typeface="Noto Sans KR" pitchFamily="34" charset="-120"/>
              </a:rPr>
              <a:t>출금 전 잔액 부족 알림</a:t>
            </a:r>
            <a:endParaRPr lang="en-US" sz="1400" dirty="0"/>
          </a:p>
        </p:txBody>
      </p:sp>
      <p:sp>
        <p:nvSpPr>
          <p:cNvPr id="7" name="Shape 5"/>
          <p:cNvSpPr/>
          <p:nvPr/>
        </p:nvSpPr>
        <p:spPr>
          <a:xfrm>
            <a:off x="1079500" y="5239395"/>
            <a:ext cx="2887117" cy="0"/>
          </a:xfrm>
          <a:prstGeom prst="line">
            <a:avLst/>
          </a:prstGeom>
          <a:noFill/>
          <a:ln w="6350">
            <a:solidFill>
              <a:srgbClr val="DDE3E0"/>
            </a:solidFill>
            <a:prstDash val="solid"/>
          </a:ln>
        </p:spPr>
      </p:sp>
      <p:sp>
        <p:nvSpPr>
          <p:cNvPr id="8" name="Text 6"/>
          <p:cNvSpPr/>
          <p:nvPr/>
        </p:nvSpPr>
        <p:spPr>
          <a:xfrm>
            <a:off x="1079500" y="5344170"/>
            <a:ext cx="29737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A7782"/>
                </a:solidFill>
                <a:latin typeface="Noto Sans KR" pitchFamily="34" charset="0"/>
                <a:ea typeface="Noto Sans KR" pitchFamily="34" charset="-122"/>
                <a:cs typeface="Noto Sans KR" pitchFamily="34" charset="-120"/>
              </a:rPr>
              <a:t>조회 · 알림 중심</a:t>
            </a:r>
            <a:endParaRPr lang="en-US" sz="1300" dirty="0"/>
          </a:p>
        </p:txBody>
      </p:sp>
      <p:sp>
        <p:nvSpPr>
          <p:cNvPr id="9" name="Shape 7"/>
          <p:cNvSpPr/>
          <p:nvPr/>
        </p:nvSpPr>
        <p:spPr>
          <a:xfrm>
            <a:off x="4392067" y="1771600"/>
            <a:ext cx="3407817" cy="4064050"/>
          </a:xfrm>
          <a:prstGeom prst="roundRect">
            <a:avLst>
              <a:gd name="adj" fmla="val 2795"/>
            </a:avLst>
          </a:prstGeom>
          <a:solidFill>
            <a:srgbClr val="FDFDFB"/>
          </a:solidFill>
          <a:ln w="12700">
            <a:solidFill>
              <a:srgbClr val="DDE3E0"/>
            </a:solidFill>
            <a:prstDash val="solid"/>
          </a:ln>
        </p:spPr>
      </p:sp>
      <p:sp>
        <p:nvSpPr>
          <p:cNvPr id="10" name="Text 8"/>
          <p:cNvSpPr/>
          <p:nvPr/>
        </p:nvSpPr>
        <p:spPr>
          <a:xfrm>
            <a:off x="4652417" y="2031950"/>
            <a:ext cx="29737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02F"/>
                </a:solidFill>
                <a:latin typeface="Noto Sans KR" pitchFamily="34" charset="0"/>
                <a:ea typeface="Noto Sans KR" pitchFamily="34" charset="-122"/>
                <a:cs typeface="Noto Sans KR" pitchFamily="34" charset="-120"/>
              </a:rPr>
              <a:t>뱅크샐러드</a:t>
            </a:r>
            <a:endParaRPr lang="en-US" sz="2000" dirty="0"/>
          </a:p>
        </p:txBody>
      </p:sp>
      <p:sp>
        <p:nvSpPr>
          <p:cNvPr id="11" name="Text 9"/>
          <p:cNvSpPr/>
          <p:nvPr/>
        </p:nvSpPr>
        <p:spPr>
          <a:xfrm>
            <a:off x="4652417" y="2463750"/>
            <a:ext cx="297373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4525F"/>
                </a:solidFill>
                <a:latin typeface="Noto Sans KR" pitchFamily="34" charset="0"/>
                <a:ea typeface="Noto Sans KR" pitchFamily="34" charset="-122"/>
                <a:cs typeface="Noto Sans KR" pitchFamily="34" charset="-120"/>
              </a:rPr>
              <a:t>월간 소비 리포트</a:t>
            </a:r>
            <a:endParaRPr lang="en-US" sz="1400" dirty="0"/>
          </a:p>
          <a:p>
            <a:pPr algn="l" indent="0" marL="0">
              <a:lnSpc>
                <a:spcPts val="2100"/>
              </a:lnSpc>
              <a:buNone/>
            </a:pPr>
            <a:r>
              <a:rPr lang="en-US" sz="1400" dirty="0">
                <a:solidFill>
                  <a:srgbClr val="44525F"/>
                </a:solidFill>
                <a:latin typeface="Noto Sans KR" pitchFamily="34" charset="0"/>
                <a:ea typeface="Noto Sans KR" pitchFamily="34" charset="-122"/>
                <a:cs typeface="Noto Sans KR" pitchFamily="34" charset="-120"/>
              </a:rPr>
              <a:t>유사 사용자 비교</a:t>
            </a:r>
            <a:endParaRPr lang="en-US" sz="1400" dirty="0"/>
          </a:p>
        </p:txBody>
      </p:sp>
      <p:sp>
        <p:nvSpPr>
          <p:cNvPr id="12" name="Shape 10"/>
          <p:cNvSpPr/>
          <p:nvPr/>
        </p:nvSpPr>
        <p:spPr>
          <a:xfrm>
            <a:off x="4652417" y="5239395"/>
            <a:ext cx="2887117" cy="0"/>
          </a:xfrm>
          <a:prstGeom prst="line">
            <a:avLst/>
          </a:prstGeom>
          <a:noFill/>
          <a:ln w="6350">
            <a:solidFill>
              <a:srgbClr val="DDE3E0"/>
            </a:solidFill>
            <a:prstDash val="solid"/>
          </a:ln>
        </p:spPr>
      </p:sp>
      <p:sp>
        <p:nvSpPr>
          <p:cNvPr id="13" name="Text 11"/>
          <p:cNvSpPr/>
          <p:nvPr/>
        </p:nvSpPr>
        <p:spPr>
          <a:xfrm>
            <a:off x="4652417" y="5344170"/>
            <a:ext cx="29737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A7782"/>
                </a:solidFill>
                <a:latin typeface="Noto Sans KR" pitchFamily="34" charset="0"/>
                <a:ea typeface="Noto Sans KR" pitchFamily="34" charset="-122"/>
                <a:cs typeface="Noto Sans KR" pitchFamily="34" charset="-120"/>
              </a:rPr>
              <a:t>지난 소비 분석 중심</a:t>
            </a:r>
            <a:endParaRPr lang="en-US" sz="1300" dirty="0"/>
          </a:p>
        </p:txBody>
      </p:sp>
      <p:sp>
        <p:nvSpPr>
          <p:cNvPr id="14" name="Shape 12"/>
          <p:cNvSpPr/>
          <p:nvPr/>
        </p:nvSpPr>
        <p:spPr>
          <a:xfrm>
            <a:off x="7958634" y="1765250"/>
            <a:ext cx="3420566" cy="4076750"/>
          </a:xfrm>
          <a:prstGeom prst="roundRect">
            <a:avLst>
              <a:gd name="adj" fmla="val 2970"/>
            </a:avLst>
          </a:prstGeom>
          <a:solidFill>
            <a:srgbClr val="12202F"/>
          </a:solidFill>
          <a:ln/>
        </p:spPr>
      </p:sp>
      <p:sp>
        <p:nvSpPr>
          <p:cNvPr id="15" name="Text 13"/>
          <p:cNvSpPr/>
          <p:nvPr/>
        </p:nvSpPr>
        <p:spPr>
          <a:xfrm>
            <a:off x="8212634" y="2019250"/>
            <a:ext cx="29999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D700"/>
                </a:solidFill>
                <a:latin typeface="Noto Sans KR" pitchFamily="34" charset="0"/>
                <a:ea typeface="Noto Sans KR" pitchFamily="34" charset="-122"/>
                <a:cs typeface="Noto Sans KR" pitchFamily="34" charset="-120"/>
              </a:rPr>
              <a:t>머니쿠션</a:t>
            </a:r>
            <a:endParaRPr lang="en-US" sz="2000" dirty="0"/>
          </a:p>
        </p:txBody>
      </p:sp>
      <p:sp>
        <p:nvSpPr>
          <p:cNvPr id="16" name="Text 14"/>
          <p:cNvSpPr/>
          <p:nvPr/>
        </p:nvSpPr>
        <p:spPr>
          <a:xfrm>
            <a:off x="8212634" y="2451050"/>
            <a:ext cx="2999943"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6F7F3"/>
                </a:solidFill>
                <a:latin typeface="Noto Sans KR" pitchFamily="34" charset="0"/>
                <a:ea typeface="Noto Sans KR" pitchFamily="34" charset="-122"/>
                <a:cs typeface="Noto Sans KR" pitchFamily="34" charset="-120"/>
              </a:rPr>
              <a:t>첫 월급 배분부터</a:t>
            </a:r>
            <a:endParaRPr lang="en-US" sz="1400" dirty="0"/>
          </a:p>
          <a:p>
            <a:pPr algn="l" indent="0" marL="0">
              <a:lnSpc>
                <a:spcPts val="2100"/>
              </a:lnSpc>
              <a:buNone/>
            </a:pPr>
            <a:r>
              <a:rPr lang="en-US" sz="1400" dirty="0">
                <a:solidFill>
                  <a:srgbClr val="F6F7F3"/>
                </a:solidFill>
                <a:latin typeface="Noto Sans KR" pitchFamily="34" charset="0"/>
                <a:ea typeface="Noto Sans KR" pitchFamily="34" charset="-122"/>
                <a:cs typeface="Noto Sans KR" pitchFamily="34" charset="-120"/>
              </a:rPr>
              <a:t>지출 후 계획 복구까지 코칭</a:t>
            </a:r>
            <a:endParaRPr lang="en-US" sz="1400" dirty="0"/>
          </a:p>
        </p:txBody>
      </p:sp>
      <p:sp>
        <p:nvSpPr>
          <p:cNvPr id="17" name="Shape 15"/>
          <p:cNvSpPr/>
          <p:nvPr/>
        </p:nvSpPr>
        <p:spPr>
          <a:xfrm>
            <a:off x="8212634" y="5252095"/>
            <a:ext cx="2912566" cy="0"/>
          </a:xfrm>
          <a:prstGeom prst="line">
            <a:avLst/>
          </a:prstGeom>
          <a:noFill/>
          <a:ln w="6350">
            <a:solidFill>
              <a:srgbClr val="2E4256"/>
            </a:solidFill>
            <a:prstDash val="solid"/>
          </a:ln>
        </p:spPr>
      </p:sp>
      <p:sp>
        <p:nvSpPr>
          <p:cNvPr id="18" name="Text 16"/>
          <p:cNvSpPr/>
          <p:nvPr/>
        </p:nvSpPr>
        <p:spPr>
          <a:xfrm>
            <a:off x="8212634" y="5356870"/>
            <a:ext cx="299994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BFA5"/>
                </a:solidFill>
                <a:latin typeface="Noto Sans KR" pitchFamily="34" charset="0"/>
                <a:ea typeface="Noto Sans KR" pitchFamily="34" charset="-122"/>
                <a:cs typeface="Noto Sans KR" pitchFamily="34" charset="-120"/>
              </a:rPr>
              <a:t>“다음 월급날까지 얼마 써도 될까”</a:t>
            </a:r>
            <a:endParaRPr lang="en-US" sz="1300" dirty="0"/>
          </a:p>
        </p:txBody>
      </p:sp>
      <p:sp>
        <p:nvSpPr>
          <p:cNvPr id="19"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각 서비스 공식 공개 안내 기준 (확인일 2026. 10. 7.)</a:t>
            </a:r>
            <a:endParaRPr lang="en-US" sz="1200" dirty="0"/>
          </a:p>
        </p:txBody>
      </p:sp>
      <p:sp>
        <p:nvSpPr>
          <p:cNvPr id="20" name="Text 1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01 · 차별점</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청년의 ‘첫 돈 관리’를 돕는 6가지</a:t>
            </a:r>
            <a:endParaRPr lang="en-US" sz="2800" dirty="0"/>
          </a:p>
        </p:txBody>
      </p:sp>
      <p:sp>
        <p:nvSpPr>
          <p:cNvPr id="4" name="Shape 2"/>
          <p:cNvSpPr/>
          <p:nvPr/>
        </p:nvSpPr>
        <p:spPr>
          <a:xfrm>
            <a:off x="819150" y="1771600"/>
            <a:ext cx="3407817" cy="1962150"/>
          </a:xfrm>
          <a:prstGeom prst="roundRect">
            <a:avLst>
              <a:gd name="adj" fmla="val 4854"/>
            </a:avLst>
          </a:prstGeom>
          <a:solidFill>
            <a:srgbClr val="FDFDFB"/>
          </a:solidFill>
          <a:ln w="12700">
            <a:solidFill>
              <a:srgbClr val="DDE3E0"/>
            </a:solidFill>
            <a:prstDash val="solid"/>
          </a:ln>
        </p:spPr>
      </p:sp>
      <p:sp>
        <p:nvSpPr>
          <p:cNvPr id="5" name="Text 3"/>
          <p:cNvSpPr/>
          <p:nvPr/>
        </p:nvSpPr>
        <p:spPr>
          <a:xfrm>
            <a:off x="1054100" y="2006550"/>
            <a:ext cx="302605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BFA5"/>
                </a:solidFill>
                <a:latin typeface="Noto Sans KR" pitchFamily="34" charset="0"/>
                <a:ea typeface="Noto Sans KR" pitchFamily="34" charset="-122"/>
                <a:cs typeface="Noto Sans KR" pitchFamily="34" charset="-120"/>
              </a:rPr>
              <a:t>01</a:t>
            </a:r>
            <a:endParaRPr lang="en-US" sz="1400" dirty="0"/>
          </a:p>
        </p:txBody>
      </p:sp>
      <p:sp>
        <p:nvSpPr>
          <p:cNvPr id="6" name="Text 4"/>
          <p:cNvSpPr/>
          <p:nvPr/>
        </p:nvSpPr>
        <p:spPr>
          <a:xfrm>
            <a:off x="1054100" y="2344341"/>
            <a:ext cx="302605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202F"/>
                </a:solidFill>
                <a:latin typeface="Noto Sans KR" pitchFamily="34" charset="0"/>
                <a:ea typeface="Noto Sans KR" pitchFamily="34" charset="-122"/>
                <a:cs typeface="Noto Sans KR" pitchFamily="34" charset="-120"/>
              </a:rPr>
              <a:t>사회초년생 맞춤 시작</a:t>
            </a:r>
            <a:endParaRPr lang="en-US" sz="1700" dirty="0"/>
          </a:p>
        </p:txBody>
      </p:sp>
      <p:sp>
        <p:nvSpPr>
          <p:cNvPr id="7" name="Text 5"/>
          <p:cNvSpPr/>
          <p:nvPr/>
        </p:nvSpPr>
        <p:spPr>
          <a:xfrm>
            <a:off x="1054100" y="2692301"/>
            <a:ext cx="3026054"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4525F"/>
                </a:solidFill>
                <a:latin typeface="Noto Sans KR" pitchFamily="34" charset="0"/>
                <a:ea typeface="Noto Sans KR" pitchFamily="34" charset="-122"/>
                <a:cs typeface="Noto Sans KR" pitchFamily="34" charset="-120"/>
              </a:rPr>
              <a:t>연령대 · 가구 형태 · 소득 · 우선순위로 개인화</a:t>
            </a:r>
            <a:endParaRPr lang="en-US" sz="1300" dirty="0"/>
          </a:p>
        </p:txBody>
      </p:sp>
      <p:sp>
        <p:nvSpPr>
          <p:cNvPr id="8" name="Shape 6"/>
          <p:cNvSpPr/>
          <p:nvPr/>
        </p:nvSpPr>
        <p:spPr>
          <a:xfrm>
            <a:off x="4392067" y="1771600"/>
            <a:ext cx="3407817" cy="1962150"/>
          </a:xfrm>
          <a:prstGeom prst="roundRect">
            <a:avLst>
              <a:gd name="adj" fmla="val 4854"/>
            </a:avLst>
          </a:prstGeom>
          <a:solidFill>
            <a:srgbClr val="FDFDFB"/>
          </a:solidFill>
          <a:ln w="12700">
            <a:solidFill>
              <a:srgbClr val="DDE3E0"/>
            </a:solidFill>
            <a:prstDash val="solid"/>
          </a:ln>
        </p:spPr>
      </p:sp>
      <p:sp>
        <p:nvSpPr>
          <p:cNvPr id="9" name="Text 7"/>
          <p:cNvSpPr/>
          <p:nvPr/>
        </p:nvSpPr>
        <p:spPr>
          <a:xfrm>
            <a:off x="4627017" y="2006550"/>
            <a:ext cx="302605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BFA5"/>
                </a:solidFill>
                <a:latin typeface="Noto Sans KR" pitchFamily="34" charset="0"/>
                <a:ea typeface="Noto Sans KR" pitchFamily="34" charset="-122"/>
                <a:cs typeface="Noto Sans KR" pitchFamily="34" charset="-120"/>
              </a:rPr>
              <a:t>02</a:t>
            </a:r>
            <a:endParaRPr lang="en-US" sz="1400" dirty="0"/>
          </a:p>
        </p:txBody>
      </p:sp>
      <p:sp>
        <p:nvSpPr>
          <p:cNvPr id="10" name="Text 8"/>
          <p:cNvSpPr/>
          <p:nvPr/>
        </p:nvSpPr>
        <p:spPr>
          <a:xfrm>
            <a:off x="4627017" y="2344341"/>
            <a:ext cx="302605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202F"/>
                </a:solidFill>
                <a:latin typeface="Noto Sans KR" pitchFamily="34" charset="0"/>
                <a:ea typeface="Noto Sans KR" pitchFamily="34" charset="-122"/>
                <a:cs typeface="Noto Sans KR" pitchFamily="34" charset="-120"/>
              </a:rPr>
              <a:t>‘쓸 수 있는 돈’ 먼저</a:t>
            </a:r>
            <a:endParaRPr lang="en-US" sz="1700" dirty="0"/>
          </a:p>
        </p:txBody>
      </p:sp>
      <p:sp>
        <p:nvSpPr>
          <p:cNvPr id="11" name="Text 9"/>
          <p:cNvSpPr/>
          <p:nvPr/>
        </p:nvSpPr>
        <p:spPr>
          <a:xfrm>
            <a:off x="4627017" y="2692301"/>
            <a:ext cx="3166517"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4525F"/>
                </a:solidFill>
                <a:latin typeface="Noto Sans KR" pitchFamily="34" charset="0"/>
                <a:ea typeface="Noto Sans KR" pitchFamily="34" charset="-122"/>
                <a:cs typeface="Noto Sans KR" pitchFamily="34" charset="-120"/>
              </a:rPr>
              <a:t>다음 급여일 기준 안전 소비액 · 하루 생활비</a:t>
            </a:r>
            <a:endParaRPr lang="en-US" sz="1300" dirty="0"/>
          </a:p>
        </p:txBody>
      </p:sp>
      <p:sp>
        <p:nvSpPr>
          <p:cNvPr id="12" name="Shape 10"/>
          <p:cNvSpPr/>
          <p:nvPr/>
        </p:nvSpPr>
        <p:spPr>
          <a:xfrm>
            <a:off x="7964984" y="1771600"/>
            <a:ext cx="3407866" cy="1962150"/>
          </a:xfrm>
          <a:prstGeom prst="roundRect">
            <a:avLst>
              <a:gd name="adj" fmla="val 4854"/>
            </a:avLst>
          </a:prstGeom>
          <a:solidFill>
            <a:srgbClr val="FDFDFB"/>
          </a:solidFill>
          <a:ln w="12700">
            <a:solidFill>
              <a:srgbClr val="DDE3E0"/>
            </a:solidFill>
            <a:prstDash val="solid"/>
          </a:ln>
        </p:spPr>
      </p:sp>
      <p:sp>
        <p:nvSpPr>
          <p:cNvPr id="13" name="Text 11"/>
          <p:cNvSpPr/>
          <p:nvPr/>
        </p:nvSpPr>
        <p:spPr>
          <a:xfrm>
            <a:off x="8199934" y="2006550"/>
            <a:ext cx="302610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BFA5"/>
                </a:solidFill>
                <a:latin typeface="Noto Sans KR" pitchFamily="34" charset="0"/>
                <a:ea typeface="Noto Sans KR" pitchFamily="34" charset="-122"/>
                <a:cs typeface="Noto Sans KR" pitchFamily="34" charset="-120"/>
              </a:rPr>
              <a:t>03</a:t>
            </a:r>
            <a:endParaRPr lang="en-US" sz="1400" dirty="0"/>
          </a:p>
        </p:txBody>
      </p:sp>
      <p:sp>
        <p:nvSpPr>
          <p:cNvPr id="14" name="Text 12"/>
          <p:cNvSpPr/>
          <p:nvPr/>
        </p:nvSpPr>
        <p:spPr>
          <a:xfrm>
            <a:off x="8199934" y="2344341"/>
            <a:ext cx="302610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202F"/>
                </a:solidFill>
                <a:latin typeface="Noto Sans KR" pitchFamily="34" charset="0"/>
                <a:ea typeface="Noto Sans KR" pitchFamily="34" charset="-122"/>
                <a:cs typeface="Noto Sans KR" pitchFamily="34" charset="-120"/>
              </a:rPr>
              <a:t>쓰기 전에 미리 대비</a:t>
            </a:r>
            <a:endParaRPr lang="en-US" sz="1700" dirty="0"/>
          </a:p>
        </p:txBody>
      </p:sp>
      <p:sp>
        <p:nvSpPr>
          <p:cNvPr id="15" name="Text 13"/>
          <p:cNvSpPr/>
          <p:nvPr/>
        </p:nvSpPr>
        <p:spPr>
          <a:xfrm>
            <a:off x="8199934" y="2692301"/>
            <a:ext cx="3026105"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4525F"/>
                </a:solidFill>
                <a:latin typeface="Noto Sans KR" pitchFamily="34" charset="0"/>
                <a:ea typeface="Noto Sans KR" pitchFamily="34" charset="-122"/>
                <a:cs typeface="Noto Sans KR" pitchFamily="34" charset="-120"/>
              </a:rPr>
              <a:t>월급의 3배 기준으로 머니 쿠션 먼저 확보</a:t>
            </a:r>
            <a:endParaRPr lang="en-US" sz="1300" dirty="0"/>
          </a:p>
        </p:txBody>
      </p:sp>
      <p:sp>
        <p:nvSpPr>
          <p:cNvPr id="16" name="Shape 14"/>
          <p:cNvSpPr/>
          <p:nvPr/>
        </p:nvSpPr>
        <p:spPr>
          <a:xfrm>
            <a:off x="819150" y="3898850"/>
            <a:ext cx="3407817" cy="1936800"/>
          </a:xfrm>
          <a:prstGeom prst="roundRect">
            <a:avLst>
              <a:gd name="adj" fmla="val 4918"/>
            </a:avLst>
          </a:prstGeom>
          <a:solidFill>
            <a:srgbClr val="FDFDFB"/>
          </a:solidFill>
          <a:ln w="12700">
            <a:solidFill>
              <a:srgbClr val="DDE3E0"/>
            </a:solidFill>
            <a:prstDash val="solid"/>
          </a:ln>
        </p:spPr>
      </p:sp>
      <p:sp>
        <p:nvSpPr>
          <p:cNvPr id="17" name="Text 15"/>
          <p:cNvSpPr/>
          <p:nvPr/>
        </p:nvSpPr>
        <p:spPr>
          <a:xfrm>
            <a:off x="1054100" y="4133800"/>
            <a:ext cx="302605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BFA5"/>
                </a:solidFill>
                <a:latin typeface="Noto Sans KR" pitchFamily="34" charset="0"/>
                <a:ea typeface="Noto Sans KR" pitchFamily="34" charset="-122"/>
                <a:cs typeface="Noto Sans KR" pitchFamily="34" charset="-120"/>
              </a:rPr>
              <a:t>04</a:t>
            </a:r>
            <a:endParaRPr lang="en-US" sz="1400" dirty="0"/>
          </a:p>
        </p:txBody>
      </p:sp>
      <p:sp>
        <p:nvSpPr>
          <p:cNvPr id="18" name="Text 16"/>
          <p:cNvSpPr/>
          <p:nvPr/>
        </p:nvSpPr>
        <p:spPr>
          <a:xfrm>
            <a:off x="1054100" y="4471591"/>
            <a:ext cx="302605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202F"/>
                </a:solidFill>
                <a:latin typeface="Noto Sans KR" pitchFamily="34" charset="0"/>
                <a:ea typeface="Noto Sans KR" pitchFamily="34" charset="-122"/>
                <a:cs typeface="Noto Sans KR" pitchFamily="34" charset="-120"/>
              </a:rPr>
              <a:t>실수해도 회복</a:t>
            </a:r>
            <a:endParaRPr lang="en-US" sz="1700" dirty="0"/>
          </a:p>
        </p:txBody>
      </p:sp>
      <p:sp>
        <p:nvSpPr>
          <p:cNvPr id="19" name="Text 17"/>
          <p:cNvSpPr/>
          <p:nvPr/>
        </p:nvSpPr>
        <p:spPr>
          <a:xfrm>
            <a:off x="1054100" y="4819551"/>
            <a:ext cx="3026054"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4525F"/>
                </a:solidFill>
                <a:latin typeface="Noto Sans KR" pitchFamily="34" charset="0"/>
                <a:ea typeface="Noto Sans KR" pitchFamily="34" charset="-122"/>
                <a:cs typeface="Noto Sans KR" pitchFamily="34" charset="-120"/>
              </a:rPr>
              <a:t>돌발 · 초과 시 보호 조건을 지키는 조정안</a:t>
            </a:r>
            <a:endParaRPr lang="en-US" sz="1300" dirty="0"/>
          </a:p>
        </p:txBody>
      </p:sp>
      <p:sp>
        <p:nvSpPr>
          <p:cNvPr id="20" name="Shape 18"/>
          <p:cNvSpPr/>
          <p:nvPr/>
        </p:nvSpPr>
        <p:spPr>
          <a:xfrm>
            <a:off x="4385717" y="3892500"/>
            <a:ext cx="3420517" cy="1949500"/>
          </a:xfrm>
          <a:prstGeom prst="roundRect">
            <a:avLst>
              <a:gd name="adj" fmla="val 5212"/>
            </a:avLst>
          </a:prstGeom>
          <a:solidFill>
            <a:srgbClr val="12202F"/>
          </a:solidFill>
          <a:ln/>
        </p:spPr>
      </p:sp>
      <p:sp>
        <p:nvSpPr>
          <p:cNvPr id="21" name="Text 19"/>
          <p:cNvSpPr/>
          <p:nvPr/>
        </p:nvSpPr>
        <p:spPr>
          <a:xfrm>
            <a:off x="4614317" y="4121100"/>
            <a:ext cx="305221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D700"/>
                </a:solidFill>
                <a:latin typeface="Noto Sans KR" pitchFamily="34" charset="0"/>
                <a:ea typeface="Noto Sans KR" pitchFamily="34" charset="-122"/>
                <a:cs typeface="Noto Sans KR" pitchFamily="34" charset="-120"/>
              </a:rPr>
              <a:t>05</a:t>
            </a:r>
            <a:endParaRPr lang="en-US" sz="1400" dirty="0"/>
          </a:p>
        </p:txBody>
      </p:sp>
      <p:sp>
        <p:nvSpPr>
          <p:cNvPr id="22" name="Text 20"/>
          <p:cNvSpPr/>
          <p:nvPr/>
        </p:nvSpPr>
        <p:spPr>
          <a:xfrm>
            <a:off x="4614317" y="4458891"/>
            <a:ext cx="305221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7F3"/>
                </a:solidFill>
                <a:latin typeface="Noto Sans KR" pitchFamily="34" charset="0"/>
                <a:ea typeface="Noto Sans KR" pitchFamily="34" charset="-122"/>
                <a:cs typeface="Noto Sans KR" pitchFamily="34" charset="-120"/>
              </a:rPr>
              <a:t>믿을 수 있는 숫자</a:t>
            </a:r>
            <a:endParaRPr lang="en-US" sz="1700" dirty="0"/>
          </a:p>
        </p:txBody>
      </p:sp>
      <p:sp>
        <p:nvSpPr>
          <p:cNvPr id="23" name="Text 21"/>
          <p:cNvSpPr/>
          <p:nvPr/>
        </p:nvSpPr>
        <p:spPr>
          <a:xfrm>
            <a:off x="4614317" y="4806851"/>
            <a:ext cx="305221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5D3DA"/>
                </a:solidFill>
                <a:latin typeface="Noto Sans KR" pitchFamily="34" charset="0"/>
                <a:ea typeface="Noto Sans KR" pitchFamily="34" charset="-122"/>
                <a:cs typeface="Noto Sans KR" pitchFamily="34" charset="-120"/>
              </a:rPr>
              <a:t>금액은 계산 엔진이 검수, 승인 없이 변경 없음</a:t>
            </a:r>
            <a:endParaRPr lang="en-US" sz="1300" dirty="0"/>
          </a:p>
        </p:txBody>
      </p:sp>
      <p:sp>
        <p:nvSpPr>
          <p:cNvPr id="24" name="Shape 22"/>
          <p:cNvSpPr/>
          <p:nvPr/>
        </p:nvSpPr>
        <p:spPr>
          <a:xfrm>
            <a:off x="7964984" y="3898850"/>
            <a:ext cx="3407866" cy="1936800"/>
          </a:xfrm>
          <a:prstGeom prst="roundRect">
            <a:avLst>
              <a:gd name="adj" fmla="val 4918"/>
            </a:avLst>
          </a:prstGeom>
          <a:solidFill>
            <a:srgbClr val="FDFDFB"/>
          </a:solidFill>
          <a:ln w="12700">
            <a:solidFill>
              <a:srgbClr val="DDE3E0"/>
            </a:solidFill>
            <a:prstDash val="solid"/>
          </a:ln>
        </p:spPr>
      </p:sp>
      <p:sp>
        <p:nvSpPr>
          <p:cNvPr id="25" name="Text 23"/>
          <p:cNvSpPr/>
          <p:nvPr/>
        </p:nvSpPr>
        <p:spPr>
          <a:xfrm>
            <a:off x="8199934" y="4133800"/>
            <a:ext cx="302610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BFA5"/>
                </a:solidFill>
                <a:latin typeface="Noto Sans KR" pitchFamily="34" charset="0"/>
                <a:ea typeface="Noto Sans KR" pitchFamily="34" charset="-122"/>
                <a:cs typeface="Noto Sans KR" pitchFamily="34" charset="-120"/>
              </a:rPr>
              <a:t>06</a:t>
            </a:r>
            <a:endParaRPr lang="en-US" sz="1400" dirty="0"/>
          </a:p>
        </p:txBody>
      </p:sp>
      <p:sp>
        <p:nvSpPr>
          <p:cNvPr id="26" name="Text 24"/>
          <p:cNvSpPr/>
          <p:nvPr/>
        </p:nvSpPr>
        <p:spPr>
          <a:xfrm>
            <a:off x="8199934" y="4471591"/>
            <a:ext cx="302610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202F"/>
                </a:solidFill>
                <a:latin typeface="Noto Sans KR" pitchFamily="34" charset="0"/>
                <a:ea typeface="Noto Sans KR" pitchFamily="34" charset="-122"/>
                <a:cs typeface="Noto Sans KR" pitchFamily="34" charset="-120"/>
              </a:rPr>
              <a:t>다음 달에 반영</a:t>
            </a:r>
            <a:endParaRPr lang="en-US" sz="1700" dirty="0"/>
          </a:p>
        </p:txBody>
      </p:sp>
      <p:sp>
        <p:nvSpPr>
          <p:cNvPr id="27" name="Text 25"/>
          <p:cNvSpPr/>
          <p:nvPr/>
        </p:nvSpPr>
        <p:spPr>
          <a:xfrm>
            <a:off x="8199934" y="4819551"/>
            <a:ext cx="3026105"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4525F"/>
                </a:solidFill>
                <a:latin typeface="Noto Sans KR" pitchFamily="34" charset="0"/>
                <a:ea typeface="Noto Sans KR" pitchFamily="34" charset="-122"/>
                <a:cs typeface="Noto Sans KR" pitchFamily="34" charset="-120"/>
              </a:rPr>
              <a:t>소비 이력 → 다음 달 카테고리 비율 예측</a:t>
            </a:r>
            <a:endParaRPr lang="en-US" sz="1300" dirty="0"/>
          </a:p>
        </p:txBody>
      </p:sp>
      <p:sp>
        <p:nvSpPr>
          <p:cNvPr id="28" name="Text 2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01 · 기획 소개</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주요 기능과 구현 범위</a:t>
            </a:r>
            <a:endParaRPr lang="en-US" sz="2800" dirty="0"/>
          </a:p>
        </p:txBody>
      </p:sp>
      <p:sp>
        <p:nvSpPr>
          <p:cNvPr id="4" name="Shape 2"/>
          <p:cNvSpPr/>
          <p:nvPr/>
        </p:nvSpPr>
        <p:spPr>
          <a:xfrm>
            <a:off x="812800" y="1765250"/>
            <a:ext cx="6832600" cy="4076750"/>
          </a:xfrm>
          <a:prstGeom prst="roundRect">
            <a:avLst>
              <a:gd name="adj" fmla="val 2492"/>
            </a:avLst>
          </a:prstGeom>
          <a:solidFill>
            <a:srgbClr val="12202F"/>
          </a:solidFill>
          <a:ln/>
        </p:spPr>
      </p:sp>
      <p:sp>
        <p:nvSpPr>
          <p:cNvPr id="5" name="Text 3"/>
          <p:cNvSpPr/>
          <p:nvPr/>
        </p:nvSpPr>
        <p:spPr>
          <a:xfrm>
            <a:off x="1041400" y="1993850"/>
            <a:ext cx="656666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D700"/>
                </a:solidFill>
                <a:latin typeface="Noto Sans KR" pitchFamily="34" charset="0"/>
                <a:ea typeface="Noto Sans KR" pitchFamily="34" charset="-122"/>
                <a:cs typeface="Noto Sans KR" pitchFamily="34" charset="-120"/>
              </a:rPr>
              <a:t>1차 MVP  ·  핵심 흐름</a:t>
            </a:r>
            <a:endParaRPr lang="en-US" sz="1600" dirty="0"/>
          </a:p>
        </p:txBody>
      </p:sp>
      <p:sp>
        <p:nvSpPr>
          <p:cNvPr id="27" name="Text 3b"/>
          <p:cNvSpPr/>
          <p:nvPr/>
        </p:nvSpPr>
        <p:spPr>
          <a:xfrm>
            <a:off x="1041400" y="4096512"/>
            <a:ext cx="656666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BFA5"/>
                </a:solidFill>
                <a:latin typeface="Noto Sans KR" pitchFamily="34" charset="0"/>
                <a:ea typeface="Noto Sans KR" pitchFamily="34" charset="-122"/>
                <a:cs typeface="Noto Sans KR" pitchFamily="34" charset="-120"/>
              </a:rPr>
              <a:t>2차 · 3차  ·  1차 점검 후 확장</a:t>
            </a:r>
            <a:endParaRPr lang="en-US" sz="1600" dirty="0"/>
          </a:p>
        </p:txBody>
      </p:sp>
      <p:sp>
        <p:nvSpPr>
          <p:cNvPr id="6" name="Text 4"/>
          <p:cNvSpPr/>
          <p:nvPr/>
        </p:nvSpPr>
        <p:spPr>
          <a:xfrm>
            <a:off x="1041400" y="2364680"/>
            <a:ext cx="3143250" cy="408930"/>
          </a:xfrm>
          <a:prstGeom prst="roundRect">
            <a:avLst>
              <a:gd name="adj" fmla="val 15528"/>
            </a:avLst>
          </a:prstGeom>
          <a:solidFill>
            <a:srgbClr val="1E3347"/>
          </a:solidFill>
          <a:ln/>
        </p:spPr>
        <p:txBody>
          <a:bodyPr wrap="square" lIns="108401" tIns="70301" rIns="21724" bIns="44901"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회원 · 계좌 연결</a:t>
            </a:r>
            <a:endParaRPr lang="en-US" sz="1300" dirty="0"/>
          </a:p>
        </p:txBody>
      </p:sp>
      <p:sp>
        <p:nvSpPr>
          <p:cNvPr id="7" name="Text 5"/>
          <p:cNvSpPr/>
          <p:nvPr/>
        </p:nvSpPr>
        <p:spPr>
          <a:xfrm>
            <a:off x="4273550" y="2364680"/>
            <a:ext cx="3143250" cy="408930"/>
          </a:xfrm>
          <a:prstGeom prst="roundRect">
            <a:avLst>
              <a:gd name="adj" fmla="val 15528"/>
            </a:avLst>
          </a:prstGeom>
          <a:solidFill>
            <a:srgbClr val="1E3347"/>
          </a:solidFill>
          <a:ln/>
        </p:spPr>
        <p:txBody>
          <a:bodyPr wrap="square" lIns="108401" tIns="70301" rIns="21724" bIns="44901"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예산 설계</a:t>
            </a:r>
            <a:endParaRPr lang="en-US" sz="1300" dirty="0"/>
          </a:p>
        </p:txBody>
      </p:sp>
      <p:sp>
        <p:nvSpPr>
          <p:cNvPr id="8" name="Text 6"/>
          <p:cNvSpPr/>
          <p:nvPr/>
        </p:nvSpPr>
        <p:spPr>
          <a:xfrm>
            <a:off x="1041400" y="2862511"/>
            <a:ext cx="3143250" cy="408930"/>
          </a:xfrm>
          <a:prstGeom prst="roundRect">
            <a:avLst>
              <a:gd name="adj" fmla="val 15528"/>
            </a:avLst>
          </a:prstGeom>
          <a:solidFill>
            <a:srgbClr val="1E3347"/>
          </a:solidFill>
          <a:ln/>
        </p:spPr>
        <p:txBody>
          <a:bodyPr wrap="square" lIns="108401" tIns="70301" rIns="21724" bIns="44901"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거래 자동 분류</a:t>
            </a:r>
            <a:endParaRPr lang="en-US" sz="1300" dirty="0"/>
          </a:p>
        </p:txBody>
      </p:sp>
      <p:sp>
        <p:nvSpPr>
          <p:cNvPr id="9" name="Text 7"/>
          <p:cNvSpPr/>
          <p:nvPr/>
        </p:nvSpPr>
        <p:spPr>
          <a:xfrm>
            <a:off x="4273550" y="2862511"/>
            <a:ext cx="3143250" cy="408930"/>
          </a:xfrm>
          <a:prstGeom prst="roundRect">
            <a:avLst>
              <a:gd name="adj" fmla="val 15528"/>
            </a:avLst>
          </a:prstGeom>
          <a:solidFill>
            <a:srgbClr val="1E3347"/>
          </a:solidFill>
          <a:ln/>
        </p:spPr>
        <p:txBody>
          <a:bodyPr wrap="square" lIns="108401" tIns="70301" rIns="21724" bIns="44901"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예산 조정 (모드 4개)</a:t>
            </a:r>
            <a:endParaRPr lang="en-US" sz="1300" dirty="0"/>
          </a:p>
        </p:txBody>
      </p:sp>
      <p:sp>
        <p:nvSpPr>
          <p:cNvPr id="10" name="Text 8"/>
          <p:cNvSpPr/>
          <p:nvPr/>
        </p:nvSpPr>
        <p:spPr>
          <a:xfrm>
            <a:off x="1041400" y="3360341"/>
            <a:ext cx="3143250" cy="408930"/>
          </a:xfrm>
          <a:prstGeom prst="roundRect">
            <a:avLst>
              <a:gd name="adj" fmla="val 15528"/>
            </a:avLst>
          </a:prstGeom>
          <a:solidFill>
            <a:srgbClr val="1E3347"/>
          </a:solidFill>
          <a:ln/>
        </p:spPr>
        <p:txBody>
          <a:bodyPr wrap="square" lIns="108401" tIns="70301" rIns="21724" bIns="44901"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통합 챗봇</a:t>
            </a:r>
            <a:endParaRPr lang="en-US" sz="1300" dirty="0"/>
          </a:p>
        </p:txBody>
      </p:sp>
      <p:sp>
        <p:nvSpPr>
          <p:cNvPr id="11" name="Text 9"/>
          <p:cNvSpPr/>
          <p:nvPr/>
        </p:nvSpPr>
        <p:spPr>
          <a:xfrm>
            <a:off x="4273550" y="3360341"/>
            <a:ext cx="3143250" cy="408930"/>
          </a:xfrm>
          <a:prstGeom prst="roundRect">
            <a:avLst>
              <a:gd name="adj" fmla="val 15528"/>
            </a:avLst>
          </a:prstGeom>
          <a:solidFill>
            <a:srgbClr val="1E3347"/>
          </a:solidFill>
          <a:ln/>
        </p:spPr>
        <p:txBody>
          <a:bodyPr wrap="square" lIns="108401" tIns="70301" rIns="21724" bIns="44901"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머니 쿠션</a:t>
            </a:r>
            <a:endParaRPr lang="en-US" sz="1300" dirty="0"/>
          </a:p>
        </p:txBody>
      </p:sp>
      <p:sp>
        <p:nvSpPr>
          <p:cNvPr id="12" name="Text 10"/>
          <p:cNvSpPr/>
          <p:nvPr/>
        </p:nvSpPr>
        <p:spPr>
          <a:xfrm>
            <a:off x="1042415" y="4471416"/>
            <a:ext cx="3143250" cy="408930"/>
          </a:xfrm>
          <a:prstGeom prst="roundRect">
            <a:avLst>
              <a:gd name="adj" fmla="val 15528"/>
            </a:avLst>
          </a:prstGeom>
          <a:solidFill>
            <a:srgbClr val="1E3347"/>
          </a:solidFill>
          <a:ln/>
        </p:spPr>
        <p:txBody>
          <a:bodyPr wrap="square" lIns="108401" tIns="70301" rIns="21724" bIns="44901"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소비 리포트 · 이력</a:t>
            </a:r>
            <a:r>
              <a:rPr lang="en-US" sz="1300" dirty="0" b="1">
                <a:solidFill>
                  <a:srgbClr val="00BFA5"/>
                </a:solidFill>
                <a:latin typeface="Noto Sans KR" pitchFamily="34" charset="0"/>
                <a:ea typeface="Noto Sans KR" pitchFamily="34" charset="-122"/>
                <a:cs typeface="Noto Sans KR" pitchFamily="34" charset="-120"/>
              </a:rPr>
              <a:t>  2차</a:t>
            </a:r>
            <a:endParaRPr lang="en-US" sz="1300" dirty="0"/>
          </a:p>
        </p:txBody>
      </p:sp>
      <p:sp>
        <p:nvSpPr>
          <p:cNvPr id="13" name="Text 11"/>
          <p:cNvSpPr/>
          <p:nvPr/>
        </p:nvSpPr>
        <p:spPr>
          <a:xfrm>
            <a:off x="4270248" y="4471416"/>
            <a:ext cx="3143250" cy="408930"/>
          </a:xfrm>
          <a:prstGeom prst="roundRect">
            <a:avLst>
              <a:gd name="adj" fmla="val 15528"/>
            </a:avLst>
          </a:prstGeom>
          <a:solidFill>
            <a:srgbClr val="1E3347"/>
          </a:solidFill>
          <a:ln/>
        </p:spPr>
        <p:txBody>
          <a:bodyPr wrap="square" lIns="108401" tIns="70301" rIns="21724" bIns="44901"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소액 돌발 지출</a:t>
            </a:r>
            <a:r>
              <a:rPr lang="en-US" sz="1300" dirty="0" b="1">
                <a:solidFill>
                  <a:srgbClr val="00BFA5"/>
                </a:solidFill>
                <a:latin typeface="Noto Sans KR" pitchFamily="34" charset="0"/>
                <a:ea typeface="Noto Sans KR" pitchFamily="34" charset="-122"/>
                <a:cs typeface="Noto Sans KR" pitchFamily="34" charset="-120"/>
              </a:rPr>
              <a:t>  2차</a:t>
            </a:r>
            <a:endParaRPr lang="en-US" sz="1300" dirty="0"/>
          </a:p>
        </p:txBody>
      </p:sp>
      <p:sp>
        <p:nvSpPr>
          <p:cNvPr id="14" name="Text 12"/>
          <p:cNvSpPr/>
          <p:nvPr/>
        </p:nvSpPr>
        <p:spPr>
          <a:xfrm>
            <a:off x="1042415" y="4965192"/>
            <a:ext cx="3143250" cy="408930"/>
          </a:xfrm>
          <a:prstGeom prst="roundRect">
            <a:avLst>
              <a:gd name="adj" fmla="val 15528"/>
            </a:avLst>
          </a:prstGeom>
          <a:solidFill>
            <a:srgbClr val="1E3347"/>
          </a:solidFill>
          <a:ln/>
        </p:spPr>
        <p:txBody>
          <a:bodyPr wrap="square" lIns="108401" tIns="70301" rIns="21724" bIns="44901"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알림</a:t>
            </a:r>
            <a:r>
              <a:rPr lang="en-US" sz="1300" dirty="0" b="1">
                <a:solidFill>
                  <a:srgbClr val="00BFA5"/>
                </a:solidFill>
                <a:latin typeface="Noto Sans KR" pitchFamily="34" charset="0"/>
                <a:ea typeface="Noto Sans KR" pitchFamily="34" charset="-122"/>
                <a:cs typeface="Noto Sans KR" pitchFamily="34" charset="-120"/>
              </a:rPr>
              <a:t>  2차</a:t>
            </a:r>
            <a:endParaRPr lang="en-US" sz="1300" dirty="0"/>
          </a:p>
        </p:txBody>
      </p:sp>
      <p:sp>
        <p:nvSpPr>
          <p:cNvPr id="15" name="Text 13"/>
          <p:cNvSpPr/>
          <p:nvPr/>
        </p:nvSpPr>
        <p:spPr>
          <a:xfrm>
            <a:off x="4270248" y="4965192"/>
            <a:ext cx="3143250" cy="408930"/>
          </a:xfrm>
          <a:prstGeom prst="roundRect">
            <a:avLst>
              <a:gd name="adj" fmla="val 15528"/>
            </a:avLst>
          </a:prstGeom>
          <a:solidFill>
            <a:srgbClr val="1E3347"/>
          </a:solidFill>
          <a:ln/>
        </p:spPr>
        <p:txBody>
          <a:bodyPr wrap="square" lIns="108401" tIns="70301" rIns="21724" bIns="44901"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큰 지출 상담</a:t>
            </a:r>
            <a:r>
              <a:rPr lang="en-US" sz="1300" dirty="0" b="1">
                <a:solidFill>
                  <a:srgbClr val="FFD700"/>
                </a:solidFill>
                <a:latin typeface="Noto Sans KR" pitchFamily="34" charset="0"/>
                <a:ea typeface="Noto Sans KR" pitchFamily="34" charset="-122"/>
                <a:cs typeface="Noto Sans KR" pitchFamily="34" charset="-120"/>
              </a:rPr>
              <a:t>  3차</a:t>
            </a:r>
            <a:endParaRPr lang="en-US" sz="1300" dirty="0"/>
          </a:p>
        </p:txBody>
      </p:sp>
      <p:sp>
        <p:nvSpPr>
          <p:cNvPr id="17" name="Shape 15"/>
          <p:cNvSpPr/>
          <p:nvPr/>
        </p:nvSpPr>
        <p:spPr>
          <a:xfrm>
            <a:off x="7829550" y="1771600"/>
            <a:ext cx="3543300" cy="841970"/>
          </a:xfrm>
          <a:prstGeom prst="roundRect">
            <a:avLst>
              <a:gd name="adj" fmla="val 8296"/>
            </a:avLst>
          </a:prstGeom>
          <a:solidFill>
            <a:srgbClr val="FDFDFB"/>
          </a:solidFill>
          <a:ln w="12700">
            <a:solidFill>
              <a:srgbClr val="DDE3E0"/>
            </a:solidFill>
            <a:prstDash val="solid"/>
          </a:ln>
        </p:spPr>
      </p:sp>
      <p:sp>
        <p:nvSpPr>
          <p:cNvPr id="18" name="Text 16"/>
          <p:cNvSpPr/>
          <p:nvPr/>
        </p:nvSpPr>
        <p:spPr>
          <a:xfrm>
            <a:off x="8013700" y="1930350"/>
            <a:ext cx="32702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0806E"/>
                </a:solidFill>
                <a:latin typeface="Noto Sans KR" pitchFamily="34" charset="0"/>
                <a:ea typeface="Noto Sans KR" pitchFamily="34" charset="-122"/>
                <a:cs typeface="Noto Sans KR" pitchFamily="34" charset="-120"/>
              </a:rPr>
              <a:t>검증 후 채택</a:t>
            </a:r>
            <a:endParaRPr lang="en-US" sz="1400" dirty="0"/>
          </a:p>
        </p:txBody>
      </p:sp>
      <p:sp>
        <p:nvSpPr>
          <p:cNvPr id="19" name="Text 17"/>
          <p:cNvSpPr/>
          <p:nvPr/>
        </p:nvSpPr>
        <p:spPr>
          <a:xfrm>
            <a:off x="8013700" y="2207171"/>
            <a:ext cx="327025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4525F"/>
                </a:solidFill>
                <a:latin typeface="Noto Sans KR" pitchFamily="34" charset="0"/>
                <a:ea typeface="Noto Sans KR" pitchFamily="34" charset="-122"/>
                <a:cs typeface="Noto Sans KR" pitchFamily="34" charset="-120"/>
              </a:rPr>
              <a:t>카드 OCR</a:t>
            </a:r>
            <a:endParaRPr lang="en-US" sz="1300" dirty="0"/>
          </a:p>
        </p:txBody>
      </p:sp>
      <p:sp>
        <p:nvSpPr>
          <p:cNvPr id="20" name="Shape 18"/>
          <p:cNvSpPr/>
          <p:nvPr/>
        </p:nvSpPr>
        <p:spPr>
          <a:xfrm>
            <a:off x="7829550" y="2753271"/>
            <a:ext cx="3543300" cy="1088136"/>
          </a:xfrm>
          <a:prstGeom prst="roundRect">
            <a:avLst>
              <a:gd name="adj" fmla="val 6410"/>
            </a:avLst>
          </a:prstGeom>
          <a:solidFill>
            <a:srgbClr val="FDFDFB"/>
          </a:solidFill>
          <a:ln w="12700">
            <a:solidFill>
              <a:srgbClr val="DDE3E0"/>
            </a:solidFill>
            <a:prstDash val="solid"/>
          </a:ln>
        </p:spPr>
      </p:sp>
      <p:sp>
        <p:nvSpPr>
          <p:cNvPr id="21" name="Text 19"/>
          <p:cNvSpPr/>
          <p:nvPr/>
        </p:nvSpPr>
        <p:spPr>
          <a:xfrm>
            <a:off x="8013700" y="2912021"/>
            <a:ext cx="32702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2202F"/>
                </a:solidFill>
                <a:latin typeface="Noto Sans KR" pitchFamily="34" charset="0"/>
                <a:ea typeface="Noto Sans KR" pitchFamily="34" charset="-122"/>
                <a:cs typeface="Noto Sans KR" pitchFamily="34" charset="-120"/>
              </a:rPr>
              <a:t>후순위</a:t>
            </a:r>
            <a:endParaRPr lang="en-US" sz="1400" dirty="0"/>
          </a:p>
        </p:txBody>
      </p:sp>
      <p:sp>
        <p:nvSpPr>
          <p:cNvPr id="22" name="Text 20"/>
          <p:cNvSpPr/>
          <p:nvPr/>
        </p:nvSpPr>
        <p:spPr>
          <a:xfrm>
            <a:off x="8013700" y="3188841"/>
            <a:ext cx="3270250" cy="521207"/>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4525F"/>
                </a:solidFill>
                <a:latin typeface="Noto Sans KR" pitchFamily="34" charset="0"/>
                <a:ea typeface="Noto Sans KR" pitchFamily="34" charset="-122"/>
                <a:cs typeface="Noto Sans KR" pitchFamily="34" charset="-120"/>
              </a:rPr>
              <a:t>예정 지출 달력 · 목표 · 청년 정책 추천 · 예적금 · 카드 추천 · React Native 앱</a:t>
            </a:r>
            <a:endParaRPr lang="en-US" sz="1300" dirty="0"/>
          </a:p>
        </p:txBody>
      </p:sp>
      <p:sp>
        <p:nvSpPr>
          <p:cNvPr id="23" name="Shape 21"/>
          <p:cNvSpPr/>
          <p:nvPr/>
        </p:nvSpPr>
        <p:spPr>
          <a:xfrm>
            <a:off x="7829550" y="3986784"/>
            <a:ext cx="3543300" cy="1089620"/>
          </a:xfrm>
          <a:prstGeom prst="roundRect">
            <a:avLst>
              <a:gd name="adj" fmla="val 6410"/>
            </a:avLst>
          </a:prstGeom>
          <a:solidFill>
            <a:srgbClr val="FDFDFB"/>
          </a:solidFill>
          <a:ln w="12700">
            <a:solidFill>
              <a:srgbClr val="C9D1CD"/>
            </a:solidFill>
            <a:prstDash val="dash"/>
          </a:ln>
        </p:spPr>
      </p:sp>
      <p:sp>
        <p:nvSpPr>
          <p:cNvPr id="24" name="Text 22"/>
          <p:cNvSpPr/>
          <p:nvPr/>
        </p:nvSpPr>
        <p:spPr>
          <a:xfrm>
            <a:off x="8013700" y="4142232"/>
            <a:ext cx="32702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A7782"/>
                </a:solidFill>
                <a:latin typeface="Noto Sans KR" pitchFamily="34" charset="0"/>
                <a:ea typeface="Noto Sans KR" pitchFamily="34" charset="-122"/>
                <a:cs typeface="Noto Sans KR" pitchFamily="34" charset="-120"/>
              </a:rPr>
              <a:t>제외</a:t>
            </a:r>
            <a:endParaRPr lang="en-US" sz="1400" dirty="0"/>
          </a:p>
        </p:txBody>
      </p:sp>
      <p:sp>
        <p:nvSpPr>
          <p:cNvPr id="25" name="Text 23"/>
          <p:cNvSpPr/>
          <p:nvPr/>
        </p:nvSpPr>
        <p:spPr>
          <a:xfrm>
            <a:off x="8013700" y="4416552"/>
            <a:ext cx="327025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4525F"/>
                </a:solidFill>
                <a:latin typeface="Noto Sans KR" pitchFamily="34" charset="0"/>
                <a:ea typeface="Noto Sans KR" pitchFamily="34" charset="-122"/>
                <a:cs typeface="Noto Sans KR" pitchFamily="34" charset="-120"/>
              </a:rPr>
              <a:t>공동 결제 정산 · 출금 계좌 잔액 부족 알림 · 구매 상담</a:t>
            </a:r>
            <a:endParaRPr lang="en-US" sz="1300" dirty="0"/>
          </a:p>
        </p:txBody>
      </p:sp>
      <p:sp>
        <p:nvSpPr>
          <p:cNvPr id="26" name="Text 2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01 · 시스템 구성</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시스템 구성도</a:t>
            </a:r>
            <a:endParaRPr lang="en-US" sz="2800" dirty="0"/>
          </a:p>
        </p:txBody>
      </p:sp>
      <p:sp>
        <p:nvSpPr>
          <p:cNvPr id="4" name="Shape 2"/>
          <p:cNvSpPr/>
          <p:nvPr/>
        </p:nvSpPr>
        <p:spPr>
          <a:xfrm>
            <a:off x="819150" y="1720800"/>
            <a:ext cx="10553700" cy="4114850"/>
          </a:xfrm>
          <a:prstGeom prst="roundRect">
            <a:avLst>
              <a:gd name="adj" fmla="val 2315"/>
            </a:avLst>
          </a:prstGeom>
          <a:solidFill>
            <a:srgbClr val="FDFDFB"/>
          </a:solidFill>
          <a:ln w="12700">
            <a:solidFill>
              <a:srgbClr val="DDE3E0"/>
            </a:solidFill>
            <a:prstDash val="solid"/>
          </a:ln>
        </p:spPr>
      </p:sp>
      <p:pic>
        <p:nvPicPr>
          <p:cNvPr id="5" name="Image 0" descr="머니쿠션 시스템 구성도: 모바일 웹(React) → API 서버(FastAPI·Cognito, 규칙 라우터, SQS→AI Worker) → AI 에이전트 4개와 계산 엔진·ML → 데이터(PostgreSQL, 벡터 DB, S3, CloudWatch), 하단에 외부 데이터·API">    </p:cNvPr>
          <p:cNvPicPr>
            <a:picLocks noChangeAspect="1"/>
          </p:cNvPicPr>
          <p:nvPr/>
        </p:nvPicPr>
        <p:blipFill>
          <a:blip r:embed="rId1"/>
          <a:srcRect l="-15215" r="-15215" t="0" b="0"/>
          <a:stretch/>
        </p:blipFill>
        <p:spPr>
          <a:xfrm>
            <a:off x="1016000" y="1904950"/>
            <a:ext cx="10160000" cy="3746500"/>
          </a:xfrm>
          <a:prstGeom prst="rect">
            <a:avLst/>
          </a:prstGeom>
        </p:spPr>
      </p:pic>
      <p:sp>
        <p:nvSpPr>
          <p:cNvPr id="6" name="Text 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단순 조회는 LLM 없이 즉시 · 판단이 필요한 요청만 작업 큐 → AI Worker</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01 · 멀티에이전트 구성</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규칙 라우터 + 에이전트 4개</a:t>
            </a:r>
            <a:endParaRPr lang="en-US" sz="2800" dirty="0"/>
          </a:p>
        </p:txBody>
      </p:sp>
      <p:sp>
        <p:nvSpPr>
          <p:cNvPr id="4" name="Shape 2"/>
          <p:cNvSpPr/>
          <p:nvPr/>
        </p:nvSpPr>
        <p:spPr>
          <a:xfrm>
            <a:off x="812800" y="1714450"/>
            <a:ext cx="10566400" cy="528290"/>
          </a:xfrm>
          <a:prstGeom prst="roundRect">
            <a:avLst>
              <a:gd name="adj" fmla="val 16828"/>
            </a:avLst>
          </a:prstGeom>
          <a:solidFill>
            <a:srgbClr val="12202F"/>
          </a:solidFill>
          <a:ln/>
        </p:spPr>
      </p:sp>
      <p:sp>
        <p:nvSpPr>
          <p:cNvPr id="5" name="Text 3"/>
          <p:cNvSpPr/>
          <p:nvPr/>
        </p:nvSpPr>
        <p:spPr>
          <a:xfrm>
            <a:off x="1016000" y="1854150"/>
            <a:ext cx="1043384"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FFD700"/>
                </a:solidFill>
                <a:latin typeface="Noto Sans KR" pitchFamily="34" charset="0"/>
                <a:ea typeface="Noto Sans KR" pitchFamily="34" charset="-122"/>
                <a:cs typeface="Noto Sans KR" pitchFamily="34" charset="-120"/>
              </a:rPr>
              <a:t>라우터 (규칙)</a:t>
            </a:r>
            <a:endParaRPr lang="en-US" sz="1400" dirty="0"/>
          </a:p>
        </p:txBody>
      </p:sp>
      <p:sp>
        <p:nvSpPr>
          <p:cNvPr id="6" name="Text 4"/>
          <p:cNvSpPr/>
          <p:nvPr/>
        </p:nvSpPr>
        <p:spPr>
          <a:xfrm>
            <a:off x="2186384" y="1863030"/>
            <a:ext cx="470820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CE6EA"/>
                </a:solidFill>
                <a:latin typeface="Noto Sans KR" pitchFamily="34" charset="0"/>
                <a:ea typeface="Noto Sans KR" pitchFamily="34" charset="-122"/>
                <a:cs typeface="Noto Sans KR" pitchFamily="34" charset="-120"/>
              </a:rPr>
              <a:t>버튼 · 진입점으로 담당 에이전트와 모드 지정 — LLM 없음</a:t>
            </a:r>
            <a:endParaRPr lang="en-US" sz="1300" dirty="0"/>
          </a:p>
        </p:txBody>
      </p:sp>
      <p:sp>
        <p:nvSpPr>
          <p:cNvPr id="7" name="Shape 5"/>
          <p:cNvSpPr/>
          <p:nvPr/>
        </p:nvSpPr>
        <p:spPr>
          <a:xfrm>
            <a:off x="819150" y="2452291"/>
            <a:ext cx="2533650" cy="3383359"/>
          </a:xfrm>
          <a:prstGeom prst="roundRect">
            <a:avLst>
              <a:gd name="adj" fmla="val 3258"/>
            </a:avLst>
          </a:prstGeom>
          <a:solidFill>
            <a:srgbClr val="FDFDFB"/>
          </a:solidFill>
          <a:ln w="12700">
            <a:solidFill>
              <a:srgbClr val="DDE3E0"/>
            </a:solidFill>
            <a:prstDash val="solid"/>
          </a:ln>
        </p:spPr>
      </p:sp>
      <p:sp>
        <p:nvSpPr>
          <p:cNvPr id="8" name="Text 6"/>
          <p:cNvSpPr/>
          <p:nvPr/>
        </p:nvSpPr>
        <p:spPr>
          <a:xfrm>
            <a:off x="1003300" y="2636441"/>
            <a:ext cx="22303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Noto Sans KR" pitchFamily="34" charset="0"/>
                <a:ea typeface="Noto Sans KR" pitchFamily="34" charset="-122"/>
                <a:cs typeface="Noto Sans KR" pitchFamily="34" charset="-120"/>
              </a:rPr>
              <a:t>① 거래 분류</a:t>
            </a:r>
            <a:endParaRPr lang="en-US" sz="1600" dirty="0"/>
          </a:p>
        </p:txBody>
      </p:sp>
      <p:sp>
        <p:nvSpPr>
          <p:cNvPr id="9" name="Text 7"/>
          <p:cNvSpPr/>
          <p:nvPr/>
        </p:nvSpPr>
        <p:spPr>
          <a:xfrm>
            <a:off x="1003300" y="29437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ML 1차 분류</a:t>
            </a:r>
            <a:endParaRPr lang="en-US" sz="1200" dirty="0"/>
          </a:p>
        </p:txBody>
      </p:sp>
      <p:sp>
        <p:nvSpPr>
          <p:cNvPr id="10" name="Text 8"/>
          <p:cNvSpPr/>
          <p:nvPr/>
        </p:nvSpPr>
        <p:spPr>
          <a:xfrm>
            <a:off x="1003300" y="32358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 확신도 낮으면</a:t>
            </a:r>
            <a:endParaRPr lang="en-US" sz="1200" dirty="0"/>
          </a:p>
        </p:txBody>
      </p:sp>
      <p:sp>
        <p:nvSpPr>
          <p:cNvPr id="11" name="Text 9"/>
          <p:cNvSpPr/>
          <p:nvPr/>
        </p:nvSpPr>
        <p:spPr>
          <a:xfrm>
            <a:off x="1003300" y="35279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검색 · 지도 + LLM 판단</a:t>
            </a:r>
            <a:endParaRPr lang="en-US" sz="1200" dirty="0"/>
          </a:p>
        </p:txBody>
      </p:sp>
      <p:sp>
        <p:nvSpPr>
          <p:cNvPr id="12" name="Text 10"/>
          <p:cNvSpPr/>
          <p:nvPr/>
        </p:nvSpPr>
        <p:spPr>
          <a:xfrm>
            <a:off x="1003300" y="38200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 불명확하면</a:t>
            </a:r>
            <a:endParaRPr lang="en-US" sz="1200" dirty="0"/>
          </a:p>
        </p:txBody>
      </p:sp>
      <p:sp>
        <p:nvSpPr>
          <p:cNvPr id="13" name="Text 11"/>
          <p:cNvSpPr/>
          <p:nvPr/>
        </p:nvSpPr>
        <p:spPr>
          <a:xfrm>
            <a:off x="1003300" y="41121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사용자 확인</a:t>
            </a:r>
            <a:endParaRPr lang="en-US" sz="1200" dirty="0"/>
          </a:p>
        </p:txBody>
      </p:sp>
      <p:sp>
        <p:nvSpPr>
          <p:cNvPr id="14" name="Shape 12"/>
          <p:cNvSpPr/>
          <p:nvPr/>
        </p:nvSpPr>
        <p:spPr>
          <a:xfrm>
            <a:off x="3492500" y="2452291"/>
            <a:ext cx="2533650" cy="3383359"/>
          </a:xfrm>
          <a:prstGeom prst="roundRect">
            <a:avLst>
              <a:gd name="adj" fmla="val 3258"/>
            </a:avLst>
          </a:prstGeom>
          <a:solidFill>
            <a:srgbClr val="FDFDFB"/>
          </a:solidFill>
          <a:ln w="12700">
            <a:solidFill>
              <a:srgbClr val="DDE3E0"/>
            </a:solidFill>
            <a:prstDash val="solid"/>
          </a:ln>
        </p:spPr>
      </p:sp>
      <p:sp>
        <p:nvSpPr>
          <p:cNvPr id="15" name="Text 13"/>
          <p:cNvSpPr/>
          <p:nvPr/>
        </p:nvSpPr>
        <p:spPr>
          <a:xfrm>
            <a:off x="3676650" y="2636441"/>
            <a:ext cx="22303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Noto Sans KR" pitchFamily="34" charset="0"/>
                <a:ea typeface="Noto Sans KR" pitchFamily="34" charset="-122"/>
                <a:cs typeface="Noto Sans KR" pitchFamily="34" charset="-120"/>
              </a:rPr>
              <a:t>② 예산 설계</a:t>
            </a:r>
            <a:endParaRPr lang="en-US" sz="1600" dirty="0"/>
          </a:p>
        </p:txBody>
      </p:sp>
      <p:sp>
        <p:nvSpPr>
          <p:cNvPr id="16" name="Text 14"/>
          <p:cNvSpPr/>
          <p:nvPr/>
        </p:nvSpPr>
        <p:spPr>
          <a:xfrm>
            <a:off x="3676650" y="29437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규칙 비율</a:t>
            </a:r>
            <a:endParaRPr lang="en-US" sz="1200" dirty="0"/>
          </a:p>
        </p:txBody>
      </p:sp>
      <p:sp>
        <p:nvSpPr>
          <p:cNvPr id="17" name="Text 15"/>
          <p:cNvSpPr/>
          <p:nvPr/>
        </p:nvSpPr>
        <p:spPr>
          <a:xfrm>
            <a:off x="3676650" y="32358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a:t>
            </a:r>
            <a:endParaRPr lang="en-US" sz="1200" dirty="0"/>
          </a:p>
        </p:txBody>
      </p:sp>
      <p:sp>
        <p:nvSpPr>
          <p:cNvPr id="18" name="Text 16"/>
          <p:cNvSpPr/>
          <p:nvPr/>
        </p:nvSpPr>
        <p:spPr>
          <a:xfrm>
            <a:off x="3676650" y="35279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ML 카테고리 비율</a:t>
            </a:r>
            <a:endParaRPr lang="en-US" sz="1200" dirty="0"/>
          </a:p>
        </p:txBody>
      </p:sp>
      <p:sp>
        <p:nvSpPr>
          <p:cNvPr id="19" name="Text 17"/>
          <p:cNvSpPr/>
          <p:nvPr/>
        </p:nvSpPr>
        <p:spPr>
          <a:xfrm>
            <a:off x="3676650" y="38200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a:t>
            </a:r>
            <a:endParaRPr lang="en-US" sz="1200" dirty="0"/>
          </a:p>
        </p:txBody>
      </p:sp>
      <p:sp>
        <p:nvSpPr>
          <p:cNvPr id="20" name="Text 18"/>
          <p:cNvSpPr/>
          <p:nvPr/>
        </p:nvSpPr>
        <p:spPr>
          <a:xfrm>
            <a:off x="3676650" y="41121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LLM 보정 → 엔진 검증</a:t>
            </a:r>
            <a:endParaRPr lang="en-US" sz="1200" dirty="0"/>
          </a:p>
        </p:txBody>
      </p:sp>
      <p:sp>
        <p:nvSpPr>
          <p:cNvPr id="21" name="Shape 19"/>
          <p:cNvSpPr/>
          <p:nvPr/>
        </p:nvSpPr>
        <p:spPr>
          <a:xfrm>
            <a:off x="6165850" y="2452291"/>
            <a:ext cx="2533650" cy="3383359"/>
          </a:xfrm>
          <a:prstGeom prst="roundRect">
            <a:avLst>
              <a:gd name="adj" fmla="val 3258"/>
            </a:avLst>
          </a:prstGeom>
          <a:solidFill>
            <a:srgbClr val="FDFDFB"/>
          </a:solidFill>
          <a:ln w="12700">
            <a:solidFill>
              <a:srgbClr val="DDE3E0"/>
            </a:solidFill>
            <a:prstDash val="solid"/>
          </a:ln>
        </p:spPr>
      </p:sp>
      <p:sp>
        <p:nvSpPr>
          <p:cNvPr id="22" name="Text 20"/>
          <p:cNvSpPr/>
          <p:nvPr/>
        </p:nvSpPr>
        <p:spPr>
          <a:xfrm>
            <a:off x="6350000" y="2636441"/>
            <a:ext cx="22303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Noto Sans KR" pitchFamily="34" charset="0"/>
                <a:ea typeface="Noto Sans KR" pitchFamily="34" charset="-122"/>
                <a:cs typeface="Noto Sans KR" pitchFamily="34" charset="-120"/>
              </a:rPr>
              <a:t>③ 예산 조정</a:t>
            </a:r>
            <a:endParaRPr lang="en-US" sz="1600" dirty="0"/>
          </a:p>
        </p:txBody>
      </p:sp>
      <p:sp>
        <p:nvSpPr>
          <p:cNvPr id="23" name="Text 21"/>
          <p:cNvSpPr/>
          <p:nvPr/>
        </p:nvSpPr>
        <p:spPr>
          <a:xfrm>
            <a:off x="6350000" y="29437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엔진: 조정 가능 금액</a:t>
            </a:r>
            <a:endParaRPr lang="en-US" sz="1200" dirty="0"/>
          </a:p>
        </p:txBody>
      </p:sp>
      <p:sp>
        <p:nvSpPr>
          <p:cNvPr id="24" name="Text 22"/>
          <p:cNvSpPr/>
          <p:nvPr/>
        </p:nvSpPr>
        <p:spPr>
          <a:xfrm>
            <a:off x="6350000" y="32358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a:t>
            </a:r>
            <a:endParaRPr lang="en-US" sz="1200" dirty="0"/>
          </a:p>
        </p:txBody>
      </p:sp>
      <p:sp>
        <p:nvSpPr>
          <p:cNvPr id="25" name="Text 23"/>
          <p:cNvSpPr/>
          <p:nvPr/>
        </p:nvSpPr>
        <p:spPr>
          <a:xfrm>
            <a:off x="6350000" y="35279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LLM 재분배안</a:t>
            </a:r>
            <a:endParaRPr lang="en-US" sz="1200" dirty="0"/>
          </a:p>
        </p:txBody>
      </p:sp>
      <p:sp>
        <p:nvSpPr>
          <p:cNvPr id="26" name="Text 24"/>
          <p:cNvSpPr/>
          <p:nvPr/>
        </p:nvSpPr>
        <p:spPr>
          <a:xfrm>
            <a:off x="6350000" y="38200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a:t>
            </a:r>
            <a:endParaRPr lang="en-US" sz="1200" dirty="0"/>
          </a:p>
        </p:txBody>
      </p:sp>
      <p:sp>
        <p:nvSpPr>
          <p:cNvPr id="27" name="Text 25"/>
          <p:cNvSpPr/>
          <p:nvPr/>
        </p:nvSpPr>
        <p:spPr>
          <a:xfrm>
            <a:off x="6350000" y="41121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엔진 검수 → 승인</a:t>
            </a:r>
            <a:endParaRPr lang="en-US" sz="1200" dirty="0"/>
          </a:p>
        </p:txBody>
      </p:sp>
      <p:sp>
        <p:nvSpPr>
          <p:cNvPr id="28" name="Shape 26"/>
          <p:cNvSpPr/>
          <p:nvPr/>
        </p:nvSpPr>
        <p:spPr>
          <a:xfrm>
            <a:off x="8839200" y="2452291"/>
            <a:ext cx="2533650" cy="3383359"/>
          </a:xfrm>
          <a:prstGeom prst="roundRect">
            <a:avLst>
              <a:gd name="adj" fmla="val 3258"/>
            </a:avLst>
          </a:prstGeom>
          <a:solidFill>
            <a:srgbClr val="FDFDFB"/>
          </a:solidFill>
          <a:ln w="12700">
            <a:solidFill>
              <a:srgbClr val="DDE3E0"/>
            </a:solidFill>
            <a:prstDash val="solid"/>
          </a:ln>
        </p:spPr>
      </p:sp>
      <p:sp>
        <p:nvSpPr>
          <p:cNvPr id="29" name="Text 27"/>
          <p:cNvSpPr/>
          <p:nvPr/>
        </p:nvSpPr>
        <p:spPr>
          <a:xfrm>
            <a:off x="9023350" y="2636441"/>
            <a:ext cx="22303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Noto Sans KR" pitchFamily="34" charset="0"/>
                <a:ea typeface="Noto Sans KR" pitchFamily="34" charset="-122"/>
                <a:cs typeface="Noto Sans KR" pitchFamily="34" charset="-120"/>
              </a:rPr>
              <a:t>④ 큰 지출 상담 (3차)</a:t>
            </a:r>
            <a:endParaRPr lang="en-US" sz="1600" dirty="0"/>
          </a:p>
        </p:txBody>
      </p:sp>
      <p:sp>
        <p:nvSpPr>
          <p:cNvPr id="30" name="Text 28"/>
          <p:cNvSpPr/>
          <p:nvPr/>
        </p:nvSpPr>
        <p:spPr>
          <a:xfrm>
            <a:off x="9023350" y="29437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엔진: 부족 금액</a:t>
            </a:r>
            <a:endParaRPr lang="en-US" sz="1200" dirty="0"/>
          </a:p>
        </p:txBody>
      </p:sp>
      <p:sp>
        <p:nvSpPr>
          <p:cNvPr id="31" name="Text 29"/>
          <p:cNvSpPr/>
          <p:nvPr/>
        </p:nvSpPr>
        <p:spPr>
          <a:xfrm>
            <a:off x="9023350" y="32358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 동의 시</a:t>
            </a:r>
            <a:endParaRPr lang="en-US" sz="1200" dirty="0"/>
          </a:p>
        </p:txBody>
      </p:sp>
      <p:sp>
        <p:nvSpPr>
          <p:cNvPr id="32" name="Text 30"/>
          <p:cNvSpPr/>
          <p:nvPr/>
        </p:nvSpPr>
        <p:spPr>
          <a:xfrm>
            <a:off x="9023350" y="35279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④-1 복지 검색</a:t>
            </a:r>
            <a:endParaRPr lang="en-US" sz="1200" dirty="0"/>
          </a:p>
        </p:txBody>
      </p:sp>
      <p:sp>
        <p:nvSpPr>
          <p:cNvPr id="33" name="Text 31"/>
          <p:cNvSpPr/>
          <p:nvPr/>
        </p:nvSpPr>
        <p:spPr>
          <a:xfrm>
            <a:off x="9023350" y="38200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 부족 · 동의 시</a:t>
            </a:r>
            <a:endParaRPr lang="en-US" sz="1200" dirty="0"/>
          </a:p>
        </p:txBody>
      </p:sp>
      <p:sp>
        <p:nvSpPr>
          <p:cNvPr id="34" name="Text 32"/>
          <p:cNvSpPr/>
          <p:nvPr/>
        </p:nvSpPr>
        <p:spPr>
          <a:xfrm>
            <a:off x="9023350" y="4112171"/>
            <a:ext cx="223031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④-2 대출 비교</a:t>
            </a:r>
            <a:endParaRPr lang="en-US" sz="1200" dirty="0"/>
          </a:p>
        </p:txBody>
      </p:sp>
      <p:sp>
        <p:nvSpPr>
          <p:cNvPr id="35" name="Text 3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2F"/>
                </a:solidFill>
                <a:latin typeface="Noto Sans KR" pitchFamily="34" charset="0"/>
                <a:ea typeface="Noto Sans KR" pitchFamily="34" charset="-122"/>
                <a:cs typeface="Noto Sans KR" pitchFamily="34" charset="-120"/>
              </a:rPr>
              <a:t>LLM은 금액 확정 · DB 직접 변경을 하지 않음 </a:t>
            </a:r>
            <a:r>
              <a:rPr lang="en-US" sz="1200" b="1" dirty="0">
                <a:solidFill>
                  <a:srgbClr val="8A96A0"/>
                </a:solidFill>
                <a:latin typeface="Noto Sans KR" pitchFamily="34" charset="0"/>
                <a:ea typeface="Noto Sans KR" pitchFamily="34" charset="-122"/>
                <a:cs typeface="Noto Sans KR" pitchFamily="34" charset="-120"/>
              </a:rPr>
              <a:t>· 작업당 LLM 10회 · 재생성 3회 이하</a:t>
            </a:r>
            <a:endParaRPr lang="en-US" sz="1200" dirty="0"/>
          </a:p>
        </p:txBody>
      </p:sp>
      <p:sp>
        <p:nvSpPr>
          <p:cNvPr id="36" name="Text 3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01 · 협업 흐름 예시</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카테고리 예산이 초과되면 이렇게 움직입니다</a:t>
            </a:r>
            <a:endParaRPr lang="en-US" sz="2800" dirty="0"/>
          </a:p>
        </p:txBody>
      </p:sp>
      <p:sp>
        <p:nvSpPr>
          <p:cNvPr id="4" name="Shape 2"/>
          <p:cNvSpPr/>
          <p:nvPr/>
        </p:nvSpPr>
        <p:spPr>
          <a:xfrm>
            <a:off x="819150" y="1695400"/>
            <a:ext cx="10553700" cy="3479800"/>
          </a:xfrm>
          <a:prstGeom prst="roundRect">
            <a:avLst>
              <a:gd name="adj" fmla="val 2737"/>
            </a:avLst>
          </a:prstGeom>
          <a:solidFill>
            <a:srgbClr val="FDFDFB"/>
          </a:solidFill>
          <a:ln w="12700">
            <a:solidFill>
              <a:srgbClr val="DDE3E0"/>
            </a:solidFill>
            <a:prstDash val="solid"/>
          </a:ln>
        </p:spPr>
      </p:sp>
      <p:pic>
        <p:nvPicPr>
          <p:cNvPr id="5" name="Image 0" descr="카테고리 초과 시 흐름: 1 초과 감지 → 2 라우터(규칙) → 3 계산 엔진 → 4 예산 조정(LLM) → 5 엔진 검수 → 6 통합 챗봇 → 7 사용자 승인 → 8 예산 반영. 검수 실패 시 재생성 최대 3회 후 사용자 확인으로 전환">    </p:cNvPr>
          <p:cNvPicPr>
            <a:picLocks noChangeAspect="1"/>
          </p:cNvPicPr>
          <p:nvPr/>
        </p:nvPicPr>
        <p:blipFill>
          <a:blip r:embed="rId1"/>
          <a:srcRect l="-25" r="-25" t="0" b="0"/>
          <a:stretch/>
        </p:blipFill>
        <p:spPr>
          <a:xfrm>
            <a:off x="1524000" y="1828750"/>
            <a:ext cx="9144000" cy="3213100"/>
          </a:xfrm>
          <a:prstGeom prst="rect">
            <a:avLst/>
          </a:prstGeom>
        </p:spPr>
      </p:pic>
      <p:sp>
        <p:nvSpPr>
          <p:cNvPr id="6" name="Text 3"/>
          <p:cNvSpPr/>
          <p:nvPr/>
        </p:nvSpPr>
        <p:spPr>
          <a:xfrm>
            <a:off x="812800" y="5410150"/>
            <a:ext cx="1225947"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2202F"/>
                </a:solidFill>
                <a:latin typeface="Noto Sans KR" pitchFamily="34" charset="0"/>
                <a:ea typeface="Noto Sans KR" pitchFamily="34" charset="-122"/>
                <a:cs typeface="Noto Sans KR" pitchFamily="34" charset="-120"/>
              </a:rPr>
              <a:t>예산 조정 모드 4개</a:t>
            </a:r>
            <a:endParaRPr lang="en-US" sz="1200" dirty="0"/>
          </a:p>
        </p:txBody>
      </p:sp>
      <p:sp>
        <p:nvSpPr>
          <p:cNvPr id="7" name="Text 4"/>
          <p:cNvSpPr/>
          <p:nvPr/>
        </p:nvSpPr>
        <p:spPr>
          <a:xfrm>
            <a:off x="2089547" y="5359350"/>
            <a:ext cx="874316" cy="314920"/>
          </a:xfrm>
          <a:prstGeom prst="roundRect">
            <a:avLst>
              <a:gd name="adj" fmla="val 50000"/>
            </a:avLst>
          </a:prstGeom>
          <a:solidFill>
            <a:srgbClr val="E3F5F1"/>
          </a:solidFill>
          <a:ln/>
        </p:spPr>
        <p:txBody>
          <a:bodyPr wrap="none" lIns="0" tIns="0" rIns="0" bIns="0" rtlCol="0" anchor="ctr">
            <a:normAutofit/>
          </a:bodyPr>
          <a:lstStyle/>
          <a:p>
            <a:pPr algn="ctr" indent="0" marL="0">
              <a:lnSpc>
                <a:spcPts val="1680"/>
              </a:lnSpc>
              <a:buNone/>
            </a:pPr>
            <a:r>
              <a:rPr lang="en-US" sz="1200" dirty="0">
                <a:solidFill>
                  <a:srgbClr val="12202F"/>
                </a:solidFill>
                <a:latin typeface="Noto Sans KR" pitchFamily="34" charset="0"/>
                <a:ea typeface="Noto Sans KR" pitchFamily="34" charset="-122"/>
                <a:cs typeface="Noto Sans KR" pitchFamily="34" charset="-120"/>
              </a:rPr>
              <a:t>최초 조정</a:t>
            </a:r>
            <a:endParaRPr lang="en-US" sz="1200" dirty="0"/>
          </a:p>
        </p:txBody>
      </p:sp>
      <p:sp>
        <p:nvSpPr>
          <p:cNvPr id="8" name="Text 5"/>
          <p:cNvSpPr/>
          <p:nvPr/>
        </p:nvSpPr>
        <p:spPr>
          <a:xfrm>
            <a:off x="3065463" y="5359350"/>
            <a:ext cx="874316" cy="314920"/>
          </a:xfrm>
          <a:prstGeom prst="roundRect">
            <a:avLst>
              <a:gd name="adj" fmla="val 50000"/>
            </a:avLst>
          </a:prstGeom>
          <a:solidFill>
            <a:srgbClr val="E3F5F1"/>
          </a:solidFill>
          <a:ln/>
        </p:spPr>
        <p:txBody>
          <a:bodyPr wrap="none" lIns="0" tIns="0" rIns="0" bIns="0" rtlCol="0" anchor="ctr">
            <a:normAutofit/>
          </a:bodyPr>
          <a:lstStyle/>
          <a:p>
            <a:pPr algn="ctr" indent="0" marL="0">
              <a:lnSpc>
                <a:spcPts val="1680"/>
              </a:lnSpc>
              <a:buNone/>
            </a:pPr>
            <a:r>
              <a:rPr lang="en-US" sz="1200" dirty="0">
                <a:solidFill>
                  <a:srgbClr val="12202F"/>
                </a:solidFill>
                <a:latin typeface="Noto Sans KR" pitchFamily="34" charset="0"/>
                <a:ea typeface="Noto Sans KR" pitchFamily="34" charset="-122"/>
                <a:cs typeface="Noto Sans KR" pitchFamily="34" charset="-120"/>
              </a:rPr>
              <a:t>소액 돌발</a:t>
            </a:r>
            <a:endParaRPr lang="en-US" sz="1200" dirty="0"/>
          </a:p>
        </p:txBody>
      </p:sp>
      <p:sp>
        <p:nvSpPr>
          <p:cNvPr id="9" name="Text 6"/>
          <p:cNvSpPr/>
          <p:nvPr/>
        </p:nvSpPr>
        <p:spPr>
          <a:xfrm>
            <a:off x="4041378" y="5359350"/>
            <a:ext cx="1154757" cy="314920"/>
          </a:xfrm>
          <a:prstGeom prst="roundRect">
            <a:avLst>
              <a:gd name="adj" fmla="val 50000"/>
            </a:avLst>
          </a:prstGeom>
          <a:solidFill>
            <a:srgbClr val="FFF3B0"/>
          </a:solidFill>
          <a:ln/>
        </p:spPr>
        <p:txBody>
          <a:bodyPr wrap="none" lIns="0" tIns="0" rIns="0" bIns="0" rtlCol="0" anchor="ctr">
            <a:normAutofit/>
          </a:bodyPr>
          <a:lstStyle/>
          <a:p>
            <a:pPr algn="ctr" indent="0" marL="0">
              <a:lnSpc>
                <a:spcPts val="1680"/>
              </a:lnSpc>
              <a:buNone/>
            </a:pPr>
            <a:r>
              <a:rPr lang="en-US" sz="1200" dirty="0">
                <a:solidFill>
                  <a:srgbClr val="12202F"/>
                </a:solidFill>
                <a:latin typeface="Noto Sans KR" pitchFamily="34" charset="0"/>
                <a:ea typeface="Noto Sans KR" pitchFamily="34" charset="-122"/>
                <a:cs typeface="Noto Sans KR" pitchFamily="34" charset="-120"/>
              </a:rPr>
              <a:t>카테고리 초과</a:t>
            </a:r>
            <a:endParaRPr lang="en-US" sz="1200" dirty="0"/>
          </a:p>
        </p:txBody>
      </p:sp>
      <p:sp>
        <p:nvSpPr>
          <p:cNvPr id="10" name="Text 7"/>
          <p:cNvSpPr/>
          <p:nvPr/>
        </p:nvSpPr>
        <p:spPr>
          <a:xfrm>
            <a:off x="5297736" y="5359350"/>
            <a:ext cx="874316" cy="314920"/>
          </a:xfrm>
          <a:prstGeom prst="roundRect">
            <a:avLst>
              <a:gd name="adj" fmla="val 50000"/>
            </a:avLst>
          </a:prstGeom>
          <a:solidFill>
            <a:srgbClr val="E3F5F1"/>
          </a:solidFill>
          <a:ln/>
        </p:spPr>
        <p:txBody>
          <a:bodyPr wrap="none" lIns="0" tIns="0" rIns="0" bIns="0" rtlCol="0" anchor="ctr">
            <a:normAutofit/>
          </a:bodyPr>
          <a:lstStyle/>
          <a:p>
            <a:pPr algn="ctr" indent="0" marL="0">
              <a:lnSpc>
                <a:spcPts val="1680"/>
              </a:lnSpc>
              <a:buNone/>
            </a:pPr>
            <a:r>
              <a:rPr lang="en-US" sz="1200" dirty="0">
                <a:solidFill>
                  <a:srgbClr val="12202F"/>
                </a:solidFill>
                <a:latin typeface="Noto Sans KR" pitchFamily="34" charset="0"/>
                <a:ea typeface="Noto Sans KR" pitchFamily="34" charset="-122"/>
                <a:cs typeface="Noto Sans KR" pitchFamily="34" charset="-120"/>
              </a:rPr>
              <a:t>평소 조정</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01 · 모델링 계획</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ML 모델 3종 — 기준선 대비 성능 검증</a:t>
            </a:r>
            <a:endParaRPr lang="en-US" sz="2800" dirty="0"/>
          </a:p>
        </p:txBody>
      </p:sp>
      <p:sp>
        <p:nvSpPr>
          <p:cNvPr id="4" name="Shape 2"/>
          <p:cNvSpPr/>
          <p:nvPr/>
        </p:nvSpPr>
        <p:spPr>
          <a:xfrm>
            <a:off x="812800" y="1765250"/>
            <a:ext cx="10566400" cy="3154611"/>
          </a:xfrm>
          <a:prstGeom prst="roundRect">
            <a:avLst>
              <a:gd name="adj" fmla="val 3221"/>
            </a:avLst>
          </a:prstGeom>
          <a:solidFill>
            <a:srgbClr val="FDFDFB"/>
          </a:solidFill>
          <a:ln/>
        </p:spPr>
      </p:sp>
      <p:sp>
        <p:nvSpPr>
          <p:cNvPr id="5" name="Shape 3"/>
          <p:cNvSpPr/>
          <p:nvPr/>
        </p:nvSpPr>
        <p:spPr>
          <a:xfrm>
            <a:off x="812800" y="1765250"/>
            <a:ext cx="10566400" cy="3154611"/>
          </a:xfrm>
          <a:custGeom>
            <a:avLst/>
            <a:gdLst/>
            <a:ahLst/>
            <a:cxnLst/>
            <a:rect l="l" t="t" r="r" b="b"/>
            <a:pathLst>
              <a:path w="10566400" h="3154611">
                <a:moveTo>
                  <a:pt x="10464800" y="0"/>
                </a:moveTo>
                <a:lnTo>
                  <a:pt x="10464800" y="0"/>
                </a:lnTo>
                <a:arcTo hR="101600" wR="101600" stAng="16200000" swAng="5400000"/>
                <a:lnTo>
                  <a:pt x="10566400" y="3053011"/>
                </a:lnTo>
                <a:arcTo hR="101600" wR="101600" stAng="0" swAng="5400000"/>
                <a:lnTo>
                  <a:pt x="101600" y="3154611"/>
                </a:lnTo>
                <a:arcTo hR="101600" wR="101600" stAng="5400000" swAng="5400000"/>
                <a:lnTo>
                  <a:pt x="0" y="3053011"/>
                </a:lnTo>
                <a:arcTo hR="88900" wR="101600" stAng="10800000" swAng="-5400000"/>
                <a:lnTo>
                  <a:pt x="10464800" y="3141911"/>
                </a:lnTo>
                <a:arcTo hR="88900" wR="88900" stAng="5400000" swAng="-5400000"/>
                <a:lnTo>
                  <a:pt x="10553700" y="101600"/>
                </a:lnTo>
                <a:arcTo hR="101600" wR="88900" stAng="0" swAng="-5400000"/>
                <a:close/>
              </a:path>
            </a:pathLst>
          </a:custGeom>
          <a:solidFill>
            <a:srgbClr val="DDE3E0"/>
          </a:solidFill>
          <a:ln/>
        </p:spPr>
      </p:sp>
      <p:sp>
        <p:nvSpPr>
          <p:cNvPr id="6" name="Shape 4"/>
          <p:cNvSpPr/>
          <p:nvPr/>
        </p:nvSpPr>
        <p:spPr>
          <a:xfrm>
            <a:off x="812800" y="1765250"/>
            <a:ext cx="10566400" cy="3154611"/>
          </a:xfrm>
          <a:custGeom>
            <a:avLst/>
            <a:gdLst/>
            <a:ahLst/>
            <a:cxnLst/>
            <a:rect l="l" t="t" r="r" b="b"/>
            <a:pathLst>
              <a:path w="10566400" h="3154611">
                <a:moveTo>
                  <a:pt x="101600" y="3154611"/>
                </a:moveTo>
                <a:lnTo>
                  <a:pt x="101600" y="3154611"/>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3053011"/>
                </a:lnTo>
                <a:arcTo hR="101600" wR="889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777950"/>
          <a:ext cx="10541000" cy="3129211"/>
        </p:xfrm>
        <a:graphic>
          <a:graphicData uri="http://schemas.openxmlformats.org/drawingml/2006/table">
            <a:tbl>
              <a:tblPr/>
              <a:tblGrid>
                <a:gridCol w="1686560"/>
                <a:gridCol w="3162300"/>
                <a:gridCol w="2846070"/>
                <a:gridCol w="2846070"/>
              </a:tblGrid>
              <a:tr h="447030">
                <a:tc>
                  <a:txBody>
                    <a:bodyPr/>
                    <a:lstStyle/>
                    <a:p>
                      <a:pPr indent="0" marL="0">
                        <a:lnSpc>
                          <a:spcPts val="1820"/>
                        </a:lnSpc>
                        <a:buNone/>
                      </a:pPr>
                      <a:endParaRPr lang="en-US" sz="1300" dirty="0">
                        <a:latin typeface="Noto Sans KR" charset="0"/>
                        <a:ea typeface="Noto Sans KR" charset="0"/>
                        <a:cs typeface="Noto Sans KR" charset="0"/>
                      </a:endParaRPr>
                    </a:p>
                  </a:txBody>
                  <a:tcPr marL="152400" marR="152400" marT="101600" marB="101600" anchor="t">
                    <a:lnL w="0" cap="flat" cmpd="sng" algn="ctr">
                      <a:noFill/>
                    </a:lnL>
                    <a:lnR w="12700" cap="flat" cmpd="sng" algn="ctr">
                      <a:solidFill>
                        <a:srgbClr val="121D29"/>
                      </a:solidFill>
                      <a:prstDash val="solid"/>
                      <a:round/>
                      <a:headEnd type="none" w="med" len="med"/>
                      <a:tailEnd type="none" w="med" len="med"/>
                    </a:lnR>
                    <a:lnT w="0" cap="flat" cmpd="sng" algn="ctr">
                      <a:noFill/>
                    </a:lnT>
                    <a:lnB w="12700" cap="flat" cmpd="sng" algn="ctr">
                      <a:solidFill>
                        <a:srgbClr val="121D29"/>
                      </a:solidFill>
                      <a:prstDash val="solid"/>
                      <a:round/>
                      <a:headEnd type="none" w="med" len="med"/>
                      <a:tailEnd type="none" w="med" len="med"/>
                    </a:lnB>
                    <a:solidFill>
                      <a:srgbClr val="12202F"/>
                    </a:solidFill>
                  </a:tcPr>
                </a:tc>
                <a:tc>
                  <a:txBody>
                    <a:bodyPr/>
                    <a:lstStyle/>
                    <a:p>
                      <a:pPr indent="0" marL="0">
                        <a:lnSpc>
                          <a:spcPts val="1820"/>
                        </a:lnSpc>
                        <a:buNone/>
                      </a:pPr>
                      <a:r>
                        <a:rPr lang="en-US" sz="1300" b="1" dirty="0">
                          <a:solidFill>
                            <a:srgbClr val="FFD700"/>
                          </a:solidFill>
                          <a:latin typeface="Noto Sans KR" pitchFamily="34" charset="0"/>
                          <a:ea typeface="Noto Sans KR" pitchFamily="34" charset="-122"/>
                          <a:cs typeface="Noto Sans KR" pitchFamily="34" charset="-120"/>
                        </a:rPr>
                        <a:t>거래 분류</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0" cap="flat" cmpd="sng" algn="ctr">
                      <a:noFill/>
                    </a:lnT>
                    <a:lnB w="12700" cap="flat" cmpd="sng" algn="ctr">
                      <a:solidFill>
                        <a:srgbClr val="121D29"/>
                      </a:solidFill>
                      <a:prstDash val="solid"/>
                      <a:round/>
                      <a:headEnd type="none" w="med" len="med"/>
                      <a:tailEnd type="none" w="med" len="med"/>
                    </a:lnB>
                    <a:solidFill>
                      <a:srgbClr val="12202F"/>
                    </a:solidFill>
                  </a:tcPr>
                </a:tc>
                <a:tc>
                  <a:txBody>
                    <a:bodyPr/>
                    <a:lstStyle/>
                    <a:p>
                      <a:pPr indent="0" marL="0">
                        <a:lnSpc>
                          <a:spcPts val="1820"/>
                        </a:lnSpc>
                        <a:buNone/>
                      </a:pPr>
                      <a:r>
                        <a:rPr lang="en-US" sz="1300" b="1" dirty="0">
                          <a:solidFill>
                            <a:srgbClr val="F6F7F3"/>
                          </a:solidFill>
                          <a:latin typeface="Noto Sans KR" pitchFamily="34" charset="0"/>
                          <a:ea typeface="Noto Sans KR" pitchFamily="34" charset="-122"/>
                          <a:cs typeface="Noto Sans KR" pitchFamily="34" charset="-120"/>
                        </a:rPr>
                        <a:t>카테고리 비율 예측</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0" cap="flat" cmpd="sng" algn="ctr">
                      <a:noFill/>
                    </a:lnT>
                    <a:lnB w="12700" cap="flat" cmpd="sng" algn="ctr">
                      <a:solidFill>
                        <a:srgbClr val="121D29"/>
                      </a:solidFill>
                      <a:prstDash val="solid"/>
                      <a:round/>
                      <a:headEnd type="none" w="med" len="med"/>
                      <a:tailEnd type="none" w="med" len="med"/>
                    </a:lnB>
                    <a:solidFill>
                      <a:srgbClr val="12202F"/>
                    </a:solidFill>
                  </a:tcPr>
                </a:tc>
                <a:tc>
                  <a:txBody>
                    <a:bodyPr/>
                    <a:lstStyle/>
                    <a:p>
                      <a:pPr indent="0" marL="0">
                        <a:lnSpc>
                          <a:spcPts val="1820"/>
                        </a:lnSpc>
                        <a:buNone/>
                      </a:pPr>
                      <a:r>
                        <a:rPr lang="en-US" sz="1300" b="1" dirty="0">
                          <a:solidFill>
                            <a:srgbClr val="F6F7F3"/>
                          </a:solidFill>
                          <a:latin typeface="Noto Sans KR" pitchFamily="34" charset="0"/>
                          <a:ea typeface="Noto Sans KR" pitchFamily="34" charset="-122"/>
                          <a:cs typeface="Noto Sans KR" pitchFamily="34" charset="-120"/>
                        </a:rPr>
                        <a:t>또래 비교 회귀 (2차)</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0" cap="flat" cmpd="sng" algn="ctr">
                      <a:noFill/>
                    </a:lnT>
                    <a:lnB w="12700" cap="flat" cmpd="sng" algn="ctr">
                      <a:solidFill>
                        <a:srgbClr val="121D29"/>
                      </a:solidFill>
                      <a:prstDash val="solid"/>
                      <a:round/>
                      <a:headEnd type="none" w="med" len="med"/>
                      <a:tailEnd type="none" w="med" len="med"/>
                    </a:lnB>
                    <a:solidFill>
                      <a:srgbClr val="12202F"/>
                    </a:solidFill>
                  </a:tcPr>
                </a:tc>
              </a:tr>
              <a:tr h="447030">
                <a:tc>
                  <a:txBody>
                    <a:bodyPr/>
                    <a:lstStyle/>
                    <a:p>
                      <a:pPr indent="0" marL="0">
                        <a:lnSpc>
                          <a:spcPts val="1820"/>
                        </a:lnSpc>
                        <a:buNone/>
                      </a:pPr>
                      <a:r>
                        <a:rPr lang="en-US" sz="1300" dirty="0">
                          <a:solidFill>
                            <a:srgbClr val="00806E"/>
                          </a:solidFill>
                          <a:latin typeface="Noto Sans KR" pitchFamily="34" charset="0"/>
                          <a:ea typeface="Noto Sans KR" pitchFamily="34" charset="-122"/>
                          <a:cs typeface="Noto Sans KR" pitchFamily="34" charset="-120"/>
                        </a:rPr>
                        <a:t>쓰임</a:t>
                      </a:r>
                      <a:endParaRPr lang="en-US" sz="1300" dirty="0">
                        <a:latin typeface="Noto Sans KR" charset="0"/>
                        <a:ea typeface="Noto Sans KR" charset="0"/>
                        <a:cs typeface="Noto Sans KR" charset="0"/>
                      </a:endParaRPr>
                    </a:p>
                  </a:txBody>
                  <a:tcPr marL="152400" marR="152400" marT="101600" marB="101600" anchor="t">
                    <a:lnL w="0" cap="flat" cmpd="sng" algn="ctr">
                      <a:noFill/>
                    </a:lnL>
                    <a:lnR w="12700" cap="flat" cmpd="sng" algn="ctr">
                      <a:solidFill>
                        <a:srgbClr val="CACAC8"/>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거래 카테고리 분류</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예산 설계</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소비 리포트</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447030">
                <a:tc>
                  <a:txBody>
                    <a:bodyPr/>
                    <a:lstStyle/>
                    <a:p>
                      <a:pPr indent="0" marL="0">
                        <a:lnSpc>
                          <a:spcPts val="1820"/>
                        </a:lnSpc>
                        <a:buNone/>
                      </a:pPr>
                      <a:r>
                        <a:rPr lang="en-US" sz="1300" dirty="0">
                          <a:solidFill>
                            <a:srgbClr val="00806E"/>
                          </a:solidFill>
                          <a:latin typeface="Noto Sans KR" pitchFamily="34" charset="0"/>
                          <a:ea typeface="Noto Sans KR" pitchFamily="34" charset="-122"/>
                          <a:cs typeface="Noto Sans KR" pitchFamily="34" charset="-120"/>
                        </a:rPr>
                        <a:t>입력</a:t>
                      </a:r>
                      <a:endParaRPr lang="en-US" sz="1300" dirty="0">
                        <a:latin typeface="Noto Sans KR" charset="0"/>
                        <a:ea typeface="Noto Sans KR" charset="0"/>
                        <a:cs typeface="Noto Sans KR" charset="0"/>
                      </a:endParaRPr>
                    </a:p>
                  </a:txBody>
                  <a:tcPr marL="152400" marR="152400" marT="101600" marB="101600" anchor="t">
                    <a:lnL w="0" cap="flat" cmpd="sng" algn="ctr">
                      <a:noFill/>
                    </a:lnL>
                    <a:lnR w="12700" cap="flat" cmpd="sng" algn="ctr">
                      <a:solidFill>
                        <a:srgbClr val="BEC1BF"/>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EC1BF"/>
                      </a:solidFill>
                      <a:prstDash val="solid"/>
                      <a:round/>
                      <a:headEnd type="none" w="med" len="med"/>
                      <a:tailEnd type="none" w="med" len="med"/>
                    </a:lnB>
                    <a:solidFill>
                      <a:srgbClr val="EEF2EF"/>
                    </a:solidFill>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적요 · 상호명 · 금액 · 시간</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BEC1BF"/>
                      </a:solidFill>
                      <a:prstDash val="solid"/>
                      <a:round/>
                      <a:headEnd type="none" w="med" len="med"/>
                      <a:tailEnd type="none" w="med" len="med"/>
                    </a:lnL>
                    <a:lnR w="12700" cap="flat" cmpd="sng" algn="ctr">
                      <a:solidFill>
                        <a:srgbClr val="BEC1BF"/>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EC1BF"/>
                      </a:solidFill>
                      <a:prstDash val="solid"/>
                      <a:round/>
                      <a:headEnd type="none" w="med" len="med"/>
                      <a:tailEnd type="none" w="med" len="med"/>
                    </a:lnB>
                    <a:solidFill>
                      <a:srgbClr val="EEF2EF"/>
                    </a:solidFill>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연령대 · 성별 · 가구 형태 · 소득</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BEC1BF"/>
                      </a:solidFill>
                      <a:prstDash val="solid"/>
                      <a:round/>
                      <a:headEnd type="none" w="med" len="med"/>
                      <a:tailEnd type="none" w="med" len="med"/>
                    </a:lnL>
                    <a:lnR w="12700" cap="flat" cmpd="sng" algn="ctr">
                      <a:solidFill>
                        <a:srgbClr val="BEC1BF"/>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EC1BF"/>
                      </a:solidFill>
                      <a:prstDash val="solid"/>
                      <a:round/>
                      <a:headEnd type="none" w="med" len="med"/>
                      <a:tailEnd type="none" w="med" len="med"/>
                    </a:lnB>
                    <a:solidFill>
                      <a:srgbClr val="EEF2EF"/>
                    </a:solidFill>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연령대 · 가구 형태 · 소득</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BEC1BF"/>
                      </a:solidFill>
                      <a:prstDash val="solid"/>
                      <a:round/>
                      <a:headEnd type="none" w="med" len="med"/>
                      <a:tailEnd type="none" w="med" len="med"/>
                    </a:lnL>
                    <a:lnR w="12700" cap="flat" cmpd="sng" algn="ctr">
                      <a:solidFill>
                        <a:srgbClr val="BEC1BF"/>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EC1BF"/>
                      </a:solidFill>
                      <a:prstDash val="solid"/>
                      <a:round/>
                      <a:headEnd type="none" w="med" len="med"/>
                      <a:tailEnd type="none" w="med" len="med"/>
                    </a:lnB>
                    <a:solidFill>
                      <a:srgbClr val="EEF2EF"/>
                    </a:solidFill>
                  </a:tcPr>
                </a:tc>
              </a:tr>
              <a:tr h="447030">
                <a:tc>
                  <a:txBody>
                    <a:bodyPr/>
                    <a:lstStyle/>
                    <a:p>
                      <a:pPr indent="0" marL="0">
                        <a:lnSpc>
                          <a:spcPts val="1820"/>
                        </a:lnSpc>
                        <a:buNone/>
                      </a:pPr>
                      <a:r>
                        <a:rPr lang="en-US" sz="1300" dirty="0">
                          <a:solidFill>
                            <a:srgbClr val="00806E"/>
                          </a:solidFill>
                          <a:latin typeface="Noto Sans KR" pitchFamily="34" charset="0"/>
                          <a:ea typeface="Noto Sans KR" pitchFamily="34" charset="-122"/>
                          <a:cs typeface="Noto Sans KR" pitchFamily="34" charset="-120"/>
                        </a:rPr>
                        <a:t>학습 데이터</a:t>
                      </a:r>
                      <a:endParaRPr lang="en-US" sz="1300" dirty="0">
                        <a:latin typeface="Noto Sans KR" charset="0"/>
                        <a:ea typeface="Noto Sans KR" charset="0"/>
                        <a:cs typeface="Noto Sans KR" charset="0"/>
                      </a:endParaRPr>
                    </a:p>
                  </a:txBody>
                  <a:tcPr marL="152400" marR="152400" marT="101600" marB="101600" anchor="t">
                    <a:lnL w="0" cap="flat" cmpd="sng" algn="ctr">
                      <a:noFill/>
                    </a:lnL>
                    <a:lnR w="12700" cap="flat" cmpd="sng" algn="ctr">
                      <a:solidFill>
                        <a:srgbClr val="CACAC8"/>
                      </a:solidFill>
                      <a:prstDash val="solid"/>
                      <a:round/>
                      <a:headEnd type="none" w="med" len="med"/>
                      <a:tailEnd type="none" w="med" len="med"/>
                    </a:lnR>
                    <a:lnT w="12700" cap="flat" cmpd="sng" algn="ctr">
                      <a:solidFill>
                        <a:srgbClr val="BEC1BF"/>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상가(상권)정보 API · 검증 거래 표본</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EC1BF"/>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가계동향조사</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EC1BF"/>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가계동향조사</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EC1BF"/>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447030">
                <a:tc>
                  <a:txBody>
                    <a:bodyPr/>
                    <a:lstStyle/>
                    <a:p>
                      <a:pPr indent="0" marL="0">
                        <a:lnSpc>
                          <a:spcPts val="1820"/>
                        </a:lnSpc>
                        <a:buNone/>
                      </a:pPr>
                      <a:r>
                        <a:rPr lang="en-US" sz="1300" dirty="0">
                          <a:solidFill>
                            <a:srgbClr val="00806E"/>
                          </a:solidFill>
                          <a:latin typeface="Noto Sans KR" pitchFamily="34" charset="0"/>
                          <a:ea typeface="Noto Sans KR" pitchFamily="34" charset="-122"/>
                          <a:cs typeface="Noto Sans KR" pitchFamily="34" charset="-120"/>
                        </a:rPr>
                        <a:t>기준선</a:t>
                      </a:r>
                      <a:endParaRPr lang="en-US" sz="1300" dirty="0">
                        <a:latin typeface="Noto Sans KR" charset="0"/>
                        <a:ea typeface="Noto Sans KR" charset="0"/>
                        <a:cs typeface="Noto Sans KR" charset="0"/>
                      </a:endParaRPr>
                    </a:p>
                  </a:txBody>
                  <a:tcPr marL="152400" marR="152400" marT="101600" marB="101600" anchor="t">
                    <a:lnL w="0" cap="flat" cmpd="sng" algn="ctr">
                      <a:noFill/>
                    </a:lnL>
                    <a:lnR w="12700" cap="flat" cmpd="sng" algn="ctr">
                      <a:solidFill>
                        <a:srgbClr val="BEC1BF"/>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EC1BF"/>
                      </a:solidFill>
                      <a:prstDash val="solid"/>
                      <a:round/>
                      <a:headEnd type="none" w="med" len="med"/>
                      <a:tailEnd type="none" w="med" len="med"/>
                    </a:lnB>
                    <a:solidFill>
                      <a:srgbClr val="EEF2EF"/>
                    </a:solidFill>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규칙 · 사전 · n-gram</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BEC1BF"/>
                      </a:solidFill>
                      <a:prstDash val="solid"/>
                      <a:round/>
                      <a:headEnd type="none" w="med" len="med"/>
                      <a:tailEnd type="none" w="med" len="med"/>
                    </a:lnL>
                    <a:lnR w="12700" cap="flat" cmpd="sng" algn="ctr">
                      <a:solidFill>
                        <a:srgbClr val="BEC1BF"/>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EC1BF"/>
                      </a:solidFill>
                      <a:prstDash val="solid"/>
                      <a:round/>
                      <a:headEnd type="none" w="med" len="med"/>
                      <a:tailEnd type="none" w="med" len="med"/>
                    </a:lnB>
                    <a:solidFill>
                      <a:srgbClr val="EEF2EF"/>
                    </a:solidFill>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평균 · 규칙</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BEC1BF"/>
                      </a:solidFill>
                      <a:prstDash val="solid"/>
                      <a:round/>
                      <a:headEnd type="none" w="med" len="med"/>
                      <a:tailEnd type="none" w="med" len="med"/>
                    </a:lnL>
                    <a:lnR w="12700" cap="flat" cmpd="sng" algn="ctr">
                      <a:solidFill>
                        <a:srgbClr val="BEC1BF"/>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EC1BF"/>
                      </a:solidFill>
                      <a:prstDash val="solid"/>
                      <a:round/>
                      <a:headEnd type="none" w="med" len="med"/>
                      <a:tailEnd type="none" w="med" len="med"/>
                    </a:lnB>
                    <a:solidFill>
                      <a:srgbClr val="EEF2EF"/>
                    </a:solidFill>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평균</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BEC1BF"/>
                      </a:solidFill>
                      <a:prstDash val="solid"/>
                      <a:round/>
                      <a:headEnd type="none" w="med" len="med"/>
                      <a:tailEnd type="none" w="med" len="med"/>
                    </a:lnL>
                    <a:lnR w="12700" cap="flat" cmpd="sng" algn="ctr">
                      <a:solidFill>
                        <a:srgbClr val="BEC1BF"/>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EC1BF"/>
                      </a:solidFill>
                      <a:prstDash val="solid"/>
                      <a:round/>
                      <a:headEnd type="none" w="med" len="med"/>
                      <a:tailEnd type="none" w="med" len="med"/>
                    </a:lnB>
                    <a:solidFill>
                      <a:srgbClr val="EEF2EF"/>
                    </a:solidFill>
                  </a:tcPr>
                </a:tc>
              </a:tr>
              <a:tr h="447030">
                <a:tc>
                  <a:txBody>
                    <a:bodyPr/>
                    <a:lstStyle/>
                    <a:p>
                      <a:pPr indent="0" marL="0">
                        <a:lnSpc>
                          <a:spcPts val="1820"/>
                        </a:lnSpc>
                        <a:buNone/>
                      </a:pPr>
                      <a:r>
                        <a:rPr lang="en-US" sz="1300" dirty="0">
                          <a:solidFill>
                            <a:srgbClr val="00806E"/>
                          </a:solidFill>
                          <a:latin typeface="Noto Sans KR" pitchFamily="34" charset="0"/>
                          <a:ea typeface="Noto Sans KR" pitchFamily="34" charset="-122"/>
                          <a:cs typeface="Noto Sans KR" pitchFamily="34" charset="-120"/>
                        </a:rPr>
                        <a:t>평가</a:t>
                      </a:r>
                      <a:endParaRPr lang="en-US" sz="1300" dirty="0">
                        <a:latin typeface="Noto Sans KR" charset="0"/>
                        <a:ea typeface="Noto Sans KR" charset="0"/>
                        <a:cs typeface="Noto Sans KR" charset="0"/>
                      </a:endParaRPr>
                    </a:p>
                  </a:txBody>
                  <a:tcPr marL="152400" marR="152400" marT="101600" marB="101600" anchor="t">
                    <a:lnL w="0" cap="flat" cmpd="sng" algn="ctr">
                      <a:noFill/>
                    </a:lnL>
                    <a:lnR w="12700" cap="flat" cmpd="sng" algn="ctr">
                      <a:solidFill>
                        <a:srgbClr val="CACAC8"/>
                      </a:solidFill>
                      <a:prstDash val="solid"/>
                      <a:round/>
                      <a:headEnd type="none" w="med" len="med"/>
                      <a:tailEnd type="none" w="med" len="med"/>
                    </a:lnR>
                    <a:lnT w="12700" cap="flat" cmpd="sng" algn="ctr">
                      <a:solidFill>
                        <a:srgbClr val="BEC1BF"/>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macro-F1 · 정밀도 / 재현율</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EC1BF"/>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MAE · 사용자 수정률</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EC1BF"/>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44525F"/>
                          </a:solidFill>
                          <a:latin typeface="Noto Sans KR" pitchFamily="34" charset="0"/>
                          <a:ea typeface="Noto Sans KR" pitchFamily="34" charset="-122"/>
                          <a:cs typeface="Noto Sans KR" pitchFamily="34" charset="-120"/>
                        </a:rPr>
                        <a:t>R² · 잔차</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EC1BF"/>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447030">
                <a:tc>
                  <a:txBody>
                    <a:bodyPr/>
                    <a:lstStyle/>
                    <a:p>
                      <a:pPr indent="0" marL="0">
                        <a:lnSpc>
                          <a:spcPts val="1820"/>
                        </a:lnSpc>
                        <a:buNone/>
                      </a:pPr>
                      <a:r>
                        <a:rPr lang="en-US" sz="1300" dirty="0">
                          <a:solidFill>
                            <a:srgbClr val="00806E"/>
                          </a:solidFill>
                          <a:latin typeface="Noto Sans KR" pitchFamily="34" charset="0"/>
                          <a:ea typeface="Noto Sans KR" pitchFamily="34" charset="-122"/>
                          <a:cs typeface="Noto Sans KR" pitchFamily="34" charset="-120"/>
                        </a:rPr>
                        <a:t>담당</a:t>
                      </a:r>
                      <a:endParaRPr lang="en-US" sz="1300" dirty="0">
                        <a:latin typeface="Noto Sans KR" charset="0"/>
                        <a:ea typeface="Noto Sans KR" charset="0"/>
                        <a:cs typeface="Noto Sans KR" charset="0"/>
                      </a:endParaRPr>
                    </a:p>
                  </a:txBody>
                  <a:tcPr marL="152400" marR="152400" marT="101600" marB="101600" anchor="t">
                    <a:lnL w="0" cap="flat" cmpd="sng" algn="ctr">
                      <a:noFill/>
                    </a:lnL>
                    <a:lnR w="12700" cap="flat" cmpd="sng" algn="ctr">
                      <a:solidFill>
                        <a:srgbClr val="B5C4C0"/>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5C4C0"/>
                      </a:solidFill>
                      <a:prstDash val="solid"/>
                      <a:round/>
                      <a:headEnd type="none" w="med" len="med"/>
                      <a:tailEnd type="none" w="med" len="med"/>
                    </a:lnB>
                    <a:solidFill>
                      <a:srgbClr val="E3F5F1"/>
                    </a:solidFill>
                  </a:tcPr>
                </a:tc>
                <a:tc>
                  <a:txBody>
                    <a:bodyPr/>
                    <a:lstStyle/>
                    <a:p>
                      <a:pPr indent="0" marL="0">
                        <a:lnSpc>
                          <a:spcPts val="1820"/>
                        </a:lnSpc>
                        <a:buNone/>
                      </a:pPr>
                      <a:r>
                        <a:rPr lang="en-US" sz="1300" dirty="0">
                          <a:solidFill>
                            <a:srgbClr val="12202F"/>
                          </a:solidFill>
                          <a:latin typeface="Noto Sans KR" pitchFamily="34" charset="0"/>
                          <a:ea typeface="Noto Sans KR" pitchFamily="34" charset="-122"/>
                          <a:cs typeface="Noto Sans KR" pitchFamily="34" charset="-120"/>
                        </a:rPr>
                        <a:t>김혜리</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B5C4C0"/>
                      </a:solidFill>
                      <a:prstDash val="solid"/>
                      <a:round/>
                      <a:headEnd type="none" w="med" len="med"/>
                      <a:tailEnd type="none" w="med" len="med"/>
                    </a:lnL>
                    <a:lnR w="12700" cap="flat" cmpd="sng" algn="ctr">
                      <a:solidFill>
                        <a:srgbClr val="B5C4C0"/>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5C4C0"/>
                      </a:solidFill>
                      <a:prstDash val="solid"/>
                      <a:round/>
                      <a:headEnd type="none" w="med" len="med"/>
                      <a:tailEnd type="none" w="med" len="med"/>
                    </a:lnB>
                    <a:solidFill>
                      <a:srgbClr val="E3F5F1"/>
                    </a:solidFill>
                  </a:tcPr>
                </a:tc>
                <a:tc>
                  <a:txBody>
                    <a:bodyPr/>
                    <a:lstStyle/>
                    <a:p>
                      <a:pPr indent="0" marL="0">
                        <a:lnSpc>
                          <a:spcPts val="1820"/>
                        </a:lnSpc>
                        <a:buNone/>
                      </a:pPr>
                      <a:r>
                        <a:rPr lang="en-US" sz="1300" dirty="0">
                          <a:solidFill>
                            <a:srgbClr val="12202F"/>
                          </a:solidFill>
                          <a:latin typeface="Noto Sans KR" pitchFamily="34" charset="0"/>
                          <a:ea typeface="Noto Sans KR" pitchFamily="34" charset="-122"/>
                          <a:cs typeface="Noto Sans KR" pitchFamily="34" charset="-120"/>
                        </a:rPr>
                        <a:t>김나은</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B5C4C0"/>
                      </a:solidFill>
                      <a:prstDash val="solid"/>
                      <a:round/>
                      <a:headEnd type="none" w="med" len="med"/>
                      <a:tailEnd type="none" w="med" len="med"/>
                    </a:lnL>
                    <a:lnR w="12700" cap="flat" cmpd="sng" algn="ctr">
                      <a:solidFill>
                        <a:srgbClr val="B5C4C0"/>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5C4C0"/>
                      </a:solidFill>
                      <a:prstDash val="solid"/>
                      <a:round/>
                      <a:headEnd type="none" w="med" len="med"/>
                      <a:tailEnd type="none" w="med" len="med"/>
                    </a:lnB>
                    <a:solidFill>
                      <a:srgbClr val="E3F5F1"/>
                    </a:solidFill>
                  </a:tcPr>
                </a:tc>
                <a:tc>
                  <a:txBody>
                    <a:bodyPr/>
                    <a:lstStyle/>
                    <a:p>
                      <a:pPr indent="0" marL="0">
                        <a:lnSpc>
                          <a:spcPts val="1820"/>
                        </a:lnSpc>
                        <a:buNone/>
                      </a:pPr>
                      <a:r>
                        <a:rPr lang="en-US" sz="1300" dirty="0">
                          <a:solidFill>
                            <a:srgbClr val="12202F"/>
                          </a:solidFill>
                          <a:latin typeface="Noto Sans KR" pitchFamily="34" charset="0"/>
                          <a:ea typeface="Noto Sans KR" pitchFamily="34" charset="-122"/>
                          <a:cs typeface="Noto Sans KR" pitchFamily="34" charset="-120"/>
                        </a:rPr>
                        <a:t>권세진</a:t>
                      </a:r>
                      <a:endParaRPr lang="en-US" sz="1300" dirty="0">
                        <a:latin typeface="Noto Sans KR" charset="0"/>
                        <a:ea typeface="Noto Sans KR" charset="0"/>
                        <a:cs typeface="Noto Sans KR" charset="0"/>
                      </a:endParaRPr>
                    </a:p>
                  </a:txBody>
                  <a:tcPr marL="152400" marR="152400" marT="101600" marB="101600" anchor="t">
                    <a:lnL w="12700" cap="flat" cmpd="sng" algn="ctr">
                      <a:solidFill>
                        <a:srgbClr val="B5C4C0"/>
                      </a:solidFill>
                      <a:prstDash val="solid"/>
                      <a:round/>
                      <a:headEnd type="none" w="med" len="med"/>
                      <a:tailEnd type="none" w="med" len="med"/>
                    </a:lnL>
                    <a:lnR w="12700" cap="flat" cmpd="sng" algn="ctr">
                      <a:solidFill>
                        <a:srgbClr val="B5C4C0"/>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5C4C0"/>
                      </a:solidFill>
                      <a:prstDash val="solid"/>
                      <a:round/>
                      <a:headEnd type="none" w="med" len="med"/>
                      <a:tailEnd type="none" w="med" len="med"/>
                    </a:lnB>
                    <a:solidFill>
                      <a:srgbClr val="E3F5F1"/>
                    </a:solidFill>
                  </a:tcPr>
                </a:tc>
              </a:tr>
            </a:tbl>
          </a:graphicData>
        </a:graphic>
      </p:graphicFrame>
      <p:sp>
        <p:nvSpPr>
          <p:cNvPr id="8" name="Text 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신뢰도가 낮으면 사용자 확인 · 최종 금액은 계산 엔진이 검증</a:t>
            </a:r>
            <a:endParaRPr lang="en-US" sz="1200" dirty="0"/>
          </a:p>
        </p:txBody>
      </p:sp>
      <p:sp>
        <p:nvSpPr>
          <p:cNvPr id="9" name="Text 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01 · 기술 스택 (안)</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기술 스택</a:t>
            </a:r>
            <a:endParaRPr lang="en-US" sz="2800" dirty="0"/>
          </a:p>
        </p:txBody>
      </p:sp>
      <p:sp>
        <p:nvSpPr>
          <p:cNvPr id="4" name="Shape 2"/>
          <p:cNvSpPr/>
          <p:nvPr/>
        </p:nvSpPr>
        <p:spPr>
          <a:xfrm>
            <a:off x="819150" y="1771600"/>
            <a:ext cx="3407817" cy="1936750"/>
          </a:xfrm>
          <a:prstGeom prst="roundRect">
            <a:avLst>
              <a:gd name="adj" fmla="val 4918"/>
            </a:avLst>
          </a:prstGeom>
          <a:solidFill>
            <a:srgbClr val="FDFDFB"/>
          </a:solidFill>
          <a:ln w="12700">
            <a:solidFill>
              <a:srgbClr val="DDE3E0"/>
            </a:solidFill>
            <a:prstDash val="solid"/>
          </a:ln>
        </p:spPr>
      </p:sp>
      <p:sp>
        <p:nvSpPr>
          <p:cNvPr id="5" name="Text 3"/>
          <p:cNvSpPr/>
          <p:nvPr/>
        </p:nvSpPr>
        <p:spPr>
          <a:xfrm>
            <a:off x="1054100" y="2006550"/>
            <a:ext cx="30260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모바일 웹</a:t>
            </a:r>
            <a:endParaRPr lang="en-US" sz="1200" dirty="0"/>
          </a:p>
        </p:txBody>
      </p:sp>
      <p:sp>
        <p:nvSpPr>
          <p:cNvPr id="6" name="Text 4"/>
          <p:cNvSpPr/>
          <p:nvPr/>
        </p:nvSpPr>
        <p:spPr>
          <a:xfrm>
            <a:off x="1054100" y="2308771"/>
            <a:ext cx="302605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02F"/>
                </a:solidFill>
                <a:latin typeface="Noto Sans KR" pitchFamily="34" charset="0"/>
                <a:ea typeface="Noto Sans KR" pitchFamily="34" charset="-122"/>
                <a:cs typeface="Noto Sans KR" pitchFamily="34" charset="-120"/>
              </a:rPr>
              <a:t>React</a:t>
            </a:r>
            <a:endParaRPr lang="en-US" sz="1800" dirty="0"/>
          </a:p>
        </p:txBody>
      </p:sp>
      <p:sp>
        <p:nvSpPr>
          <p:cNvPr id="7" name="Shape 5"/>
          <p:cNvSpPr/>
          <p:nvPr/>
        </p:nvSpPr>
        <p:spPr>
          <a:xfrm>
            <a:off x="4392067" y="1771600"/>
            <a:ext cx="3407817" cy="1936750"/>
          </a:xfrm>
          <a:prstGeom prst="roundRect">
            <a:avLst>
              <a:gd name="adj" fmla="val 4918"/>
            </a:avLst>
          </a:prstGeom>
          <a:solidFill>
            <a:srgbClr val="FDFDFB"/>
          </a:solidFill>
          <a:ln w="12700">
            <a:solidFill>
              <a:srgbClr val="DDE3E0"/>
            </a:solidFill>
            <a:prstDash val="solid"/>
          </a:ln>
        </p:spPr>
      </p:sp>
      <p:sp>
        <p:nvSpPr>
          <p:cNvPr id="8" name="Text 6"/>
          <p:cNvSpPr/>
          <p:nvPr/>
        </p:nvSpPr>
        <p:spPr>
          <a:xfrm>
            <a:off x="4627017" y="2006550"/>
            <a:ext cx="30260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백엔드 API</a:t>
            </a:r>
            <a:endParaRPr lang="en-US" sz="1200" dirty="0"/>
          </a:p>
        </p:txBody>
      </p:sp>
      <p:sp>
        <p:nvSpPr>
          <p:cNvPr id="9" name="Text 7"/>
          <p:cNvSpPr/>
          <p:nvPr/>
        </p:nvSpPr>
        <p:spPr>
          <a:xfrm>
            <a:off x="4627017" y="2308771"/>
            <a:ext cx="302605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02F"/>
                </a:solidFill>
                <a:latin typeface="Noto Sans KR" pitchFamily="34" charset="0"/>
                <a:ea typeface="Noto Sans KR" pitchFamily="34" charset="-122"/>
                <a:cs typeface="Noto Sans KR" pitchFamily="34" charset="-120"/>
              </a:rPr>
              <a:t>FastAPI · Cognito</a:t>
            </a:r>
            <a:endParaRPr lang="en-US" sz="1800" dirty="0"/>
          </a:p>
        </p:txBody>
      </p:sp>
      <p:sp>
        <p:nvSpPr>
          <p:cNvPr id="10" name="Shape 8"/>
          <p:cNvSpPr/>
          <p:nvPr/>
        </p:nvSpPr>
        <p:spPr>
          <a:xfrm>
            <a:off x="7958634" y="1765250"/>
            <a:ext cx="3420566" cy="1949450"/>
          </a:xfrm>
          <a:prstGeom prst="roundRect">
            <a:avLst>
              <a:gd name="adj" fmla="val 5212"/>
            </a:avLst>
          </a:prstGeom>
          <a:solidFill>
            <a:srgbClr val="12202F"/>
          </a:solidFill>
          <a:ln/>
        </p:spPr>
      </p:sp>
      <p:sp>
        <p:nvSpPr>
          <p:cNvPr id="11" name="Text 9"/>
          <p:cNvSpPr/>
          <p:nvPr/>
        </p:nvSpPr>
        <p:spPr>
          <a:xfrm>
            <a:off x="8187234" y="1993850"/>
            <a:ext cx="30522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BFA5"/>
                </a:solidFill>
                <a:latin typeface="Noto Sans KR" pitchFamily="34" charset="0"/>
                <a:ea typeface="Noto Sans KR" pitchFamily="34" charset="-122"/>
                <a:cs typeface="Noto Sans KR" pitchFamily="34" charset="-120"/>
              </a:rPr>
              <a:t>AI · 에이전트</a:t>
            </a:r>
            <a:endParaRPr lang="en-US" sz="1200" dirty="0"/>
          </a:p>
        </p:txBody>
      </p:sp>
      <p:sp>
        <p:nvSpPr>
          <p:cNvPr id="12" name="Text 10"/>
          <p:cNvSpPr/>
          <p:nvPr/>
        </p:nvSpPr>
        <p:spPr>
          <a:xfrm>
            <a:off x="8187234" y="2296071"/>
            <a:ext cx="3052267"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6F7F3"/>
                </a:solidFill>
                <a:latin typeface="Noto Sans KR" pitchFamily="34" charset="0"/>
                <a:ea typeface="Noto Sans KR" pitchFamily="34" charset="-122"/>
                <a:cs typeface="Noto Sans KR" pitchFamily="34" charset="-120"/>
              </a:rPr>
              <a:t>규칙 라우터 + LLM 에이전트 4개</a:t>
            </a:r>
            <a:endParaRPr lang="en-US" sz="1800" dirty="0"/>
          </a:p>
        </p:txBody>
      </p:sp>
      <p:sp>
        <p:nvSpPr>
          <p:cNvPr id="13" name="Shape 11"/>
          <p:cNvSpPr/>
          <p:nvPr/>
        </p:nvSpPr>
        <p:spPr>
          <a:xfrm>
            <a:off x="819150" y="3873450"/>
            <a:ext cx="3407817" cy="1962200"/>
          </a:xfrm>
          <a:prstGeom prst="roundRect">
            <a:avLst>
              <a:gd name="adj" fmla="val 4854"/>
            </a:avLst>
          </a:prstGeom>
          <a:solidFill>
            <a:srgbClr val="FDFDFB"/>
          </a:solidFill>
          <a:ln w="12700">
            <a:solidFill>
              <a:srgbClr val="DDE3E0"/>
            </a:solidFill>
            <a:prstDash val="solid"/>
          </a:ln>
        </p:spPr>
      </p:sp>
      <p:sp>
        <p:nvSpPr>
          <p:cNvPr id="14" name="Text 12"/>
          <p:cNvSpPr/>
          <p:nvPr/>
        </p:nvSpPr>
        <p:spPr>
          <a:xfrm>
            <a:off x="1054100" y="4108400"/>
            <a:ext cx="30260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데이터</a:t>
            </a:r>
            <a:endParaRPr lang="en-US" sz="1200" dirty="0"/>
          </a:p>
        </p:txBody>
      </p:sp>
      <p:sp>
        <p:nvSpPr>
          <p:cNvPr id="15" name="Text 13"/>
          <p:cNvSpPr/>
          <p:nvPr/>
        </p:nvSpPr>
        <p:spPr>
          <a:xfrm>
            <a:off x="1054100" y="4410621"/>
            <a:ext cx="302605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2202F"/>
                </a:solidFill>
                <a:latin typeface="Noto Sans KR" pitchFamily="34" charset="0"/>
                <a:ea typeface="Noto Sans KR" pitchFamily="34" charset="-122"/>
                <a:cs typeface="Noto Sans KR" pitchFamily="34" charset="-120"/>
              </a:rPr>
              <a:t>PostgreSQL · 벡터 DB · S3</a:t>
            </a:r>
            <a:endParaRPr lang="en-US" sz="1800" dirty="0"/>
          </a:p>
        </p:txBody>
      </p:sp>
      <p:sp>
        <p:nvSpPr>
          <p:cNvPr id="16" name="Shape 14"/>
          <p:cNvSpPr/>
          <p:nvPr/>
        </p:nvSpPr>
        <p:spPr>
          <a:xfrm>
            <a:off x="4392067" y="3873450"/>
            <a:ext cx="3407817" cy="1962200"/>
          </a:xfrm>
          <a:prstGeom prst="roundRect">
            <a:avLst>
              <a:gd name="adj" fmla="val 4854"/>
            </a:avLst>
          </a:prstGeom>
          <a:solidFill>
            <a:srgbClr val="FDFDFB"/>
          </a:solidFill>
          <a:ln w="12700">
            <a:solidFill>
              <a:srgbClr val="DDE3E0"/>
            </a:solidFill>
            <a:prstDash val="solid"/>
          </a:ln>
        </p:spPr>
      </p:sp>
      <p:sp>
        <p:nvSpPr>
          <p:cNvPr id="17" name="Text 15"/>
          <p:cNvSpPr/>
          <p:nvPr/>
        </p:nvSpPr>
        <p:spPr>
          <a:xfrm>
            <a:off x="4627017" y="4108400"/>
            <a:ext cx="30260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인프라</a:t>
            </a:r>
            <a:endParaRPr lang="en-US" sz="1200" dirty="0"/>
          </a:p>
        </p:txBody>
      </p:sp>
      <p:sp>
        <p:nvSpPr>
          <p:cNvPr id="18" name="Text 16"/>
          <p:cNvSpPr/>
          <p:nvPr/>
        </p:nvSpPr>
        <p:spPr>
          <a:xfrm>
            <a:off x="4627017" y="4410621"/>
            <a:ext cx="3026054"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2202F"/>
                </a:solidFill>
                <a:latin typeface="Noto Sans KR" pitchFamily="34" charset="0"/>
                <a:ea typeface="Noto Sans KR" pitchFamily="34" charset="-122"/>
                <a:cs typeface="Noto Sans KR" pitchFamily="34" charset="-120"/>
              </a:rPr>
              <a:t>AWS EC2 · Docker Compose · SQS</a:t>
            </a:r>
            <a:endParaRPr lang="en-US" sz="1800" dirty="0"/>
          </a:p>
        </p:txBody>
      </p:sp>
      <p:sp>
        <p:nvSpPr>
          <p:cNvPr id="19" name="Shape 17"/>
          <p:cNvSpPr/>
          <p:nvPr/>
        </p:nvSpPr>
        <p:spPr>
          <a:xfrm>
            <a:off x="7964984" y="3873450"/>
            <a:ext cx="3407866" cy="1962200"/>
          </a:xfrm>
          <a:prstGeom prst="roundRect">
            <a:avLst>
              <a:gd name="adj" fmla="val 4854"/>
            </a:avLst>
          </a:prstGeom>
          <a:solidFill>
            <a:srgbClr val="FDFDFB"/>
          </a:solidFill>
          <a:ln w="12700">
            <a:solidFill>
              <a:srgbClr val="DDE3E0"/>
            </a:solidFill>
            <a:prstDash val="solid"/>
          </a:ln>
        </p:spPr>
      </p:sp>
      <p:sp>
        <p:nvSpPr>
          <p:cNvPr id="20" name="Text 18"/>
          <p:cNvSpPr/>
          <p:nvPr/>
        </p:nvSpPr>
        <p:spPr>
          <a:xfrm>
            <a:off x="8199934" y="4108400"/>
            <a:ext cx="30261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외부 연동</a:t>
            </a:r>
            <a:endParaRPr lang="en-US" sz="1200" dirty="0"/>
          </a:p>
        </p:txBody>
      </p:sp>
      <p:sp>
        <p:nvSpPr>
          <p:cNvPr id="21" name="Text 19"/>
          <p:cNvSpPr/>
          <p:nvPr/>
        </p:nvSpPr>
        <p:spPr>
          <a:xfrm>
            <a:off x="8199934" y="4410621"/>
            <a:ext cx="3026105"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2202F"/>
                </a:solidFill>
                <a:latin typeface="Noto Sans KR" pitchFamily="34" charset="0"/>
                <a:ea typeface="Noto Sans KR" pitchFamily="34" charset="-122"/>
                <a:cs typeface="Noto Sans KR" pitchFamily="34" charset="-120"/>
              </a:rPr>
              <a:t>CODEF · 상가정보 · 검색/지도 · KOSIS · 복지서비스 API</a:t>
            </a:r>
            <a:endParaRPr lang="en-US" sz="1500" dirty="0"/>
          </a:p>
        </p:txBody>
      </p:sp>
      <p:sp>
        <p:nvSpPr>
          <p:cNvPr id="22" name="Text 2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나머지 기술은 팀 숙련도와 최소 구현 검증 결과로 확정</a:t>
            </a:r>
            <a:endParaRPr lang="en-US" sz="1200" dirty="0"/>
          </a:p>
        </p:txBody>
      </p:sp>
      <p:sp>
        <p:nvSpPr>
          <p:cNvPr id="23" name="Text 2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202F"/>
        </a:solidFill>
      </p:bgPr>
    </p:bg>
    <p:spTree>
      <p:nvGrpSpPr>
        <p:cNvPr id="1" name=""/>
        <p:cNvGrpSpPr/>
        <p:nvPr/>
      </p:nvGrpSpPr>
      <p:grpSpPr>
        <a:xfrm>
          <a:off x="0" y="0"/>
          <a:ext cx="0" cy="0"/>
          <a:chOff x="0" y="0"/>
          <a:chExt cx="0" cy="0"/>
        </a:xfrm>
      </p:grpSpPr>
      <p:sp>
        <p:nvSpPr>
          <p:cNvPr id="2" name="Shape 0"/>
          <p:cNvSpPr/>
          <p:nvPr/>
        </p:nvSpPr>
        <p:spPr>
          <a:xfrm>
            <a:off x="8890000" y="1651000"/>
            <a:ext cx="2540000" cy="2540000"/>
          </a:xfrm>
          <a:prstGeom prst="roundRect">
            <a:avLst>
              <a:gd name="adj" fmla="val 50000"/>
            </a:avLst>
          </a:prstGeom>
          <a:solidFill>
            <a:srgbClr val="00BFA5">
              <a:alpha val="14000"/>
            </a:srgbClr>
          </a:solidFill>
          <a:ln/>
        </p:spPr>
      </p:sp>
      <p:sp>
        <p:nvSpPr>
          <p:cNvPr id="3" name="Text 1"/>
          <p:cNvSpPr/>
          <p:nvPr/>
        </p:nvSpPr>
        <p:spPr>
          <a:xfrm>
            <a:off x="812800" y="253747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spc="200" kern="0" dirty="0">
                <a:solidFill>
                  <a:srgbClr val="00BFA5"/>
                </a:solidFill>
                <a:latin typeface="Noto Sans KR" pitchFamily="34" charset="0"/>
                <a:ea typeface="Noto Sans KR" pitchFamily="34" charset="-122"/>
                <a:cs typeface="Noto Sans KR" pitchFamily="34" charset="-120"/>
              </a:rPr>
              <a:t>PART 02</a:t>
            </a:r>
            <a:endParaRPr lang="en-US" sz="2000" dirty="0"/>
          </a:p>
        </p:txBody>
      </p:sp>
      <p:sp>
        <p:nvSpPr>
          <p:cNvPr id="4" name="Text 2"/>
          <p:cNvSpPr/>
          <p:nvPr>
            <p:ph type="title"/>
          </p:nvPr>
        </p:nvSpPr>
        <p:spPr>
          <a:xfrm>
            <a:off x="812800" y="304547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6F7F3"/>
                </a:solidFill>
                <a:latin typeface="Noto Sans KR" pitchFamily="34" charset="0"/>
                <a:ea typeface="Noto Sans KR" pitchFamily="34" charset="-122"/>
                <a:cs typeface="Noto Sans KR" pitchFamily="34" charset="-120"/>
              </a:rPr>
              <a:t>진행 현황</a:t>
            </a:r>
            <a:endParaRPr lang="en-US" sz="6000" dirty="0"/>
          </a:p>
        </p:txBody>
      </p:sp>
      <p:sp>
        <p:nvSpPr>
          <p:cNvPr id="5" name="Text 3"/>
          <p:cNvSpPr/>
          <p:nvPr/>
        </p:nvSpPr>
        <p:spPr>
          <a:xfrm>
            <a:off x="812800" y="403607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5D3DA"/>
                </a:solidFill>
                <a:latin typeface="Noto Sans KR" pitchFamily="34" charset="0"/>
                <a:ea typeface="Noto Sans KR" pitchFamily="34" charset="-122"/>
                <a:cs typeface="Noto Sans KR" pitchFamily="34" charset="-120"/>
              </a:rPr>
              <a:t>WBS 기반 진행 현황 · 데이터 수집 · 이슈와 대응</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02 · WBS 기반 진행 현황</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8주 일정 중 현재 3주차</a:t>
            </a:r>
            <a:endParaRPr lang="en-US" sz="2800" dirty="0"/>
          </a:p>
        </p:txBody>
      </p:sp>
      <p:sp>
        <p:nvSpPr>
          <p:cNvPr id="4" name="Shape 2"/>
          <p:cNvSpPr/>
          <p:nvPr/>
        </p:nvSpPr>
        <p:spPr>
          <a:xfrm>
            <a:off x="812800" y="1714450"/>
            <a:ext cx="1254125" cy="3584029"/>
          </a:xfrm>
          <a:prstGeom prst="roundRect">
            <a:avLst>
              <a:gd name="adj" fmla="val 6076"/>
            </a:avLst>
          </a:prstGeom>
          <a:solidFill>
            <a:srgbClr val="E4E9E6"/>
          </a:solidFill>
          <a:ln/>
        </p:spPr>
      </p:sp>
      <p:sp>
        <p:nvSpPr>
          <p:cNvPr id="5" name="Text 3"/>
          <p:cNvSpPr/>
          <p:nvPr/>
        </p:nvSpPr>
        <p:spPr>
          <a:xfrm>
            <a:off x="914400" y="1841450"/>
            <a:ext cx="11017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Noto Sans KR" pitchFamily="34" charset="0"/>
                <a:ea typeface="Noto Sans KR" pitchFamily="34" charset="-122"/>
                <a:cs typeface="Noto Sans KR" pitchFamily="34" charset="-120"/>
              </a:rPr>
              <a:t>1주</a:t>
            </a:r>
            <a:endParaRPr lang="en-US" sz="1600" dirty="0"/>
          </a:p>
        </p:txBody>
      </p:sp>
      <p:sp>
        <p:nvSpPr>
          <p:cNvPr id="6" name="Text 4"/>
          <p:cNvSpPr/>
          <p:nvPr/>
        </p:nvSpPr>
        <p:spPr>
          <a:xfrm>
            <a:off x="914400" y="2148780"/>
            <a:ext cx="1101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2"/>
                </a:solidFill>
                <a:latin typeface="Noto Sans KR" pitchFamily="34" charset="0"/>
                <a:ea typeface="Noto Sans KR" pitchFamily="34" charset="-122"/>
                <a:cs typeface="Noto Sans KR" pitchFamily="34" charset="-120"/>
              </a:rPr>
              <a:t>09.28</a:t>
            </a:r>
            <a:endParaRPr lang="en-US" sz="1200" dirty="0"/>
          </a:p>
        </p:txBody>
      </p:sp>
      <p:sp>
        <p:nvSpPr>
          <p:cNvPr id="7" name="Text 5"/>
          <p:cNvSpPr/>
          <p:nvPr/>
        </p:nvSpPr>
        <p:spPr>
          <a:xfrm>
            <a:off x="914400" y="2425601"/>
            <a:ext cx="1101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2F"/>
                </a:solidFill>
                <a:latin typeface="Noto Sans KR" pitchFamily="34" charset="0"/>
                <a:ea typeface="Noto Sans KR" pitchFamily="34" charset="-122"/>
                <a:cs typeface="Noto Sans KR" pitchFamily="34" charset="-120"/>
              </a:rPr>
              <a:t>요구사항 정의서</a:t>
            </a:r>
            <a:endParaRPr lang="en-US" sz="1200" dirty="0"/>
          </a:p>
        </p:txBody>
      </p:sp>
      <p:sp>
        <p:nvSpPr>
          <p:cNvPr id="8" name="Text 6"/>
          <p:cNvSpPr/>
          <p:nvPr/>
        </p:nvSpPr>
        <p:spPr>
          <a:xfrm>
            <a:off x="914400" y="2702421"/>
            <a:ext cx="1101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2F"/>
                </a:solidFill>
                <a:latin typeface="Noto Sans KR" pitchFamily="34" charset="0"/>
                <a:ea typeface="Noto Sans KR" pitchFamily="34" charset="-122"/>
                <a:cs typeface="Noto Sans KR" pitchFamily="34" charset="-120"/>
              </a:rPr>
              <a:t>WBS</a:t>
            </a:r>
            <a:endParaRPr lang="en-US" sz="1200" dirty="0"/>
          </a:p>
        </p:txBody>
      </p:sp>
      <p:sp>
        <p:nvSpPr>
          <p:cNvPr id="9" name="Shape 7"/>
          <p:cNvSpPr/>
          <p:nvPr/>
        </p:nvSpPr>
        <p:spPr>
          <a:xfrm>
            <a:off x="2143125" y="1714450"/>
            <a:ext cx="1254125" cy="3584029"/>
          </a:xfrm>
          <a:prstGeom prst="roundRect">
            <a:avLst>
              <a:gd name="adj" fmla="val 6076"/>
            </a:avLst>
          </a:prstGeom>
          <a:solidFill>
            <a:srgbClr val="E4E9E6"/>
          </a:solidFill>
          <a:ln/>
        </p:spPr>
      </p:sp>
      <p:sp>
        <p:nvSpPr>
          <p:cNvPr id="10" name="Text 8"/>
          <p:cNvSpPr/>
          <p:nvPr/>
        </p:nvSpPr>
        <p:spPr>
          <a:xfrm>
            <a:off x="2244725" y="1841450"/>
            <a:ext cx="11017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Noto Sans KR" pitchFamily="34" charset="0"/>
                <a:ea typeface="Noto Sans KR" pitchFamily="34" charset="-122"/>
                <a:cs typeface="Noto Sans KR" pitchFamily="34" charset="-120"/>
              </a:rPr>
              <a:t>2주</a:t>
            </a:r>
            <a:endParaRPr lang="en-US" sz="1600" dirty="0"/>
          </a:p>
        </p:txBody>
      </p:sp>
      <p:sp>
        <p:nvSpPr>
          <p:cNvPr id="11" name="Text 9"/>
          <p:cNvSpPr/>
          <p:nvPr/>
        </p:nvSpPr>
        <p:spPr>
          <a:xfrm>
            <a:off x="2244725" y="2148780"/>
            <a:ext cx="1101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2"/>
                </a:solidFill>
                <a:latin typeface="Noto Sans KR" pitchFamily="34" charset="0"/>
                <a:ea typeface="Noto Sans KR" pitchFamily="34" charset="-122"/>
                <a:cs typeface="Noto Sans KR" pitchFamily="34" charset="-120"/>
              </a:rPr>
              <a:t>10.06</a:t>
            </a:r>
            <a:endParaRPr lang="en-US" sz="1200" dirty="0"/>
          </a:p>
        </p:txBody>
      </p:sp>
      <p:sp>
        <p:nvSpPr>
          <p:cNvPr id="12" name="Text 10"/>
          <p:cNvSpPr/>
          <p:nvPr/>
        </p:nvSpPr>
        <p:spPr>
          <a:xfrm>
            <a:off x="2244725" y="2425601"/>
            <a:ext cx="1101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2F"/>
                </a:solidFill>
                <a:latin typeface="Noto Sans KR" pitchFamily="34" charset="0"/>
                <a:ea typeface="Noto Sans KR" pitchFamily="34" charset="-122"/>
                <a:cs typeface="Noto Sans KR" pitchFamily="34" charset="-120"/>
              </a:rPr>
              <a:t>기획서</a:t>
            </a:r>
            <a:endParaRPr lang="en-US" sz="1200" dirty="0"/>
          </a:p>
        </p:txBody>
      </p:sp>
      <p:sp>
        <p:nvSpPr>
          <p:cNvPr id="13" name="Text 11"/>
          <p:cNvSpPr/>
          <p:nvPr/>
        </p:nvSpPr>
        <p:spPr>
          <a:xfrm>
            <a:off x="2244725" y="2702421"/>
            <a:ext cx="1101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2F"/>
                </a:solidFill>
                <a:latin typeface="Noto Sans KR" pitchFamily="34" charset="0"/>
                <a:ea typeface="Noto Sans KR" pitchFamily="34" charset="-122"/>
                <a:cs typeface="Noto Sans KR" pitchFamily="34" charset="-120"/>
              </a:rPr>
              <a:t>화면설계서</a:t>
            </a:r>
            <a:endParaRPr lang="en-US" sz="1200" dirty="0"/>
          </a:p>
        </p:txBody>
      </p:sp>
      <p:sp>
        <p:nvSpPr>
          <p:cNvPr id="14" name="Text 12"/>
          <p:cNvSpPr/>
          <p:nvPr/>
        </p:nvSpPr>
        <p:spPr>
          <a:xfrm>
            <a:off x="2244725" y="2979241"/>
            <a:ext cx="110172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2F"/>
                </a:solidFill>
                <a:latin typeface="Noto Sans KR" pitchFamily="34" charset="0"/>
                <a:ea typeface="Noto Sans KR" pitchFamily="34" charset="-122"/>
                <a:cs typeface="Noto Sans KR" pitchFamily="34" charset="-120"/>
              </a:rPr>
              <a:t>수집 데이터 보고서</a:t>
            </a:r>
            <a:endParaRPr lang="en-US" sz="1200" dirty="0"/>
          </a:p>
        </p:txBody>
      </p:sp>
      <p:sp>
        <p:nvSpPr>
          <p:cNvPr id="15" name="Shape 13"/>
          <p:cNvSpPr/>
          <p:nvPr/>
        </p:nvSpPr>
        <p:spPr>
          <a:xfrm>
            <a:off x="3473450" y="1714450"/>
            <a:ext cx="1254125" cy="3584029"/>
          </a:xfrm>
          <a:prstGeom prst="roundRect">
            <a:avLst>
              <a:gd name="adj" fmla="val 6076"/>
            </a:avLst>
          </a:prstGeom>
          <a:solidFill>
            <a:srgbClr val="12202F"/>
          </a:solidFill>
          <a:ln/>
          <a:effectLst>
            <a:outerShdw sx="100000" sy="100000" kx="0" ky="0" algn="bl" rotWithShape="0" blurRad="25400" dist="0" dir="60000">
              <a:srgbClr val="FFD700">
                <a:alpha val="100000"/>
              </a:srgbClr>
            </a:outerShdw>
          </a:effectLst>
        </p:spPr>
      </p:sp>
      <p:sp>
        <p:nvSpPr>
          <p:cNvPr id="16" name="Text 14"/>
          <p:cNvSpPr/>
          <p:nvPr/>
        </p:nvSpPr>
        <p:spPr>
          <a:xfrm>
            <a:off x="3575050" y="1841450"/>
            <a:ext cx="11017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D700"/>
                </a:solidFill>
                <a:latin typeface="Noto Sans KR" pitchFamily="34" charset="0"/>
                <a:ea typeface="Noto Sans KR" pitchFamily="34" charset="-122"/>
                <a:cs typeface="Noto Sans KR" pitchFamily="34" charset="-120"/>
              </a:rPr>
              <a:t>3주</a:t>
            </a:r>
            <a:endParaRPr lang="en-US" sz="1600" dirty="0"/>
          </a:p>
        </p:txBody>
      </p:sp>
      <p:sp>
        <p:nvSpPr>
          <p:cNvPr id="17" name="Text 15"/>
          <p:cNvSpPr/>
          <p:nvPr/>
        </p:nvSpPr>
        <p:spPr>
          <a:xfrm>
            <a:off x="3575050" y="2148780"/>
            <a:ext cx="1101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D3DA"/>
                </a:solidFill>
                <a:latin typeface="Noto Sans KR" pitchFamily="34" charset="0"/>
                <a:ea typeface="Noto Sans KR" pitchFamily="34" charset="-122"/>
                <a:cs typeface="Noto Sans KR" pitchFamily="34" charset="-120"/>
              </a:rPr>
              <a:t>10.12 · 현재</a:t>
            </a:r>
            <a:endParaRPr lang="en-US" sz="1200" dirty="0"/>
          </a:p>
        </p:txBody>
      </p:sp>
      <p:sp>
        <p:nvSpPr>
          <p:cNvPr id="18" name="Text 16"/>
          <p:cNvSpPr/>
          <p:nvPr/>
        </p:nvSpPr>
        <p:spPr>
          <a:xfrm>
            <a:off x="3575050" y="2425601"/>
            <a:ext cx="1101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7F3"/>
                </a:solidFill>
                <a:latin typeface="Noto Sans KR" pitchFamily="34" charset="0"/>
                <a:ea typeface="Noto Sans KR" pitchFamily="34" charset="-122"/>
                <a:cs typeface="Noto Sans KR" pitchFamily="34" charset="-120"/>
              </a:rPr>
              <a:t>v5 기획</a:t>
            </a:r>
            <a:endParaRPr lang="en-US" sz="1200" dirty="0"/>
          </a:p>
        </p:txBody>
      </p:sp>
      <p:sp>
        <p:nvSpPr>
          <p:cNvPr id="19" name="Text 17"/>
          <p:cNvSpPr/>
          <p:nvPr/>
        </p:nvSpPr>
        <p:spPr>
          <a:xfrm>
            <a:off x="3575050" y="2702421"/>
            <a:ext cx="1101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7F3"/>
                </a:solidFill>
                <a:latin typeface="Noto Sans KR" pitchFamily="34" charset="0"/>
                <a:ea typeface="Noto Sans KR" pitchFamily="34" charset="-122"/>
                <a:cs typeface="Noto Sans KR" pitchFamily="34" charset="-120"/>
              </a:rPr>
              <a:t>DB 설계</a:t>
            </a:r>
            <a:endParaRPr lang="en-US" sz="1200" dirty="0"/>
          </a:p>
        </p:txBody>
      </p:sp>
      <p:sp>
        <p:nvSpPr>
          <p:cNvPr id="20" name="Text 18"/>
          <p:cNvSpPr/>
          <p:nvPr/>
        </p:nvSpPr>
        <p:spPr>
          <a:xfrm>
            <a:off x="3575050" y="2979241"/>
            <a:ext cx="11017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7F3"/>
                </a:solidFill>
                <a:latin typeface="Noto Sans KR" pitchFamily="34" charset="0"/>
                <a:ea typeface="Noto Sans KR" pitchFamily="34" charset="-122"/>
                <a:cs typeface="Noto Sans KR" pitchFamily="34" charset="-120"/>
              </a:rPr>
              <a:t>화면 프로토타입</a:t>
            </a:r>
            <a:endParaRPr lang="en-US" sz="1200" dirty="0"/>
          </a:p>
        </p:txBody>
      </p:sp>
      <p:sp>
        <p:nvSpPr>
          <p:cNvPr id="21" name="Text 19"/>
          <p:cNvSpPr/>
          <p:nvPr/>
        </p:nvSpPr>
        <p:spPr>
          <a:xfrm>
            <a:off x="3575050" y="3256062"/>
            <a:ext cx="11525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7F3"/>
                </a:solidFill>
                <a:latin typeface="Noto Sans KR" pitchFamily="34" charset="0"/>
                <a:ea typeface="Noto Sans KR" pitchFamily="34" charset="-122"/>
                <a:cs typeface="Noto Sans KR" pitchFamily="34" charset="-120"/>
              </a:rPr>
              <a:t>데이터 범위 확인</a:t>
            </a:r>
            <a:endParaRPr lang="en-US" sz="1200" dirty="0"/>
          </a:p>
        </p:txBody>
      </p:sp>
      <p:sp>
        <p:nvSpPr>
          <p:cNvPr id="22" name="Text 20"/>
          <p:cNvSpPr/>
          <p:nvPr/>
        </p:nvSpPr>
        <p:spPr>
          <a:xfrm>
            <a:off x="3575050" y="3532882"/>
            <a:ext cx="11017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D700"/>
                </a:solidFill>
                <a:latin typeface="Noto Sans KR" pitchFamily="34" charset="0"/>
                <a:ea typeface="Noto Sans KR" pitchFamily="34" charset="-122"/>
                <a:cs typeface="Noto Sans KR" pitchFamily="34" charset="-120"/>
              </a:rPr>
              <a:t>중간 발표</a:t>
            </a:r>
            <a:endParaRPr lang="en-US" sz="1200" dirty="0"/>
          </a:p>
        </p:txBody>
      </p:sp>
      <p:sp>
        <p:nvSpPr>
          <p:cNvPr id="23" name="Shape 21"/>
          <p:cNvSpPr/>
          <p:nvPr/>
        </p:nvSpPr>
        <p:spPr>
          <a:xfrm>
            <a:off x="4810125" y="1720800"/>
            <a:ext cx="1241425" cy="3571329"/>
          </a:xfrm>
          <a:prstGeom prst="roundRect">
            <a:avLst>
              <a:gd name="adj" fmla="val 5627"/>
            </a:avLst>
          </a:prstGeom>
          <a:solidFill>
            <a:srgbClr val="FDFDFB"/>
          </a:solidFill>
          <a:ln w="12700">
            <a:solidFill>
              <a:srgbClr val="DDE3E0"/>
            </a:solidFill>
            <a:prstDash val="solid"/>
          </a:ln>
        </p:spPr>
      </p:sp>
      <p:sp>
        <p:nvSpPr>
          <p:cNvPr id="24" name="Text 22"/>
          <p:cNvSpPr/>
          <p:nvPr/>
        </p:nvSpPr>
        <p:spPr>
          <a:xfrm>
            <a:off x="4918075" y="1854150"/>
            <a:ext cx="10763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Noto Sans KR" pitchFamily="34" charset="0"/>
                <a:ea typeface="Noto Sans KR" pitchFamily="34" charset="-122"/>
                <a:cs typeface="Noto Sans KR" pitchFamily="34" charset="-120"/>
              </a:rPr>
              <a:t>4주</a:t>
            </a:r>
            <a:endParaRPr lang="en-US" sz="1600" dirty="0"/>
          </a:p>
        </p:txBody>
      </p:sp>
      <p:sp>
        <p:nvSpPr>
          <p:cNvPr id="25" name="Text 23"/>
          <p:cNvSpPr/>
          <p:nvPr/>
        </p:nvSpPr>
        <p:spPr>
          <a:xfrm>
            <a:off x="4918075" y="2161480"/>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2"/>
                </a:solidFill>
                <a:latin typeface="Noto Sans KR" pitchFamily="34" charset="0"/>
                <a:ea typeface="Noto Sans KR" pitchFamily="34" charset="-122"/>
                <a:cs typeface="Noto Sans KR" pitchFamily="34" charset="-120"/>
              </a:rPr>
              <a:t>10.19</a:t>
            </a:r>
            <a:endParaRPr lang="en-US" sz="1200" dirty="0"/>
          </a:p>
        </p:txBody>
      </p:sp>
      <p:sp>
        <p:nvSpPr>
          <p:cNvPr id="26" name="Text 24"/>
          <p:cNvSpPr/>
          <p:nvPr/>
        </p:nvSpPr>
        <p:spPr>
          <a:xfrm>
            <a:off x="4918075" y="2438301"/>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ML 기준선</a:t>
            </a:r>
            <a:endParaRPr lang="en-US" sz="1200" dirty="0"/>
          </a:p>
        </p:txBody>
      </p:sp>
      <p:sp>
        <p:nvSpPr>
          <p:cNvPr id="27" name="Text 25"/>
          <p:cNvSpPr/>
          <p:nvPr/>
        </p:nvSpPr>
        <p:spPr>
          <a:xfrm>
            <a:off x="4918075" y="2715121"/>
            <a:ext cx="11271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React 초기 설정</a:t>
            </a:r>
            <a:endParaRPr lang="en-US" sz="1200" dirty="0"/>
          </a:p>
        </p:txBody>
      </p:sp>
      <p:sp>
        <p:nvSpPr>
          <p:cNvPr id="28" name="Text 26"/>
          <p:cNvSpPr/>
          <p:nvPr/>
        </p:nvSpPr>
        <p:spPr>
          <a:xfrm>
            <a:off x="4918075" y="2991941"/>
            <a:ext cx="107632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라우터 · 챗봇 골격</a:t>
            </a:r>
            <a:endParaRPr lang="en-US" sz="1200" dirty="0"/>
          </a:p>
        </p:txBody>
      </p:sp>
      <p:sp>
        <p:nvSpPr>
          <p:cNvPr id="60" name="Text 26b"/>
          <p:cNvSpPr/>
          <p:nvPr/>
        </p:nvSpPr>
        <p:spPr>
          <a:xfrm>
            <a:off x="4918075" y="3483864"/>
            <a:ext cx="1076325" cy="237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벡터 DB 구축</a:t>
            </a:r>
            <a:endParaRPr lang="en-US" sz="1200" dirty="0"/>
          </a:p>
        </p:txBody>
      </p:sp>
      <p:sp>
        <p:nvSpPr>
          <p:cNvPr id="29" name="Shape 27"/>
          <p:cNvSpPr/>
          <p:nvPr/>
        </p:nvSpPr>
        <p:spPr>
          <a:xfrm>
            <a:off x="6140450" y="1720800"/>
            <a:ext cx="1241425" cy="3571329"/>
          </a:xfrm>
          <a:prstGeom prst="roundRect">
            <a:avLst>
              <a:gd name="adj" fmla="val 5627"/>
            </a:avLst>
          </a:prstGeom>
          <a:solidFill>
            <a:srgbClr val="FDFDFB"/>
          </a:solidFill>
          <a:ln w="12700">
            <a:solidFill>
              <a:srgbClr val="DDE3E0"/>
            </a:solidFill>
            <a:prstDash val="solid"/>
          </a:ln>
        </p:spPr>
      </p:sp>
      <p:sp>
        <p:nvSpPr>
          <p:cNvPr id="30" name="Text 28"/>
          <p:cNvSpPr/>
          <p:nvPr/>
        </p:nvSpPr>
        <p:spPr>
          <a:xfrm>
            <a:off x="6248400" y="1854150"/>
            <a:ext cx="10763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Noto Sans KR" pitchFamily="34" charset="0"/>
                <a:ea typeface="Noto Sans KR" pitchFamily="34" charset="-122"/>
                <a:cs typeface="Noto Sans KR" pitchFamily="34" charset="-120"/>
              </a:rPr>
              <a:t>5주</a:t>
            </a:r>
            <a:endParaRPr lang="en-US" sz="1600" dirty="0"/>
          </a:p>
        </p:txBody>
      </p:sp>
      <p:sp>
        <p:nvSpPr>
          <p:cNvPr id="31" name="Text 29"/>
          <p:cNvSpPr/>
          <p:nvPr/>
        </p:nvSpPr>
        <p:spPr>
          <a:xfrm>
            <a:off x="6248400" y="2161480"/>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2"/>
                </a:solidFill>
                <a:latin typeface="Noto Sans KR" pitchFamily="34" charset="0"/>
                <a:ea typeface="Noto Sans KR" pitchFamily="34" charset="-122"/>
                <a:cs typeface="Noto Sans KR" pitchFamily="34" charset="-120"/>
              </a:rPr>
              <a:t>10.26</a:t>
            </a:r>
            <a:endParaRPr lang="en-US" sz="1200" dirty="0"/>
          </a:p>
        </p:txBody>
      </p:sp>
      <p:sp>
        <p:nvSpPr>
          <p:cNvPr id="32" name="Text 30"/>
          <p:cNvSpPr/>
          <p:nvPr/>
        </p:nvSpPr>
        <p:spPr>
          <a:xfrm>
            <a:off x="6248400" y="2438301"/>
            <a:ext cx="1076325" cy="237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예산 설계 · 조정</a:t>
            </a:r>
            <a:endParaRPr lang="en-US" sz="1200" dirty="0"/>
          </a:p>
        </p:txBody>
      </p:sp>
      <p:sp>
        <p:nvSpPr>
          <p:cNvPr id="33" name="Text 31"/>
          <p:cNvSpPr/>
          <p:nvPr/>
        </p:nvSpPr>
        <p:spPr>
          <a:xfrm>
            <a:off x="6248400" y="2715768"/>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엔진 검수</a:t>
            </a:r>
            <a:endParaRPr lang="en-US" sz="1200" dirty="0"/>
          </a:p>
        </p:txBody>
      </p:sp>
      <p:sp>
        <p:nvSpPr>
          <p:cNvPr id="34" name="Text 32"/>
          <p:cNvSpPr/>
          <p:nvPr/>
        </p:nvSpPr>
        <p:spPr>
          <a:xfrm>
            <a:off x="6248400" y="2990088"/>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거래 분류</a:t>
            </a:r>
            <a:endParaRPr lang="en-US" sz="1200" dirty="0"/>
          </a:p>
        </p:txBody>
      </p:sp>
      <p:sp>
        <p:nvSpPr>
          <p:cNvPr id="35" name="Text 33"/>
          <p:cNvSpPr/>
          <p:nvPr/>
        </p:nvSpPr>
        <p:spPr>
          <a:xfrm>
            <a:off x="6248400" y="3264408"/>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홈 · 머니 쿠션</a:t>
            </a:r>
            <a:endParaRPr lang="en-US" sz="1200" dirty="0"/>
          </a:p>
        </p:txBody>
      </p:sp>
      <p:sp>
        <p:nvSpPr>
          <p:cNvPr id="36" name="Shape 34"/>
          <p:cNvSpPr/>
          <p:nvPr/>
        </p:nvSpPr>
        <p:spPr>
          <a:xfrm>
            <a:off x="7470775" y="1720800"/>
            <a:ext cx="1241425" cy="3571329"/>
          </a:xfrm>
          <a:prstGeom prst="roundRect">
            <a:avLst>
              <a:gd name="adj" fmla="val 5627"/>
            </a:avLst>
          </a:prstGeom>
          <a:solidFill>
            <a:srgbClr val="FDFDFB"/>
          </a:solidFill>
          <a:ln w="12700">
            <a:solidFill>
              <a:srgbClr val="DDE3E0"/>
            </a:solidFill>
            <a:prstDash val="solid"/>
          </a:ln>
        </p:spPr>
      </p:sp>
      <p:sp>
        <p:nvSpPr>
          <p:cNvPr id="37" name="Text 35"/>
          <p:cNvSpPr/>
          <p:nvPr/>
        </p:nvSpPr>
        <p:spPr>
          <a:xfrm>
            <a:off x="7578725" y="1854150"/>
            <a:ext cx="10763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Noto Sans KR" pitchFamily="34" charset="0"/>
                <a:ea typeface="Noto Sans KR" pitchFamily="34" charset="-122"/>
                <a:cs typeface="Noto Sans KR" pitchFamily="34" charset="-120"/>
              </a:rPr>
              <a:t>6주</a:t>
            </a:r>
            <a:endParaRPr lang="en-US" sz="1600" dirty="0"/>
          </a:p>
        </p:txBody>
      </p:sp>
      <p:sp>
        <p:nvSpPr>
          <p:cNvPr id="38" name="Text 36"/>
          <p:cNvSpPr/>
          <p:nvPr/>
        </p:nvSpPr>
        <p:spPr>
          <a:xfrm>
            <a:off x="7578725" y="2161480"/>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2"/>
                </a:solidFill>
                <a:latin typeface="Noto Sans KR" pitchFamily="34" charset="0"/>
                <a:ea typeface="Noto Sans KR" pitchFamily="34" charset="-122"/>
                <a:cs typeface="Noto Sans KR" pitchFamily="34" charset="-120"/>
              </a:rPr>
              <a:t>11.02</a:t>
            </a:r>
            <a:endParaRPr lang="en-US" sz="1200" dirty="0"/>
          </a:p>
        </p:txBody>
      </p:sp>
      <p:sp>
        <p:nvSpPr>
          <p:cNvPr id="39" name="Text 37"/>
          <p:cNvSpPr/>
          <p:nvPr/>
        </p:nvSpPr>
        <p:spPr>
          <a:xfrm>
            <a:off x="7578725" y="2438301"/>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MVP 통합 점검</a:t>
            </a:r>
            <a:endParaRPr lang="en-US" sz="1200" dirty="0"/>
          </a:p>
        </p:txBody>
      </p:sp>
      <p:sp>
        <p:nvSpPr>
          <p:cNvPr id="40" name="Text 38"/>
          <p:cNvSpPr/>
          <p:nvPr/>
        </p:nvSpPr>
        <p:spPr>
          <a:xfrm>
            <a:off x="7578725" y="2715121"/>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단일 LLM 비교</a:t>
            </a:r>
            <a:endParaRPr lang="en-US" sz="1200" dirty="0"/>
          </a:p>
        </p:txBody>
      </p:sp>
      <p:sp>
        <p:nvSpPr>
          <p:cNvPr id="58" name="Text 38b"/>
          <p:cNvSpPr/>
          <p:nvPr/>
        </p:nvSpPr>
        <p:spPr>
          <a:xfrm>
            <a:off x="7578725" y="3264408"/>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2차 기능 추가</a:t>
            </a:r>
            <a:endParaRPr lang="en-US" sz="1200" dirty="0"/>
          </a:p>
        </p:txBody>
      </p:sp>
      <p:sp>
        <p:nvSpPr>
          <p:cNvPr id="41" name="Text 39"/>
          <p:cNvSpPr/>
          <p:nvPr/>
        </p:nvSpPr>
        <p:spPr>
          <a:xfrm>
            <a:off x="7578725" y="2991941"/>
            <a:ext cx="1076325" cy="237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분류 · 회귀 평가</a:t>
            </a:r>
            <a:endParaRPr lang="en-US" sz="1200" dirty="0"/>
          </a:p>
        </p:txBody>
      </p:sp>
      <p:sp>
        <p:nvSpPr>
          <p:cNvPr id="42" name="Shape 40"/>
          <p:cNvSpPr/>
          <p:nvPr/>
        </p:nvSpPr>
        <p:spPr>
          <a:xfrm>
            <a:off x="8801100" y="1720800"/>
            <a:ext cx="1241425" cy="3571329"/>
          </a:xfrm>
          <a:prstGeom prst="roundRect">
            <a:avLst>
              <a:gd name="adj" fmla="val 5627"/>
            </a:avLst>
          </a:prstGeom>
          <a:solidFill>
            <a:srgbClr val="FDFDFB"/>
          </a:solidFill>
          <a:ln w="12700">
            <a:solidFill>
              <a:srgbClr val="DDE3E0"/>
            </a:solidFill>
            <a:prstDash val="solid"/>
          </a:ln>
        </p:spPr>
      </p:sp>
      <p:sp>
        <p:nvSpPr>
          <p:cNvPr id="43" name="Text 41"/>
          <p:cNvSpPr/>
          <p:nvPr/>
        </p:nvSpPr>
        <p:spPr>
          <a:xfrm>
            <a:off x="8909050" y="1854150"/>
            <a:ext cx="10763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Noto Sans KR" pitchFamily="34" charset="0"/>
                <a:ea typeface="Noto Sans KR" pitchFamily="34" charset="-122"/>
                <a:cs typeface="Noto Sans KR" pitchFamily="34" charset="-120"/>
              </a:rPr>
              <a:t>7주</a:t>
            </a:r>
            <a:endParaRPr lang="en-US" sz="1600" dirty="0"/>
          </a:p>
        </p:txBody>
      </p:sp>
      <p:sp>
        <p:nvSpPr>
          <p:cNvPr id="44" name="Text 42"/>
          <p:cNvSpPr/>
          <p:nvPr/>
        </p:nvSpPr>
        <p:spPr>
          <a:xfrm>
            <a:off x="8909050" y="2161480"/>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2"/>
                </a:solidFill>
                <a:latin typeface="Noto Sans KR" pitchFamily="34" charset="0"/>
                <a:ea typeface="Noto Sans KR" pitchFamily="34" charset="-122"/>
                <a:cs typeface="Noto Sans KR" pitchFamily="34" charset="-120"/>
              </a:rPr>
              <a:t>11.09</a:t>
            </a:r>
            <a:endParaRPr lang="en-US" sz="1200" dirty="0"/>
          </a:p>
        </p:txBody>
      </p:sp>
      <p:sp>
        <p:nvSpPr>
          <p:cNvPr id="45" name="Text 43"/>
          <p:cNvSpPr/>
          <p:nvPr/>
        </p:nvSpPr>
        <p:spPr>
          <a:xfrm>
            <a:off x="8909050" y="2438301"/>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큰 지출 상담</a:t>
            </a:r>
            <a:endParaRPr lang="en-US" sz="1200" dirty="0"/>
          </a:p>
        </p:txBody>
      </p:sp>
      <p:sp>
        <p:nvSpPr>
          <p:cNvPr id="46" name="Text 44"/>
          <p:cNvSpPr/>
          <p:nvPr/>
        </p:nvSpPr>
        <p:spPr>
          <a:xfrm>
            <a:off x="8909050" y="2715121"/>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통합 테스트</a:t>
            </a:r>
            <a:endParaRPr lang="en-US" sz="1200" dirty="0"/>
          </a:p>
        </p:txBody>
      </p:sp>
      <p:sp>
        <p:nvSpPr>
          <p:cNvPr id="59" name="Text 44b"/>
          <p:cNvSpPr/>
          <p:nvPr/>
        </p:nvSpPr>
        <p:spPr>
          <a:xfrm>
            <a:off x="8909050" y="2990088"/>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결함 수정</a:t>
            </a:r>
            <a:endParaRPr lang="en-US" sz="1200" dirty="0"/>
          </a:p>
        </p:txBody>
      </p:sp>
      <p:sp>
        <p:nvSpPr>
          <p:cNvPr id="47" name="Shape 45"/>
          <p:cNvSpPr/>
          <p:nvPr/>
        </p:nvSpPr>
        <p:spPr>
          <a:xfrm>
            <a:off x="10131425" y="1720800"/>
            <a:ext cx="1241425" cy="3571329"/>
          </a:xfrm>
          <a:prstGeom prst="roundRect">
            <a:avLst>
              <a:gd name="adj" fmla="val 5627"/>
            </a:avLst>
          </a:prstGeom>
          <a:solidFill>
            <a:srgbClr val="FDFDFB"/>
          </a:solidFill>
          <a:ln w="12700">
            <a:solidFill>
              <a:srgbClr val="DDE3E0"/>
            </a:solidFill>
            <a:prstDash val="solid"/>
          </a:ln>
        </p:spPr>
      </p:sp>
      <p:sp>
        <p:nvSpPr>
          <p:cNvPr id="48" name="Text 46"/>
          <p:cNvSpPr/>
          <p:nvPr/>
        </p:nvSpPr>
        <p:spPr>
          <a:xfrm>
            <a:off x="10239375" y="1854150"/>
            <a:ext cx="10763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Noto Sans KR" pitchFamily="34" charset="0"/>
                <a:ea typeface="Noto Sans KR" pitchFamily="34" charset="-122"/>
                <a:cs typeface="Noto Sans KR" pitchFamily="34" charset="-120"/>
              </a:rPr>
              <a:t>8주</a:t>
            </a:r>
            <a:endParaRPr lang="en-US" sz="1600" dirty="0"/>
          </a:p>
        </p:txBody>
      </p:sp>
      <p:sp>
        <p:nvSpPr>
          <p:cNvPr id="49" name="Text 47"/>
          <p:cNvSpPr/>
          <p:nvPr/>
        </p:nvSpPr>
        <p:spPr>
          <a:xfrm>
            <a:off x="10239375" y="2161480"/>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2"/>
                </a:solidFill>
                <a:latin typeface="Noto Sans KR" pitchFamily="34" charset="0"/>
                <a:ea typeface="Noto Sans KR" pitchFamily="34" charset="-122"/>
                <a:cs typeface="Noto Sans KR" pitchFamily="34" charset="-120"/>
              </a:rPr>
              <a:t>11.16</a:t>
            </a:r>
            <a:endParaRPr lang="en-US" sz="1200" dirty="0"/>
          </a:p>
        </p:txBody>
      </p:sp>
      <p:sp>
        <p:nvSpPr>
          <p:cNvPr id="50" name="Text 48"/>
          <p:cNvSpPr/>
          <p:nvPr/>
        </p:nvSpPr>
        <p:spPr>
          <a:xfrm>
            <a:off x="10239375" y="2438301"/>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최종 배포</a:t>
            </a:r>
            <a:endParaRPr lang="en-US" sz="1200" dirty="0"/>
          </a:p>
        </p:txBody>
      </p:sp>
      <p:sp>
        <p:nvSpPr>
          <p:cNvPr id="51" name="Text 49"/>
          <p:cNvSpPr/>
          <p:nvPr/>
        </p:nvSpPr>
        <p:spPr>
          <a:xfrm>
            <a:off x="10239375" y="2715121"/>
            <a:ext cx="1076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25F"/>
                </a:solidFill>
                <a:latin typeface="Noto Sans KR" pitchFamily="34" charset="0"/>
                <a:ea typeface="Noto Sans KR" pitchFamily="34" charset="-122"/>
                <a:cs typeface="Noto Sans KR" pitchFamily="34" charset="-120"/>
              </a:rPr>
              <a:t>시연 영상</a:t>
            </a:r>
            <a:endParaRPr lang="en-US" sz="1200" dirty="0"/>
          </a:p>
        </p:txBody>
      </p:sp>
      <p:sp>
        <p:nvSpPr>
          <p:cNvPr id="52" name="Text 50"/>
          <p:cNvSpPr/>
          <p:nvPr/>
        </p:nvSpPr>
        <p:spPr>
          <a:xfrm>
            <a:off x="10239375" y="2991941"/>
            <a:ext cx="10763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최종 발표</a:t>
            </a:r>
            <a:endParaRPr lang="en-US" sz="1200" dirty="0"/>
          </a:p>
        </p:txBody>
      </p:sp>
      <p:sp>
        <p:nvSpPr>
          <p:cNvPr id="53" name="Text 51"/>
          <p:cNvSpPr/>
          <p:nvPr/>
        </p:nvSpPr>
        <p:spPr>
          <a:xfrm>
            <a:off x="812800" y="5501680"/>
            <a:ext cx="3724275" cy="340320"/>
          </a:xfrm>
          <a:prstGeom prst="roundRect">
            <a:avLst>
              <a:gd name="adj" fmla="val 50000"/>
            </a:avLst>
          </a:prstGeom>
          <a:solidFill>
            <a:srgbClr val="E4E9E6"/>
          </a:solidFill>
          <a:ln/>
        </p:spPr>
        <p:txBody>
          <a:bodyPr wrap="square" lIns="51270" tIns="13662" rIns="51270" bIns="0" rtlCol="0" anchor="t">
            <a:normAutofit/>
          </a:bodyPr>
          <a:lstStyle/>
          <a:p>
            <a:pPr algn="ctr" indent="0" marL="0">
              <a:lnSpc>
                <a:spcPts val="1680"/>
              </a:lnSpc>
              <a:buNone/>
            </a:pPr>
            <a:r>
              <a:rPr lang="en-US" sz="1200" b="1" dirty="0">
                <a:solidFill>
                  <a:srgbClr val="12202F"/>
                </a:solidFill>
                <a:latin typeface="Noto Sans KR" pitchFamily="34" charset="0"/>
                <a:ea typeface="Noto Sans KR" pitchFamily="34" charset="-122"/>
                <a:cs typeface="Noto Sans KR" pitchFamily="34" charset="-120"/>
              </a:rPr>
              <a:t>기획 · 설계</a:t>
            </a:r>
            <a:endParaRPr lang="en-US" sz="1200" dirty="0"/>
          </a:p>
        </p:txBody>
      </p:sp>
      <p:sp>
        <p:nvSpPr>
          <p:cNvPr id="54" name="Text 52"/>
          <p:cNvSpPr/>
          <p:nvPr/>
        </p:nvSpPr>
        <p:spPr>
          <a:xfrm>
            <a:off x="4613275" y="5501680"/>
            <a:ext cx="2584450" cy="340320"/>
          </a:xfrm>
          <a:prstGeom prst="roundRect">
            <a:avLst>
              <a:gd name="adj" fmla="val 50000"/>
            </a:avLst>
          </a:prstGeom>
          <a:solidFill>
            <a:srgbClr val="E3F5F1"/>
          </a:solidFill>
          <a:ln/>
        </p:spPr>
        <p:txBody>
          <a:bodyPr wrap="square" lIns="68367" tIns="13662" rIns="68367" bIns="0" rtlCol="0" anchor="t">
            <a:normAutofit/>
          </a:bodyPr>
          <a:lstStyle/>
          <a:p>
            <a:pPr algn="ctr" indent="0" marL="0">
              <a:lnSpc>
                <a:spcPts val="1680"/>
              </a:lnSpc>
              <a:buNone/>
            </a:pPr>
            <a:r>
              <a:rPr lang="en-US" sz="1200" b="1" dirty="0">
                <a:solidFill>
                  <a:srgbClr val="12202F"/>
                </a:solidFill>
                <a:latin typeface="Noto Sans KR" pitchFamily="34" charset="0"/>
                <a:ea typeface="Noto Sans KR" pitchFamily="34" charset="-122"/>
                <a:cs typeface="Noto Sans KR" pitchFamily="34" charset="-120"/>
              </a:rPr>
              <a:t>1차 MVP 구현</a:t>
            </a:r>
            <a:endParaRPr lang="en-US" sz="1200" dirty="0"/>
          </a:p>
        </p:txBody>
      </p:sp>
      <p:sp>
        <p:nvSpPr>
          <p:cNvPr id="55" name="Text 53"/>
          <p:cNvSpPr/>
          <p:nvPr/>
        </p:nvSpPr>
        <p:spPr>
          <a:xfrm>
            <a:off x="7273925" y="5501680"/>
            <a:ext cx="1444625" cy="340320"/>
          </a:xfrm>
          <a:prstGeom prst="roundRect">
            <a:avLst>
              <a:gd name="adj" fmla="val 50000"/>
            </a:avLst>
          </a:prstGeom>
          <a:solidFill>
            <a:srgbClr val="E3F5F1"/>
          </a:solidFill>
          <a:ln/>
        </p:spPr>
        <p:txBody>
          <a:bodyPr wrap="square" lIns="77162" tIns="13662" rIns="77162" bIns="0" rtlCol="0" anchor="t">
            <a:normAutofit/>
          </a:bodyPr>
          <a:lstStyle/>
          <a:p>
            <a:pPr algn="ctr" indent="0" marL="0">
              <a:lnSpc>
                <a:spcPts val="1680"/>
              </a:lnSpc>
              <a:buNone/>
            </a:pPr>
            <a:r>
              <a:rPr lang="en-US" sz="1200" b="1" dirty="0">
                <a:solidFill>
                  <a:srgbClr val="12202F"/>
                </a:solidFill>
                <a:latin typeface="Noto Sans KR" pitchFamily="34" charset="0"/>
                <a:ea typeface="Noto Sans KR" pitchFamily="34" charset="-122"/>
                <a:cs typeface="Noto Sans KR" pitchFamily="34" charset="-120"/>
              </a:rPr>
              <a:t>점검 · 2차</a:t>
            </a:r>
            <a:endParaRPr lang="en-US" sz="1200" dirty="0"/>
          </a:p>
        </p:txBody>
      </p:sp>
      <p:sp>
        <p:nvSpPr>
          <p:cNvPr id="56" name="Text 54"/>
          <p:cNvSpPr/>
          <p:nvPr/>
        </p:nvSpPr>
        <p:spPr>
          <a:xfrm>
            <a:off x="8794750" y="5501680"/>
            <a:ext cx="2584450" cy="340320"/>
          </a:xfrm>
          <a:prstGeom prst="roundRect">
            <a:avLst>
              <a:gd name="adj" fmla="val 50000"/>
            </a:avLst>
          </a:prstGeom>
          <a:solidFill>
            <a:srgbClr val="FFF3B0"/>
          </a:solidFill>
          <a:ln/>
        </p:spPr>
        <p:txBody>
          <a:bodyPr wrap="square" lIns="68367" tIns="13662" rIns="68367" bIns="0" rtlCol="0" anchor="t">
            <a:normAutofit/>
          </a:bodyPr>
          <a:lstStyle/>
          <a:p>
            <a:pPr algn="ctr" indent="0" marL="0">
              <a:lnSpc>
                <a:spcPts val="1680"/>
              </a:lnSpc>
              <a:buNone/>
            </a:pPr>
            <a:r>
              <a:rPr lang="en-US" sz="1200" b="1" dirty="0">
                <a:solidFill>
                  <a:srgbClr val="12202F"/>
                </a:solidFill>
                <a:latin typeface="Noto Sans KR" pitchFamily="34" charset="0"/>
                <a:ea typeface="Noto Sans KR" pitchFamily="34" charset="-122"/>
                <a:cs typeface="Noto Sans KR" pitchFamily="34" charset="-120"/>
              </a:rPr>
              <a:t>3차 · 통합 · 배포</a:t>
            </a:r>
            <a:endParaRPr lang="en-US" sz="1200" dirty="0"/>
          </a:p>
        </p:txBody>
      </p:sp>
      <p:sp>
        <p:nvSpPr>
          <p:cNvPr id="57" name="Text 5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02 · 데이터 수집</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목적별 수집 데이터</a:t>
            </a:r>
            <a:endParaRPr lang="en-US" sz="2800" dirty="0"/>
          </a:p>
        </p:txBody>
      </p:sp>
      <p:sp>
        <p:nvSpPr>
          <p:cNvPr id="4" name="Shape 2"/>
          <p:cNvSpPr/>
          <p:nvPr/>
        </p:nvSpPr>
        <p:spPr>
          <a:xfrm>
            <a:off x="812800" y="1765250"/>
            <a:ext cx="3420517" cy="1962150"/>
          </a:xfrm>
          <a:prstGeom prst="roundRect">
            <a:avLst>
              <a:gd name="adj" fmla="val 5178"/>
            </a:avLst>
          </a:prstGeom>
          <a:solidFill>
            <a:srgbClr val="12202F"/>
          </a:solidFill>
          <a:ln/>
        </p:spPr>
      </p:sp>
      <p:sp>
        <p:nvSpPr>
          <p:cNvPr id="5" name="Text 3"/>
          <p:cNvSpPr/>
          <p:nvPr/>
        </p:nvSpPr>
        <p:spPr>
          <a:xfrm>
            <a:off x="1016000" y="1968450"/>
            <a:ext cx="31045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D700"/>
                </a:solidFill>
                <a:latin typeface="Noto Sans KR" pitchFamily="34" charset="0"/>
                <a:ea typeface="Noto Sans KR" pitchFamily="34" charset="-122"/>
                <a:cs typeface="Noto Sans KR" pitchFamily="34" charset="-120"/>
              </a:rPr>
              <a:t>계좌 · 거래 (필수)</a:t>
            </a:r>
            <a:endParaRPr lang="en-US" sz="1200" dirty="0"/>
          </a:p>
        </p:txBody>
      </p:sp>
      <p:sp>
        <p:nvSpPr>
          <p:cNvPr id="6" name="Text 4"/>
          <p:cNvSpPr/>
          <p:nvPr/>
        </p:nvSpPr>
        <p:spPr>
          <a:xfrm>
            <a:off x="1016000" y="2270671"/>
            <a:ext cx="3104540"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6F7F3"/>
                </a:solidFill>
                <a:latin typeface="Noto Sans KR" pitchFamily="34" charset="0"/>
                <a:ea typeface="Noto Sans KR" pitchFamily="34" charset="-122"/>
                <a:cs typeface="Noto Sans KR" pitchFamily="34" charset="-120"/>
              </a:rPr>
              <a:t>CODEF 계좌 API</a:t>
            </a:r>
            <a:endParaRPr lang="en-US" sz="1600" dirty="0"/>
          </a:p>
        </p:txBody>
      </p:sp>
      <p:sp>
        <p:nvSpPr>
          <p:cNvPr id="7" name="Text 5"/>
          <p:cNvSpPr/>
          <p:nvPr/>
        </p:nvSpPr>
        <p:spPr>
          <a:xfrm>
            <a:off x="1016000" y="2633861"/>
            <a:ext cx="310454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5D3DA"/>
                </a:solidFill>
                <a:latin typeface="Noto Sans KR" pitchFamily="34" charset="0"/>
                <a:ea typeface="Noto Sans KR" pitchFamily="34" charset="-122"/>
                <a:cs typeface="Noto Sans KR" pitchFamily="34" charset="-120"/>
              </a:rPr>
              <a:t>카드 · 대출은 선택</a:t>
            </a:r>
            <a:endParaRPr lang="en-US" sz="1200" dirty="0"/>
          </a:p>
        </p:txBody>
      </p:sp>
      <p:sp>
        <p:nvSpPr>
          <p:cNvPr id="8" name="Shape 6"/>
          <p:cNvSpPr/>
          <p:nvPr/>
        </p:nvSpPr>
        <p:spPr>
          <a:xfrm>
            <a:off x="4392067" y="1771600"/>
            <a:ext cx="3407817" cy="1949450"/>
          </a:xfrm>
          <a:prstGeom prst="roundRect">
            <a:avLst>
              <a:gd name="adj" fmla="val 4886"/>
            </a:avLst>
          </a:prstGeom>
          <a:solidFill>
            <a:srgbClr val="FDFDFB"/>
          </a:solidFill>
          <a:ln w="12700">
            <a:solidFill>
              <a:srgbClr val="DDE3E0"/>
            </a:solidFill>
            <a:prstDash val="solid"/>
          </a:ln>
        </p:spPr>
      </p:sp>
      <p:sp>
        <p:nvSpPr>
          <p:cNvPr id="9" name="Text 7"/>
          <p:cNvSpPr/>
          <p:nvPr/>
        </p:nvSpPr>
        <p:spPr>
          <a:xfrm>
            <a:off x="4601617" y="1981150"/>
            <a:ext cx="3078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사용자 입력</a:t>
            </a:r>
            <a:endParaRPr lang="en-US" sz="1200" dirty="0"/>
          </a:p>
        </p:txBody>
      </p:sp>
      <p:sp>
        <p:nvSpPr>
          <p:cNvPr id="10" name="Text 8"/>
          <p:cNvSpPr/>
          <p:nvPr/>
        </p:nvSpPr>
        <p:spPr>
          <a:xfrm>
            <a:off x="4601617" y="2283371"/>
            <a:ext cx="3078378"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2202F"/>
                </a:solidFill>
                <a:latin typeface="Noto Sans KR" pitchFamily="34" charset="0"/>
                <a:ea typeface="Noto Sans KR" pitchFamily="34" charset="-122"/>
                <a:cs typeface="Noto Sans KR" pitchFamily="34" charset="-120"/>
              </a:rPr>
              <a:t>재정 프로필</a:t>
            </a:r>
            <a:endParaRPr lang="en-US" sz="1600" dirty="0"/>
          </a:p>
        </p:txBody>
      </p:sp>
      <p:sp>
        <p:nvSpPr>
          <p:cNvPr id="11" name="Text 9"/>
          <p:cNvSpPr/>
          <p:nvPr/>
        </p:nvSpPr>
        <p:spPr>
          <a:xfrm>
            <a:off x="4601617" y="2646561"/>
            <a:ext cx="307837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연령대 · 성별 · 가구 형태 · 월급 · 우선순위</a:t>
            </a:r>
            <a:endParaRPr lang="en-US" sz="1200" dirty="0"/>
          </a:p>
        </p:txBody>
      </p:sp>
      <p:sp>
        <p:nvSpPr>
          <p:cNvPr id="12" name="Shape 10"/>
          <p:cNvSpPr/>
          <p:nvPr/>
        </p:nvSpPr>
        <p:spPr>
          <a:xfrm>
            <a:off x="7964984" y="1771600"/>
            <a:ext cx="3407866" cy="1949450"/>
          </a:xfrm>
          <a:prstGeom prst="roundRect">
            <a:avLst>
              <a:gd name="adj" fmla="val 4886"/>
            </a:avLst>
          </a:prstGeom>
          <a:solidFill>
            <a:srgbClr val="FDFDFB"/>
          </a:solidFill>
          <a:ln w="12700">
            <a:solidFill>
              <a:srgbClr val="DDE3E0"/>
            </a:solidFill>
            <a:prstDash val="solid"/>
          </a:ln>
        </p:spPr>
      </p:sp>
      <p:sp>
        <p:nvSpPr>
          <p:cNvPr id="13" name="Text 11"/>
          <p:cNvSpPr/>
          <p:nvPr/>
        </p:nvSpPr>
        <p:spPr>
          <a:xfrm>
            <a:off x="8174534" y="1981150"/>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예산 설계 · 또래 비교</a:t>
            </a:r>
            <a:endParaRPr lang="en-US" sz="1200" dirty="0"/>
          </a:p>
        </p:txBody>
      </p:sp>
      <p:sp>
        <p:nvSpPr>
          <p:cNvPr id="14" name="Text 12"/>
          <p:cNvSpPr/>
          <p:nvPr/>
        </p:nvSpPr>
        <p:spPr>
          <a:xfrm>
            <a:off x="8174534" y="2283371"/>
            <a:ext cx="3078429"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2202F"/>
                </a:solidFill>
                <a:latin typeface="Noto Sans KR" pitchFamily="34" charset="0"/>
                <a:ea typeface="Noto Sans KR" pitchFamily="34" charset="-122"/>
                <a:cs typeface="Noto Sans KR" pitchFamily="34" charset="-120"/>
              </a:rPr>
              <a:t>가계동향조사</a:t>
            </a:r>
            <a:endParaRPr lang="en-US" sz="1600" dirty="0"/>
          </a:p>
        </p:txBody>
      </p:sp>
      <p:sp>
        <p:nvSpPr>
          <p:cNvPr id="15" name="Text 13"/>
          <p:cNvSpPr/>
          <p:nvPr/>
        </p:nvSpPr>
        <p:spPr>
          <a:xfrm>
            <a:off x="8174534" y="2646561"/>
            <a:ext cx="307842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MDIS · KOSIS</a:t>
            </a:r>
            <a:endParaRPr lang="en-US" sz="1200" dirty="0"/>
          </a:p>
        </p:txBody>
      </p:sp>
      <p:sp>
        <p:nvSpPr>
          <p:cNvPr id="16" name="Shape 14"/>
          <p:cNvSpPr/>
          <p:nvPr/>
        </p:nvSpPr>
        <p:spPr>
          <a:xfrm>
            <a:off x="819150" y="3886150"/>
            <a:ext cx="3407817" cy="1949500"/>
          </a:xfrm>
          <a:prstGeom prst="roundRect">
            <a:avLst>
              <a:gd name="adj" fmla="val 4886"/>
            </a:avLst>
          </a:prstGeom>
          <a:solidFill>
            <a:srgbClr val="FDFDFB"/>
          </a:solidFill>
          <a:ln w="12700">
            <a:solidFill>
              <a:srgbClr val="DDE3E0"/>
            </a:solidFill>
            <a:prstDash val="solid"/>
          </a:ln>
        </p:spPr>
      </p:sp>
      <p:sp>
        <p:nvSpPr>
          <p:cNvPr id="17" name="Text 15"/>
          <p:cNvSpPr/>
          <p:nvPr/>
        </p:nvSpPr>
        <p:spPr>
          <a:xfrm>
            <a:off x="1028700" y="4095700"/>
            <a:ext cx="3078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거래 분류</a:t>
            </a:r>
            <a:endParaRPr lang="en-US" sz="1200" dirty="0"/>
          </a:p>
        </p:txBody>
      </p:sp>
      <p:sp>
        <p:nvSpPr>
          <p:cNvPr id="18" name="Text 16"/>
          <p:cNvSpPr/>
          <p:nvPr/>
        </p:nvSpPr>
        <p:spPr>
          <a:xfrm>
            <a:off x="1028700" y="4397921"/>
            <a:ext cx="3078378"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2202F"/>
                </a:solidFill>
                <a:latin typeface="Noto Sans KR" pitchFamily="34" charset="0"/>
                <a:ea typeface="Noto Sans KR" pitchFamily="34" charset="-122"/>
                <a:cs typeface="Noto Sans KR" pitchFamily="34" charset="-120"/>
              </a:rPr>
              <a:t>상가(상권)정보 API</a:t>
            </a:r>
            <a:endParaRPr lang="en-US" sz="1600" dirty="0"/>
          </a:p>
        </p:txBody>
      </p:sp>
      <p:sp>
        <p:nvSpPr>
          <p:cNvPr id="19" name="Text 17"/>
          <p:cNvSpPr/>
          <p:nvPr/>
        </p:nvSpPr>
        <p:spPr>
          <a:xfrm>
            <a:off x="1028700" y="4761111"/>
            <a:ext cx="307837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 검색 · 지도 API</a:t>
            </a:r>
            <a:endParaRPr lang="en-US" sz="1200" dirty="0"/>
          </a:p>
        </p:txBody>
      </p:sp>
      <p:sp>
        <p:nvSpPr>
          <p:cNvPr id="20" name="Shape 18"/>
          <p:cNvSpPr/>
          <p:nvPr/>
        </p:nvSpPr>
        <p:spPr>
          <a:xfrm>
            <a:off x="4392067" y="3886150"/>
            <a:ext cx="3407817" cy="1949500"/>
          </a:xfrm>
          <a:prstGeom prst="roundRect">
            <a:avLst>
              <a:gd name="adj" fmla="val 4886"/>
            </a:avLst>
          </a:prstGeom>
          <a:solidFill>
            <a:srgbClr val="FDFDFB"/>
          </a:solidFill>
          <a:ln w="12700">
            <a:solidFill>
              <a:srgbClr val="DDE3E0"/>
            </a:solidFill>
            <a:prstDash val="solid"/>
          </a:ln>
        </p:spPr>
      </p:sp>
      <p:sp>
        <p:nvSpPr>
          <p:cNvPr id="21" name="Text 19"/>
          <p:cNvSpPr/>
          <p:nvPr/>
        </p:nvSpPr>
        <p:spPr>
          <a:xfrm>
            <a:off x="4601617" y="4095700"/>
            <a:ext cx="3078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큰 지출 상담 (3차)</a:t>
            </a:r>
            <a:endParaRPr lang="en-US" sz="1200" dirty="0"/>
          </a:p>
        </p:txBody>
      </p:sp>
      <p:sp>
        <p:nvSpPr>
          <p:cNvPr id="22" name="Text 20"/>
          <p:cNvSpPr/>
          <p:nvPr/>
        </p:nvSpPr>
        <p:spPr>
          <a:xfrm>
            <a:off x="4601617" y="4397921"/>
            <a:ext cx="3078378"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2202F"/>
                </a:solidFill>
                <a:latin typeface="Noto Sans KR" pitchFamily="34" charset="0"/>
                <a:ea typeface="Noto Sans KR" pitchFamily="34" charset="-122"/>
                <a:cs typeface="Noto Sans KR" pitchFamily="34" charset="-120"/>
              </a:rPr>
              <a:t>복지서비스 API</a:t>
            </a:r>
            <a:endParaRPr lang="en-US" sz="1600" dirty="0"/>
          </a:p>
        </p:txBody>
      </p:sp>
      <p:sp>
        <p:nvSpPr>
          <p:cNvPr id="23" name="Text 21"/>
          <p:cNvSpPr/>
          <p:nvPr/>
        </p:nvSpPr>
        <p:spPr>
          <a:xfrm>
            <a:off x="4601617" y="4761111"/>
            <a:ext cx="307837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 공식 · 제휴 대출 상품</a:t>
            </a:r>
            <a:endParaRPr lang="en-US" sz="1200" dirty="0"/>
          </a:p>
        </p:txBody>
      </p:sp>
      <p:sp>
        <p:nvSpPr>
          <p:cNvPr id="24" name="Shape 22"/>
          <p:cNvSpPr/>
          <p:nvPr/>
        </p:nvSpPr>
        <p:spPr>
          <a:xfrm>
            <a:off x="7964984" y="3886150"/>
            <a:ext cx="3407866" cy="1949500"/>
          </a:xfrm>
          <a:prstGeom prst="roundRect">
            <a:avLst>
              <a:gd name="adj" fmla="val 4886"/>
            </a:avLst>
          </a:prstGeom>
          <a:solidFill>
            <a:srgbClr val="FDFDFB"/>
          </a:solidFill>
          <a:ln w="12700">
            <a:solidFill>
              <a:srgbClr val="DDE3E0"/>
            </a:solidFill>
            <a:prstDash val="solid"/>
          </a:ln>
        </p:spPr>
      </p:sp>
      <p:sp>
        <p:nvSpPr>
          <p:cNvPr id="25" name="Text 23"/>
          <p:cNvSpPr/>
          <p:nvPr/>
        </p:nvSpPr>
        <p:spPr>
          <a:xfrm>
            <a:off x="8174534" y="4095700"/>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금융 용어 · 가이드</a:t>
            </a:r>
            <a:endParaRPr lang="en-US" sz="1200" dirty="0"/>
          </a:p>
        </p:txBody>
      </p:sp>
      <p:sp>
        <p:nvSpPr>
          <p:cNvPr id="26" name="Text 24"/>
          <p:cNvSpPr/>
          <p:nvPr/>
        </p:nvSpPr>
        <p:spPr>
          <a:xfrm>
            <a:off x="8174534" y="4397921"/>
            <a:ext cx="3078429"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2202F"/>
                </a:solidFill>
                <a:latin typeface="Noto Sans KR" pitchFamily="34" charset="0"/>
                <a:ea typeface="Noto Sans KR" pitchFamily="34" charset="-122"/>
                <a:cs typeface="Noto Sans KR" pitchFamily="34" charset="-120"/>
              </a:rPr>
              <a:t>금융교육 공개 자료</a:t>
            </a:r>
            <a:endParaRPr lang="en-US" sz="1600" dirty="0"/>
          </a:p>
        </p:txBody>
      </p:sp>
      <p:sp>
        <p:nvSpPr>
          <p:cNvPr id="27" name="Text 25"/>
          <p:cNvSpPr/>
          <p:nvPr/>
        </p:nvSpPr>
        <p:spPr>
          <a:xfrm>
            <a:off x="8174534" y="4761111"/>
            <a:ext cx="307842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 벡터 DB 검색</a:t>
            </a:r>
            <a:endParaRPr lang="en-US" sz="1200" dirty="0"/>
          </a:p>
        </p:txBody>
      </p:sp>
      <p:sp>
        <p:nvSpPr>
          <p:cNvPr id="28" name="Text 2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확보 전에는 모의 데이터로 인터페이스 검증 · 개발 · 시연은 합성 · 모의 데이터</a:t>
            </a:r>
            <a:endParaRPr lang="en-US" sz="1200" dirty="0"/>
          </a:p>
        </p:txBody>
      </p:sp>
      <p:sp>
        <p:nvSpPr>
          <p:cNvPr id="29" name="Text 2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02 · 이슈 사항</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범위 조정과 확정이 필요한 사항</a:t>
            </a:r>
            <a:endParaRPr lang="en-US" sz="2800" dirty="0"/>
          </a:p>
        </p:txBody>
      </p:sp>
      <p:sp>
        <p:nvSpPr>
          <p:cNvPr id="4" name="Shape 2"/>
          <p:cNvSpPr/>
          <p:nvPr/>
        </p:nvSpPr>
        <p:spPr>
          <a:xfrm>
            <a:off x="819150" y="1771600"/>
            <a:ext cx="5194300" cy="4064050"/>
          </a:xfrm>
          <a:prstGeom prst="roundRect">
            <a:avLst>
              <a:gd name="adj" fmla="val 2344"/>
            </a:avLst>
          </a:prstGeom>
          <a:solidFill>
            <a:srgbClr val="FDFDFB"/>
          </a:solidFill>
          <a:ln w="12700">
            <a:solidFill>
              <a:srgbClr val="DDE3E0"/>
            </a:solidFill>
            <a:prstDash val="solid"/>
          </a:ln>
        </p:spPr>
      </p:sp>
      <p:sp>
        <p:nvSpPr>
          <p:cNvPr id="5" name="Text 3"/>
          <p:cNvSpPr/>
          <p:nvPr/>
        </p:nvSpPr>
        <p:spPr>
          <a:xfrm>
            <a:off x="1054100" y="2006550"/>
            <a:ext cx="4866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0806E"/>
                </a:solidFill>
                <a:latin typeface="Noto Sans KR" pitchFamily="34" charset="0"/>
                <a:ea typeface="Noto Sans KR" pitchFamily="34" charset="-122"/>
                <a:cs typeface="Noto Sans KR" pitchFamily="34" charset="-120"/>
              </a:rPr>
              <a:t>결정한 것</a:t>
            </a:r>
            <a:endParaRPr lang="en-US" sz="1600" dirty="0"/>
          </a:p>
        </p:txBody>
      </p:sp>
      <p:sp>
        <p:nvSpPr>
          <p:cNvPr id="6" name="Shape 4"/>
          <p:cNvSpPr/>
          <p:nvPr/>
        </p:nvSpPr>
        <p:spPr>
          <a:xfrm>
            <a:off x="1054100" y="2978646"/>
            <a:ext cx="4724400" cy="0"/>
          </a:xfrm>
          <a:prstGeom prst="line">
            <a:avLst/>
          </a:prstGeom>
          <a:noFill/>
          <a:ln w="6350">
            <a:solidFill>
              <a:srgbClr val="DDE3E0"/>
            </a:solidFill>
            <a:prstDash val="solid"/>
          </a:ln>
        </p:spPr>
      </p:sp>
      <p:sp>
        <p:nvSpPr>
          <p:cNvPr id="7" name="Text 5"/>
          <p:cNvSpPr/>
          <p:nvPr/>
        </p:nvSpPr>
        <p:spPr>
          <a:xfrm>
            <a:off x="1054100" y="2364680"/>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96A0"/>
                </a:solidFill>
                <a:latin typeface="Noto Sans KR" pitchFamily="34" charset="0"/>
                <a:ea typeface="Noto Sans KR" pitchFamily="34" charset="-122"/>
                <a:cs typeface="Noto Sans KR" pitchFamily="34" charset="-120"/>
              </a:rPr>
              <a:t>범위 제외</a:t>
            </a:r>
            <a:endParaRPr lang="en-US" sz="1200" dirty="0"/>
          </a:p>
        </p:txBody>
      </p:sp>
      <p:sp>
        <p:nvSpPr>
          <p:cNvPr id="8" name="Text 6"/>
          <p:cNvSpPr/>
          <p:nvPr/>
        </p:nvSpPr>
        <p:spPr>
          <a:xfrm>
            <a:off x="1054100" y="2616101"/>
            <a:ext cx="486613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202F"/>
                </a:solidFill>
                <a:latin typeface="Noto Sans KR" pitchFamily="34" charset="0"/>
                <a:ea typeface="Noto Sans KR" pitchFamily="34" charset="-122"/>
                <a:cs typeface="Noto Sans KR" pitchFamily="34" charset="-120"/>
              </a:rPr>
              <a:t>공동 결제 정산 · 출금 계좌 잔액 부족 알림 · 구매 상담</a:t>
            </a:r>
            <a:endParaRPr lang="en-US" sz="1400" dirty="0"/>
          </a:p>
        </p:txBody>
      </p:sp>
      <p:sp>
        <p:nvSpPr>
          <p:cNvPr id="9" name="Shape 7"/>
          <p:cNvSpPr/>
          <p:nvPr/>
        </p:nvSpPr>
        <p:spPr>
          <a:xfrm>
            <a:off x="1054100" y="3710087"/>
            <a:ext cx="4724400" cy="0"/>
          </a:xfrm>
          <a:prstGeom prst="line">
            <a:avLst/>
          </a:prstGeom>
          <a:noFill/>
          <a:ln w="6350">
            <a:solidFill>
              <a:srgbClr val="DDE3E0"/>
            </a:solidFill>
            <a:prstDash val="solid"/>
          </a:ln>
        </p:spPr>
      </p:sp>
      <p:sp>
        <p:nvSpPr>
          <p:cNvPr id="10" name="Text 8"/>
          <p:cNvSpPr/>
          <p:nvPr/>
        </p:nvSpPr>
        <p:spPr>
          <a:xfrm>
            <a:off x="1054100" y="3096121"/>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96A0"/>
                </a:solidFill>
                <a:latin typeface="Noto Sans KR" pitchFamily="34" charset="0"/>
                <a:ea typeface="Noto Sans KR" pitchFamily="34" charset="-122"/>
                <a:cs typeface="Noto Sans KR" pitchFamily="34" charset="-120"/>
              </a:rPr>
              <a:t>에이전트 재구성 · 우선순위 (10/14)</a:t>
            </a:r>
            <a:endParaRPr lang="en-US" sz="1200" dirty="0"/>
          </a:p>
        </p:txBody>
      </p:sp>
      <p:sp>
        <p:nvSpPr>
          <p:cNvPr id="11" name="Text 9"/>
          <p:cNvSpPr/>
          <p:nvPr/>
        </p:nvSpPr>
        <p:spPr>
          <a:xfrm>
            <a:off x="1054100" y="3347541"/>
            <a:ext cx="486613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202F"/>
                </a:solidFill>
                <a:latin typeface="Noto Sans KR" pitchFamily="34" charset="0"/>
                <a:ea typeface="Noto Sans KR" pitchFamily="34" charset="-122"/>
                <a:cs typeface="Noto Sans KR" pitchFamily="34" charset="-120"/>
              </a:rPr>
              <a:t>라우터 + 에이전트 4개 · 1차 MVP 우선 구현</a:t>
            </a:r>
            <a:endParaRPr lang="en-US" sz="1400" dirty="0"/>
          </a:p>
        </p:txBody>
      </p:sp>
      <p:sp>
        <p:nvSpPr>
          <p:cNvPr id="12" name="Text 10"/>
          <p:cNvSpPr/>
          <p:nvPr/>
        </p:nvSpPr>
        <p:spPr>
          <a:xfrm>
            <a:off x="1054100" y="3827562"/>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96A0"/>
                </a:solidFill>
                <a:latin typeface="Noto Sans KR" pitchFamily="34" charset="0"/>
                <a:ea typeface="Noto Sans KR" pitchFamily="34" charset="-122"/>
                <a:cs typeface="Noto Sans KR" pitchFamily="34" charset="-120"/>
              </a:rPr>
              <a:t>제공 형태</a:t>
            </a:r>
            <a:endParaRPr lang="en-US" sz="1200" dirty="0"/>
          </a:p>
        </p:txBody>
      </p:sp>
      <p:sp>
        <p:nvSpPr>
          <p:cNvPr id="13" name="Text 11"/>
          <p:cNvSpPr/>
          <p:nvPr/>
        </p:nvSpPr>
        <p:spPr>
          <a:xfrm>
            <a:off x="1054100" y="4078982"/>
            <a:ext cx="486613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202F"/>
                </a:solidFill>
                <a:latin typeface="Noto Sans KR" pitchFamily="34" charset="0"/>
                <a:ea typeface="Noto Sans KR" pitchFamily="34" charset="-122"/>
                <a:cs typeface="Noto Sans KR" pitchFamily="34" charset="-120"/>
              </a:rPr>
              <a:t>React 모바일 웹 우선, Native 앱은 후속</a:t>
            </a:r>
            <a:endParaRPr lang="en-US" sz="1400" dirty="0"/>
          </a:p>
        </p:txBody>
      </p:sp>
      <p:sp>
        <p:nvSpPr>
          <p:cNvPr id="14" name="Shape 12"/>
          <p:cNvSpPr/>
          <p:nvPr/>
        </p:nvSpPr>
        <p:spPr>
          <a:xfrm>
            <a:off x="6197600" y="1765250"/>
            <a:ext cx="5181600" cy="4076750"/>
          </a:xfrm>
          <a:prstGeom prst="roundRect">
            <a:avLst>
              <a:gd name="adj" fmla="val 2492"/>
            </a:avLst>
          </a:prstGeom>
          <a:solidFill>
            <a:srgbClr val="12202F"/>
          </a:solidFill>
          <a:ln/>
        </p:spPr>
      </p:sp>
      <p:sp>
        <p:nvSpPr>
          <p:cNvPr id="15" name="Text 13"/>
          <p:cNvSpPr/>
          <p:nvPr/>
        </p:nvSpPr>
        <p:spPr>
          <a:xfrm>
            <a:off x="6426200" y="1993850"/>
            <a:ext cx="4866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D700"/>
                </a:solidFill>
                <a:latin typeface="Noto Sans KR" pitchFamily="34" charset="0"/>
                <a:ea typeface="Noto Sans KR" pitchFamily="34" charset="-122"/>
                <a:cs typeface="Noto Sans KR" pitchFamily="34" charset="-120"/>
              </a:rPr>
              <a:t>확정 필요</a:t>
            </a:r>
            <a:endParaRPr lang="en-US" sz="1600" dirty="0"/>
          </a:p>
        </p:txBody>
      </p:sp>
      <p:pic>
        <p:nvPicPr>
          <p:cNvPr id="16" name="Image 0" descr="Warning">    </p:cNvPr>
          <p:cNvPicPr>
            <a:picLocks noChangeAspect="1"/>
          </p:cNvPicPr>
          <p:nvPr/>
        </p:nvPicPr>
        <p:blipFill>
          <a:blip r:embed="rId1"/>
          <a:srcRect l="0" r="0" t="0" b="0"/>
          <a:stretch/>
        </p:blipFill>
        <p:spPr>
          <a:xfrm>
            <a:off x="6426200" y="2365921"/>
            <a:ext cx="203200" cy="203200"/>
          </a:xfrm>
          <a:prstGeom prst="rect">
            <a:avLst/>
          </a:prstGeom>
        </p:spPr>
      </p:pic>
      <p:sp>
        <p:nvSpPr>
          <p:cNvPr id="17" name="Text 14"/>
          <p:cNvSpPr/>
          <p:nvPr/>
        </p:nvSpPr>
        <p:spPr>
          <a:xfrm>
            <a:off x="6718300" y="2351980"/>
            <a:ext cx="241935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CODEF 조회 항목 · 기관 범위</a:t>
            </a:r>
            <a:endParaRPr lang="en-US" sz="1300" dirty="0"/>
          </a:p>
        </p:txBody>
      </p:sp>
      <p:pic>
        <p:nvPicPr>
          <p:cNvPr id="18" name="Image 1" descr="Warning">    </p:cNvPr>
          <p:cNvPicPr>
            <a:picLocks noChangeAspect="1"/>
          </p:cNvPicPr>
          <p:nvPr/>
        </p:nvPicPr>
        <p:blipFill>
          <a:blip r:embed="rId2"/>
          <a:srcRect l="0" r="0" t="0" b="0"/>
          <a:stretch/>
        </p:blipFill>
        <p:spPr>
          <a:xfrm>
            <a:off x="6426200" y="2711351"/>
            <a:ext cx="203200" cy="203200"/>
          </a:xfrm>
          <a:prstGeom prst="rect">
            <a:avLst/>
          </a:prstGeom>
        </p:spPr>
      </p:pic>
      <p:sp>
        <p:nvSpPr>
          <p:cNvPr id="19" name="Text 15"/>
          <p:cNvSpPr/>
          <p:nvPr/>
        </p:nvSpPr>
        <p:spPr>
          <a:xfrm>
            <a:off x="6718300" y="2697411"/>
            <a:ext cx="248596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금융상품 한눈에 공개 API 여부</a:t>
            </a:r>
            <a:endParaRPr lang="en-US" sz="1300" dirty="0"/>
          </a:p>
        </p:txBody>
      </p:sp>
      <p:pic>
        <p:nvPicPr>
          <p:cNvPr id="20" name="Image 2" descr="Warning">    </p:cNvPr>
          <p:cNvPicPr>
            <a:picLocks noChangeAspect="1"/>
          </p:cNvPicPr>
          <p:nvPr/>
        </p:nvPicPr>
        <p:blipFill>
          <a:blip r:embed="rId3"/>
          <a:srcRect l="0" r="0" t="0" b="0"/>
          <a:stretch/>
        </p:blipFill>
        <p:spPr>
          <a:xfrm>
            <a:off x="6426200" y="3056781"/>
            <a:ext cx="203200" cy="203200"/>
          </a:xfrm>
          <a:prstGeom prst="rect">
            <a:avLst/>
          </a:prstGeom>
        </p:spPr>
      </p:pic>
      <p:sp>
        <p:nvSpPr>
          <p:cNvPr id="21" name="Text 16"/>
          <p:cNvSpPr/>
          <p:nvPr/>
        </p:nvSpPr>
        <p:spPr>
          <a:xfrm>
            <a:off x="6718300" y="3042841"/>
            <a:ext cx="308389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복지 데이터 조회 · 캐시 · 동기화 방식</a:t>
            </a:r>
            <a:endParaRPr lang="en-US" sz="1300" dirty="0"/>
          </a:p>
        </p:txBody>
      </p:sp>
      <p:pic>
        <p:nvPicPr>
          <p:cNvPr id="22" name="Image 3" descr="Warning">    </p:cNvPr>
          <p:cNvPicPr>
            <a:picLocks noChangeAspect="1"/>
          </p:cNvPicPr>
          <p:nvPr/>
        </p:nvPicPr>
        <p:blipFill>
          <a:blip r:embed="rId4"/>
          <a:srcRect l="0" r="0" t="0" b="0"/>
          <a:stretch/>
        </p:blipFill>
        <p:spPr>
          <a:xfrm>
            <a:off x="6426200" y="3402211"/>
            <a:ext cx="203200" cy="203200"/>
          </a:xfrm>
          <a:prstGeom prst="rect">
            <a:avLst/>
          </a:prstGeom>
        </p:spPr>
      </p:pic>
      <p:sp>
        <p:nvSpPr>
          <p:cNvPr id="23" name="Text 17"/>
          <p:cNvSpPr/>
          <p:nvPr/>
        </p:nvSpPr>
        <p:spPr>
          <a:xfrm>
            <a:off x="6718300" y="3388271"/>
            <a:ext cx="236440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대출 상환액의 예산 반영 방식</a:t>
            </a:r>
            <a:endParaRPr lang="en-US" sz="1300" dirty="0"/>
          </a:p>
        </p:txBody>
      </p:sp>
      <p:pic>
        <p:nvPicPr>
          <p:cNvPr id="24" name="Image 4" descr="Warning">    </p:cNvPr>
          <p:cNvPicPr>
            <a:picLocks noChangeAspect="1"/>
          </p:cNvPicPr>
          <p:nvPr/>
        </p:nvPicPr>
        <p:blipFill>
          <a:blip r:embed="rId5"/>
          <a:srcRect l="0" r="0" t="0" b="0"/>
          <a:stretch/>
        </p:blipFill>
        <p:spPr>
          <a:xfrm>
            <a:off x="6426200" y="3747641"/>
            <a:ext cx="203200" cy="203200"/>
          </a:xfrm>
          <a:prstGeom prst="rect">
            <a:avLst/>
          </a:prstGeom>
        </p:spPr>
      </p:pic>
      <p:sp>
        <p:nvSpPr>
          <p:cNvPr id="25" name="Text 18"/>
          <p:cNvSpPr/>
          <p:nvPr/>
        </p:nvSpPr>
        <p:spPr>
          <a:xfrm>
            <a:off x="6718300" y="3733701"/>
            <a:ext cx="162573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7F3"/>
                </a:solidFill>
                <a:latin typeface="Noto Sans KR" pitchFamily="34" charset="0"/>
                <a:ea typeface="Noto Sans KR" pitchFamily="34" charset="-122"/>
                <a:cs typeface="Noto Sans KR" pitchFamily="34" charset="-120"/>
              </a:rPr>
              <a:t>카드 OCR 채택 여부</a:t>
            </a:r>
            <a:endParaRPr lang="en-US" sz="1300" dirty="0"/>
          </a:p>
        </p:txBody>
      </p:sp>
      <p:sp>
        <p:nvSpPr>
          <p:cNvPr id="26" name="Text 1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202F"/>
        </a:solidFill>
      </p:bgPr>
    </p:bg>
    <p:spTree>
      <p:nvGrpSpPr>
        <p:cNvPr id="1" name=""/>
        <p:cNvGrpSpPr/>
        <p:nvPr/>
      </p:nvGrpSpPr>
      <p:grpSpPr>
        <a:xfrm>
          <a:off x="0" y="0"/>
          <a:ext cx="0" cy="0"/>
          <a:chOff x="0" y="0"/>
          <a:chExt cx="0" cy="0"/>
        </a:xfrm>
      </p:grpSpPr>
      <p:sp>
        <p:nvSpPr>
          <p:cNvPr id="2" name="Shape 0"/>
          <p:cNvSpPr/>
          <p:nvPr/>
        </p:nvSpPr>
        <p:spPr>
          <a:xfrm>
            <a:off x="8890000" y="1651000"/>
            <a:ext cx="2540000" cy="2540000"/>
          </a:xfrm>
          <a:prstGeom prst="roundRect">
            <a:avLst>
              <a:gd name="adj" fmla="val 50000"/>
            </a:avLst>
          </a:prstGeom>
          <a:solidFill>
            <a:srgbClr val="FFD700">
              <a:alpha val="12000"/>
            </a:srgbClr>
          </a:solidFill>
          <a:ln/>
        </p:spPr>
      </p:sp>
      <p:sp>
        <p:nvSpPr>
          <p:cNvPr id="3" name="Text 1"/>
          <p:cNvSpPr/>
          <p:nvPr/>
        </p:nvSpPr>
        <p:spPr>
          <a:xfrm>
            <a:off x="812800" y="253747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spc="200" kern="0" dirty="0">
                <a:solidFill>
                  <a:srgbClr val="00BFA5"/>
                </a:solidFill>
                <a:latin typeface="Noto Sans KR" pitchFamily="34" charset="0"/>
                <a:ea typeface="Noto Sans KR" pitchFamily="34" charset="-122"/>
                <a:cs typeface="Noto Sans KR" pitchFamily="34" charset="-120"/>
              </a:rPr>
              <a:t>PART 03</a:t>
            </a:r>
            <a:endParaRPr lang="en-US" sz="2000" dirty="0"/>
          </a:p>
        </p:txBody>
      </p:sp>
      <p:sp>
        <p:nvSpPr>
          <p:cNvPr id="4" name="Text 2"/>
          <p:cNvSpPr/>
          <p:nvPr>
            <p:ph type="title"/>
          </p:nvPr>
        </p:nvSpPr>
        <p:spPr>
          <a:xfrm>
            <a:off x="812800" y="304547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6F7F3"/>
                </a:solidFill>
                <a:latin typeface="Noto Sans KR" pitchFamily="34" charset="0"/>
                <a:ea typeface="Noto Sans KR" pitchFamily="34" charset="-122"/>
                <a:cs typeface="Noto Sans KR" pitchFamily="34" charset="-120"/>
              </a:rPr>
              <a:t>예상 결과 목표</a:t>
            </a:r>
            <a:endParaRPr lang="en-US" sz="6000" dirty="0"/>
          </a:p>
        </p:txBody>
      </p:sp>
      <p:sp>
        <p:nvSpPr>
          <p:cNvPr id="5" name="Text 3"/>
          <p:cNvSpPr/>
          <p:nvPr/>
        </p:nvSpPr>
        <p:spPr>
          <a:xfrm>
            <a:off x="812800" y="403607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5D3DA"/>
                </a:solidFill>
                <a:latin typeface="Noto Sans KR" pitchFamily="34" charset="0"/>
                <a:ea typeface="Noto Sans KR" pitchFamily="34" charset="-122"/>
                <a:cs typeface="Noto Sans KR" pitchFamily="34" charset="-120"/>
              </a:rPr>
              <a:t>향후 계획 · 결과 목표와 평가 · 기대효과</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03 · 향후 계획</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남은 5주: 1차 MVP → 확장 → 배포</a:t>
            </a:r>
            <a:endParaRPr lang="en-US" sz="2800" dirty="0"/>
          </a:p>
        </p:txBody>
      </p:sp>
      <p:sp>
        <p:nvSpPr>
          <p:cNvPr id="4" name="Shape 2"/>
          <p:cNvSpPr/>
          <p:nvPr/>
        </p:nvSpPr>
        <p:spPr>
          <a:xfrm>
            <a:off x="812800" y="1739850"/>
            <a:ext cx="10566400" cy="441920"/>
          </a:xfrm>
          <a:prstGeom prst="roundRect">
            <a:avLst>
              <a:gd name="adj" fmla="val 17243"/>
            </a:avLst>
          </a:prstGeom>
          <a:solidFill>
            <a:srgbClr val="FFF3B0"/>
          </a:solidFill>
          <a:ln/>
        </p:spPr>
      </p:sp>
      <p:sp>
        <p:nvSpPr>
          <p:cNvPr id="5" name="Text 3"/>
          <p:cNvSpPr/>
          <p:nvPr/>
        </p:nvSpPr>
        <p:spPr>
          <a:xfrm>
            <a:off x="990600" y="1854150"/>
            <a:ext cx="821085"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2202F"/>
                </a:solidFill>
                <a:latin typeface="Noto Sans KR" pitchFamily="34" charset="0"/>
                <a:ea typeface="Noto Sans KR" pitchFamily="34" charset="-122"/>
                <a:cs typeface="Noto Sans KR" pitchFamily="34" charset="-120"/>
              </a:rPr>
              <a:t>이번 주 합의</a:t>
            </a:r>
            <a:endParaRPr lang="en-US" sz="1200" dirty="0"/>
          </a:p>
        </p:txBody>
      </p:sp>
      <p:sp>
        <p:nvSpPr>
          <p:cNvPr id="6" name="Text 4"/>
          <p:cNvSpPr/>
          <p:nvPr/>
        </p:nvSpPr>
        <p:spPr>
          <a:xfrm>
            <a:off x="1887885" y="1854150"/>
            <a:ext cx="40909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2F"/>
                </a:solidFill>
                <a:latin typeface="Noto Sans KR" pitchFamily="34" charset="0"/>
                <a:ea typeface="Noto Sans KR" pitchFamily="34" charset="-122"/>
                <a:cs typeface="Noto Sans KR" pitchFamily="34" charset="-120"/>
              </a:rPr>
              <a:t>라우터 진입점 매핑 · LLM 출력 7항목 · 검수 실패 코드</a:t>
            </a:r>
            <a:endParaRPr lang="en-US" sz="1200" dirty="0"/>
          </a:p>
        </p:txBody>
      </p:sp>
      <p:sp>
        <p:nvSpPr>
          <p:cNvPr id="7" name="Shape 5"/>
          <p:cNvSpPr/>
          <p:nvPr/>
        </p:nvSpPr>
        <p:spPr>
          <a:xfrm>
            <a:off x="819150" y="2416721"/>
            <a:ext cx="3416300" cy="3418929"/>
          </a:xfrm>
          <a:prstGeom prst="roundRect">
            <a:avLst>
              <a:gd name="adj" fmla="val 2788"/>
            </a:avLst>
          </a:prstGeom>
          <a:solidFill>
            <a:srgbClr val="FDFDFB"/>
          </a:solidFill>
          <a:ln w="12700">
            <a:solidFill>
              <a:srgbClr val="DDE3E0"/>
            </a:solidFill>
            <a:prstDash val="solid"/>
          </a:ln>
        </p:spPr>
      </p:sp>
      <p:sp>
        <p:nvSpPr>
          <p:cNvPr id="8" name="Text 6"/>
          <p:cNvSpPr/>
          <p:nvPr/>
        </p:nvSpPr>
        <p:spPr>
          <a:xfrm>
            <a:off x="1028700" y="2626271"/>
            <a:ext cx="30871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4 – 5주</a:t>
            </a:r>
            <a:endParaRPr lang="en-US" sz="1200" dirty="0"/>
          </a:p>
        </p:txBody>
      </p:sp>
      <p:sp>
        <p:nvSpPr>
          <p:cNvPr id="9" name="Text 7"/>
          <p:cNvSpPr/>
          <p:nvPr/>
        </p:nvSpPr>
        <p:spPr>
          <a:xfrm>
            <a:off x="1028700" y="2941191"/>
            <a:ext cx="308711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02F"/>
                </a:solidFill>
                <a:latin typeface="Noto Sans KR" pitchFamily="34" charset="0"/>
                <a:ea typeface="Noto Sans KR" pitchFamily="34" charset="-122"/>
                <a:cs typeface="Noto Sans KR" pitchFamily="34" charset="-120"/>
              </a:rPr>
              <a:t>1차 MVP 구현</a:t>
            </a:r>
            <a:endParaRPr lang="en-US" sz="1800" dirty="0"/>
          </a:p>
        </p:txBody>
      </p:sp>
      <p:sp>
        <p:nvSpPr>
          <p:cNvPr id="10" name="Text 8"/>
          <p:cNvSpPr/>
          <p:nvPr/>
        </p:nvSpPr>
        <p:spPr>
          <a:xfrm>
            <a:off x="1101344" y="3317081"/>
            <a:ext cx="3006852" cy="1081881"/>
          </a:xfrm>
          <a:prstGeom prst="rect">
            <a:avLst/>
          </a:prstGeom>
          <a:noFill/>
          <a:ln/>
        </p:spPr>
        <p:txBody>
          <a:bodyPr wrap="square" lIns="0" tIns="0" rIns="0" bIns="0" rtlCol="0" anchor="t">
            <a:normAutofit/>
          </a:bodyPr>
          <a:lstStyle/>
          <a:p>
            <a:pPr algn="l" marL="181356" indent="-181356">
              <a:lnSpc>
                <a:spcPts val="2080"/>
              </a:lnSpc>
              <a:buSzPct val="100000"/>
              <a:buChar char="•"/>
            </a:pPr>
            <a:r>
              <a:rPr lang="en-US" sz="1300" dirty="0">
                <a:solidFill>
                  <a:srgbClr val="44525F"/>
                </a:solidFill>
                <a:latin typeface="Noto Sans KR" pitchFamily="34" charset="0"/>
                <a:ea typeface="Noto Sans KR" pitchFamily="34" charset="-122"/>
                <a:cs typeface="Noto Sans KR" pitchFamily="34" charset="-120"/>
              </a:rPr>
              <a:t>ML 기준선 모델</a:t>
            </a:r>
            <a:endParaRPr lang="en-US" sz="1300" dirty="0"/>
          </a:p>
          <a:p>
            <a:pPr algn="l" marL="181356" indent="-181356">
              <a:lnSpc>
                <a:spcPts val="2080"/>
              </a:lnSpc>
              <a:buSzPct val="100000"/>
              <a:buChar char="•"/>
            </a:pPr>
            <a:r>
              <a:rPr lang="en-US" sz="1300" dirty="0">
                <a:solidFill>
                  <a:srgbClr val="44525F"/>
                </a:solidFill>
                <a:latin typeface="Noto Sans KR" pitchFamily="34" charset="0"/>
                <a:ea typeface="Noto Sans KR" pitchFamily="34" charset="-122"/>
                <a:cs typeface="Noto Sans KR" pitchFamily="34" charset="-120"/>
              </a:rPr>
              <a:t>라우터 · 챗봇 골격</a:t>
            </a:r>
            <a:endParaRPr lang="en-US" sz="1300" dirty="0"/>
          </a:p>
          <a:p>
            <a:pPr algn="l" marL="181356" indent="-181356">
              <a:lnSpc>
                <a:spcPts val="2080"/>
              </a:lnSpc>
              <a:buSzPct val="100000"/>
              <a:buChar char="•"/>
            </a:pPr>
            <a:r>
              <a:rPr lang="en-US" sz="1300" dirty="0">
                <a:solidFill>
                  <a:srgbClr val="44525F"/>
                </a:solidFill>
                <a:latin typeface="Noto Sans KR" pitchFamily="34" charset="0"/>
                <a:ea typeface="Noto Sans KR" pitchFamily="34" charset="-122"/>
                <a:cs typeface="Noto Sans KR" pitchFamily="34" charset="-120"/>
              </a:rPr>
              <a:t>예산 설계 → 조정 → 승인</a:t>
            </a:r>
            <a:endParaRPr lang="en-US" sz="1300" dirty="0"/>
          </a:p>
          <a:p>
            <a:pPr algn="l" marL="181356" indent="-181356">
              <a:lnSpc>
                <a:spcPts val="2080"/>
              </a:lnSpc>
              <a:buSzPct val="100000"/>
              <a:buChar char="•"/>
            </a:pPr>
            <a:r>
              <a:rPr lang="en-US" sz="1300" dirty="0">
                <a:solidFill>
                  <a:srgbClr val="44525F"/>
                </a:solidFill>
                <a:latin typeface="Noto Sans KR" pitchFamily="34" charset="0"/>
                <a:ea typeface="Noto Sans KR" pitchFamily="34" charset="-122"/>
                <a:cs typeface="Noto Sans KR" pitchFamily="34" charset="-120"/>
              </a:rPr>
              <a:t>거래 분류 · 머니 쿠션</a:t>
            </a:r>
            <a:endParaRPr lang="en-US" sz="1300" dirty="0"/>
          </a:p>
        </p:txBody>
      </p:sp>
      <p:sp>
        <p:nvSpPr>
          <p:cNvPr id="11" name="Shape 9"/>
          <p:cNvSpPr/>
          <p:nvPr/>
        </p:nvSpPr>
        <p:spPr>
          <a:xfrm>
            <a:off x="4400550" y="2416721"/>
            <a:ext cx="3416300" cy="3418929"/>
          </a:xfrm>
          <a:prstGeom prst="roundRect">
            <a:avLst>
              <a:gd name="adj" fmla="val 2788"/>
            </a:avLst>
          </a:prstGeom>
          <a:solidFill>
            <a:srgbClr val="FDFDFB"/>
          </a:solidFill>
          <a:ln w="12700">
            <a:solidFill>
              <a:srgbClr val="DDE3E0"/>
            </a:solidFill>
            <a:prstDash val="solid"/>
          </a:ln>
        </p:spPr>
      </p:sp>
      <p:sp>
        <p:nvSpPr>
          <p:cNvPr id="12" name="Text 10"/>
          <p:cNvSpPr/>
          <p:nvPr/>
        </p:nvSpPr>
        <p:spPr>
          <a:xfrm>
            <a:off x="4610100" y="2626271"/>
            <a:ext cx="30871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6주</a:t>
            </a:r>
            <a:endParaRPr lang="en-US" sz="1200" dirty="0"/>
          </a:p>
        </p:txBody>
      </p:sp>
      <p:sp>
        <p:nvSpPr>
          <p:cNvPr id="13" name="Text 11"/>
          <p:cNvSpPr/>
          <p:nvPr/>
        </p:nvSpPr>
        <p:spPr>
          <a:xfrm>
            <a:off x="4610100" y="2941191"/>
            <a:ext cx="308711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02F"/>
                </a:solidFill>
                <a:latin typeface="Noto Sans KR" pitchFamily="34" charset="0"/>
                <a:ea typeface="Noto Sans KR" pitchFamily="34" charset="-122"/>
                <a:cs typeface="Noto Sans KR" pitchFamily="34" charset="-120"/>
              </a:rPr>
              <a:t>MVP 점검 · 2차 확장</a:t>
            </a:r>
            <a:endParaRPr lang="en-US" sz="1800" dirty="0"/>
          </a:p>
        </p:txBody>
      </p:sp>
      <p:sp>
        <p:nvSpPr>
          <p:cNvPr id="14" name="Text 12"/>
          <p:cNvSpPr/>
          <p:nvPr/>
        </p:nvSpPr>
        <p:spPr>
          <a:xfrm>
            <a:off x="4682744" y="3317081"/>
            <a:ext cx="3006852" cy="1078992"/>
          </a:xfrm>
          <a:prstGeom prst="rect">
            <a:avLst/>
          </a:prstGeom>
          <a:noFill/>
          <a:ln/>
        </p:spPr>
        <p:txBody>
          <a:bodyPr wrap="square" lIns="0" tIns="0" rIns="0" bIns="0" rtlCol="0" anchor="t">
            <a:normAutofit/>
          </a:bodyPr>
          <a:lstStyle/>
          <a:p>
            <a:pPr algn="l" marL="181356" indent="-181356">
              <a:lnSpc>
                <a:spcPts val="2080"/>
              </a:lnSpc>
              <a:buSzPct val="100000"/>
              <a:buChar char="•"/>
            </a:pPr>
            <a:r>
              <a:rPr lang="en-US" sz="1300" dirty="0">
                <a:solidFill>
                  <a:srgbClr val="44525F"/>
                </a:solidFill>
                <a:latin typeface="Noto Sans KR" pitchFamily="34" charset="0"/>
                <a:ea typeface="Noto Sans KR" pitchFamily="34" charset="-122"/>
                <a:cs typeface="Noto Sans KR" pitchFamily="34" charset="-120"/>
              </a:rPr>
              <a:t>1차 MVP 통합 점검</a:t>
            </a:r>
            <a:endParaRPr lang="en-US" sz="1300" dirty="0"/>
          </a:p>
          <a:p>
            <a:pPr algn="l" marL="181356" indent="-181356">
              <a:lnSpc>
                <a:spcPts val="2080"/>
              </a:lnSpc>
              <a:buSzPct val="100000"/>
              <a:buChar char="•"/>
            </a:pPr>
            <a:r>
              <a:rPr lang="en-US" sz="1300" dirty="0">
                <a:solidFill>
                  <a:srgbClr val="44525F"/>
                </a:solidFill>
                <a:latin typeface="Noto Sans KR" pitchFamily="34" charset="0"/>
                <a:ea typeface="Noto Sans KR" pitchFamily="34" charset="-122"/>
                <a:cs typeface="Noto Sans KR" pitchFamily="34" charset="-120"/>
              </a:rPr>
              <a:t>소비 리포트 · 돌발 · 알림</a:t>
            </a:r>
            <a:endParaRPr lang="en-US" sz="1300" dirty="0"/>
          </a:p>
          <a:p>
            <a:pPr algn="l" marL="181356" indent="-181356">
              <a:lnSpc>
                <a:spcPts val="2080"/>
              </a:lnSpc>
              <a:buSzPct val="100000"/>
              <a:buChar char="•"/>
            </a:pPr>
            <a:r>
              <a:rPr lang="en-US" sz="1300" dirty="0">
                <a:solidFill>
                  <a:srgbClr val="44525F"/>
                </a:solidFill>
                <a:latin typeface="Noto Sans KR" pitchFamily="34" charset="0"/>
                <a:ea typeface="Noto Sans KR" pitchFamily="34" charset="-122"/>
                <a:cs typeface="Noto Sans KR" pitchFamily="34" charset="-120"/>
              </a:rPr>
              <a:t>단일 LLM 대비 비교</a:t>
            </a:r>
            <a:endParaRPr lang="en-US" sz="1300" dirty="0"/>
          </a:p>
          <a:p>
            <a:pPr algn="l" marL="181356" indent="-181356">
              <a:lnSpc>
                <a:spcPts val="2080"/>
              </a:lnSpc>
              <a:buSzPct val="100000"/>
              <a:buChar char="•"/>
            </a:pPr>
            <a:r>
              <a:rPr lang="en-US" sz="1300" dirty="0">
                <a:solidFill>
                  <a:srgbClr val="44525F"/>
                </a:solidFill>
                <a:latin typeface="Noto Sans KR" pitchFamily="34" charset="0"/>
                <a:ea typeface="Noto Sans KR" pitchFamily="34" charset="-122"/>
                <a:cs typeface="Noto Sans KR" pitchFamily="34" charset="-120"/>
              </a:rPr>
              <a:t>분류 · 회귀 성능 평가</a:t>
            </a:r>
            <a:endParaRPr lang="en-US" sz="1300" dirty="0"/>
          </a:p>
        </p:txBody>
      </p:sp>
      <p:sp>
        <p:nvSpPr>
          <p:cNvPr id="15" name="Shape 13"/>
          <p:cNvSpPr/>
          <p:nvPr/>
        </p:nvSpPr>
        <p:spPr>
          <a:xfrm>
            <a:off x="7975600" y="2410371"/>
            <a:ext cx="3403600" cy="3431629"/>
          </a:xfrm>
          <a:prstGeom prst="roundRect">
            <a:avLst>
              <a:gd name="adj" fmla="val 2985"/>
            </a:avLst>
          </a:prstGeom>
          <a:solidFill>
            <a:srgbClr val="12202F"/>
          </a:solidFill>
          <a:ln/>
        </p:spPr>
      </p:sp>
      <p:sp>
        <p:nvSpPr>
          <p:cNvPr id="16" name="Text 14"/>
          <p:cNvSpPr/>
          <p:nvPr/>
        </p:nvSpPr>
        <p:spPr>
          <a:xfrm>
            <a:off x="8178800" y="2613571"/>
            <a:ext cx="30871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D700"/>
                </a:solidFill>
                <a:latin typeface="Noto Sans KR" pitchFamily="34" charset="0"/>
                <a:ea typeface="Noto Sans KR" pitchFamily="34" charset="-122"/>
                <a:cs typeface="Noto Sans KR" pitchFamily="34" charset="-120"/>
              </a:rPr>
              <a:t>7 – 8주</a:t>
            </a:r>
            <a:endParaRPr lang="en-US" sz="1200" dirty="0"/>
          </a:p>
        </p:txBody>
      </p:sp>
      <p:sp>
        <p:nvSpPr>
          <p:cNvPr id="17" name="Text 15"/>
          <p:cNvSpPr/>
          <p:nvPr/>
        </p:nvSpPr>
        <p:spPr>
          <a:xfrm>
            <a:off x="8178800" y="2928491"/>
            <a:ext cx="308711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7F3"/>
                </a:solidFill>
                <a:latin typeface="Noto Sans KR" pitchFamily="34" charset="0"/>
                <a:ea typeface="Noto Sans KR" pitchFamily="34" charset="-122"/>
                <a:cs typeface="Noto Sans KR" pitchFamily="34" charset="-120"/>
              </a:rPr>
              <a:t>3차 · 통합 · 배포</a:t>
            </a:r>
            <a:endParaRPr lang="en-US" sz="1800" dirty="0"/>
          </a:p>
        </p:txBody>
      </p:sp>
      <p:sp>
        <p:nvSpPr>
          <p:cNvPr id="18" name="Text 16"/>
          <p:cNvSpPr/>
          <p:nvPr/>
        </p:nvSpPr>
        <p:spPr>
          <a:xfrm>
            <a:off x="8251444" y="3304381"/>
            <a:ext cx="3006852" cy="1078992"/>
          </a:xfrm>
          <a:prstGeom prst="rect">
            <a:avLst/>
          </a:prstGeom>
          <a:noFill/>
          <a:ln/>
        </p:spPr>
        <p:txBody>
          <a:bodyPr wrap="square" lIns="0" tIns="0" rIns="0" bIns="0" rtlCol="0" anchor="t">
            <a:normAutofit/>
          </a:bodyPr>
          <a:lstStyle/>
          <a:p>
            <a:pPr algn="l" marL="181356" indent="-181356">
              <a:lnSpc>
                <a:spcPts val="2080"/>
              </a:lnSpc>
              <a:buSzPct val="100000"/>
              <a:buChar char="•"/>
            </a:pPr>
            <a:r>
              <a:rPr lang="en-US" sz="1300" dirty="0">
                <a:solidFill>
                  <a:srgbClr val="DCE6EA"/>
                </a:solidFill>
                <a:latin typeface="Noto Sans KR" pitchFamily="34" charset="0"/>
                <a:ea typeface="Noto Sans KR" pitchFamily="34" charset="-122"/>
                <a:cs typeface="Noto Sans KR" pitchFamily="34" charset="-120"/>
              </a:rPr>
              <a:t>큰 지출 상담 (복지 · 대출)</a:t>
            </a:r>
            <a:endParaRPr lang="en-US" sz="1300" dirty="0"/>
          </a:p>
          <a:p>
            <a:pPr algn="l" marL="181356" indent="-181356">
              <a:lnSpc>
                <a:spcPts val="2080"/>
              </a:lnSpc>
              <a:buSzPct val="100000"/>
              <a:buChar char="•"/>
            </a:pPr>
            <a:r>
              <a:rPr lang="en-US" sz="1300" dirty="0">
                <a:solidFill>
                  <a:srgbClr val="DCE6EA"/>
                </a:solidFill>
                <a:latin typeface="Noto Sans KR" pitchFamily="34" charset="0"/>
                <a:ea typeface="Noto Sans KR" pitchFamily="34" charset="-122"/>
                <a:cs typeface="Noto Sans KR" pitchFamily="34" charset="-120"/>
              </a:rPr>
              <a:t>통합 테스트 · 결함 수정</a:t>
            </a:r>
            <a:endParaRPr lang="en-US" sz="1300" dirty="0"/>
          </a:p>
          <a:p>
            <a:pPr algn="l" marL="181356" indent="-181356">
              <a:lnSpc>
                <a:spcPts val="2080"/>
              </a:lnSpc>
              <a:buSzPct val="100000"/>
              <a:buChar char="•"/>
            </a:pPr>
            <a:r>
              <a:rPr lang="en-US" sz="1300" dirty="0">
                <a:solidFill>
                  <a:srgbClr val="DCE6EA"/>
                </a:solidFill>
                <a:latin typeface="Noto Sans KR" pitchFamily="34" charset="0"/>
                <a:ea typeface="Noto Sans KR" pitchFamily="34" charset="-122"/>
                <a:cs typeface="Noto Sans KR" pitchFamily="34" charset="-120"/>
              </a:rPr>
              <a:t>모바일 웹 최종 배포</a:t>
            </a:r>
            <a:endParaRPr lang="en-US" sz="1300" dirty="0"/>
          </a:p>
          <a:p>
            <a:pPr algn="l" marL="181356" indent="-181356">
              <a:lnSpc>
                <a:spcPts val="2080"/>
              </a:lnSpc>
              <a:buSzPct val="100000"/>
              <a:buChar char="•"/>
            </a:pPr>
            <a:r>
              <a:rPr lang="en-US" sz="1300" dirty="0">
                <a:solidFill>
                  <a:srgbClr val="DCE6EA"/>
                </a:solidFill>
                <a:latin typeface="Noto Sans KR" pitchFamily="34" charset="0"/>
                <a:ea typeface="Noto Sans KR" pitchFamily="34" charset="-122"/>
                <a:cs typeface="Noto Sans KR" pitchFamily="34" charset="-120"/>
              </a:rPr>
              <a:t>시연 영상 · 발표 (11/20)</a:t>
            </a:r>
            <a:endParaRPr lang="en-US" sz="1300" dirty="0"/>
          </a:p>
        </p:txBody>
      </p:sp>
      <p:sp>
        <p:nvSpPr>
          <p:cNvPr id="19" name="Text 1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03 · 결과 목표</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이렇게 검증합니다</a:t>
            </a:r>
            <a:endParaRPr lang="en-US" sz="2800" dirty="0"/>
          </a:p>
        </p:txBody>
      </p:sp>
      <p:sp>
        <p:nvSpPr>
          <p:cNvPr id="4" name="Shape 2"/>
          <p:cNvSpPr/>
          <p:nvPr/>
        </p:nvSpPr>
        <p:spPr>
          <a:xfrm>
            <a:off x="812800" y="1765250"/>
            <a:ext cx="3420517" cy="2068860"/>
          </a:xfrm>
          <a:prstGeom prst="roundRect">
            <a:avLst>
              <a:gd name="adj" fmla="val 4911"/>
            </a:avLst>
          </a:prstGeom>
          <a:solidFill>
            <a:srgbClr val="12202F"/>
          </a:solidFill>
          <a:ln/>
        </p:spPr>
      </p:sp>
      <p:sp>
        <p:nvSpPr>
          <p:cNvPr id="5" name="Text 3"/>
          <p:cNvSpPr/>
          <p:nvPr/>
        </p:nvSpPr>
        <p:spPr>
          <a:xfrm>
            <a:off x="1016000" y="1968450"/>
            <a:ext cx="31045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BFA5"/>
                </a:solidFill>
                <a:latin typeface="Noto Sans KR" pitchFamily="34" charset="0"/>
                <a:ea typeface="Noto Sans KR" pitchFamily="34" charset="-122"/>
                <a:cs typeface="Noto Sans KR" pitchFamily="34" charset="-120"/>
              </a:rPr>
              <a:t>금액 정확성</a:t>
            </a:r>
            <a:endParaRPr lang="en-US" sz="1200" dirty="0"/>
          </a:p>
        </p:txBody>
      </p:sp>
      <p:sp>
        <p:nvSpPr>
          <p:cNvPr id="6" name="Text 4"/>
          <p:cNvSpPr/>
          <p:nvPr/>
        </p:nvSpPr>
        <p:spPr>
          <a:xfrm>
            <a:off x="1016000" y="2245271"/>
            <a:ext cx="310454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D700"/>
                </a:solidFill>
                <a:latin typeface="Noto Sans KR" pitchFamily="34" charset="0"/>
                <a:ea typeface="Noto Sans KR" pitchFamily="34" charset="-122"/>
                <a:cs typeface="Noto Sans KR" pitchFamily="34" charset="-120"/>
              </a:rPr>
              <a:t>0건</a:t>
            </a:r>
            <a:endParaRPr lang="en-US" sz="3600" dirty="0"/>
          </a:p>
        </p:txBody>
      </p:sp>
      <p:sp>
        <p:nvSpPr>
          <p:cNvPr id="7" name="Text 5"/>
          <p:cNvSpPr/>
          <p:nvPr/>
        </p:nvSpPr>
        <p:spPr>
          <a:xfrm>
            <a:off x="1016000" y="2811661"/>
            <a:ext cx="310454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CE6EA"/>
                </a:solidFill>
                <a:latin typeface="Noto Sans KR" pitchFamily="34" charset="0"/>
                <a:ea typeface="Noto Sans KR" pitchFamily="34" charset="-122"/>
                <a:cs typeface="Noto Sans KR" pitchFamily="34" charset="-120"/>
              </a:rPr>
              <a:t>보호 조건 위반 · 중복 차감</a:t>
            </a:r>
            <a:endParaRPr lang="en-US" sz="1200" dirty="0"/>
          </a:p>
        </p:txBody>
      </p:sp>
      <p:sp>
        <p:nvSpPr>
          <p:cNvPr id="8" name="Shape 6"/>
          <p:cNvSpPr/>
          <p:nvPr/>
        </p:nvSpPr>
        <p:spPr>
          <a:xfrm>
            <a:off x="4392067" y="1771600"/>
            <a:ext cx="3407817" cy="2056160"/>
          </a:xfrm>
          <a:prstGeom prst="roundRect">
            <a:avLst>
              <a:gd name="adj" fmla="val 4632"/>
            </a:avLst>
          </a:prstGeom>
          <a:solidFill>
            <a:srgbClr val="FDFDFB"/>
          </a:solidFill>
          <a:ln w="12700">
            <a:solidFill>
              <a:srgbClr val="DDE3E0"/>
            </a:solidFill>
            <a:prstDash val="solid"/>
          </a:ln>
        </p:spPr>
      </p:sp>
      <p:sp>
        <p:nvSpPr>
          <p:cNvPr id="9" name="Text 7"/>
          <p:cNvSpPr/>
          <p:nvPr/>
        </p:nvSpPr>
        <p:spPr>
          <a:xfrm>
            <a:off x="4601617" y="1981150"/>
            <a:ext cx="3078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멀티에이전트 효과</a:t>
            </a:r>
            <a:endParaRPr lang="en-US" sz="1200" dirty="0"/>
          </a:p>
        </p:txBody>
      </p:sp>
      <p:sp>
        <p:nvSpPr>
          <p:cNvPr id="10" name="Text 8"/>
          <p:cNvSpPr/>
          <p:nvPr/>
        </p:nvSpPr>
        <p:spPr>
          <a:xfrm>
            <a:off x="4601617" y="2257971"/>
            <a:ext cx="3078378"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2202F"/>
                </a:solidFill>
                <a:latin typeface="Noto Sans KR" pitchFamily="34" charset="0"/>
                <a:ea typeface="Noto Sans KR" pitchFamily="34" charset="-122"/>
                <a:cs typeface="Noto Sans KR" pitchFamily="34" charset="-120"/>
              </a:rPr>
              <a:t>단일 LLM과 비교</a:t>
            </a:r>
            <a:endParaRPr lang="en-US" sz="1600" dirty="0"/>
          </a:p>
        </p:txBody>
      </p:sp>
      <p:sp>
        <p:nvSpPr>
          <p:cNvPr id="11" name="Text 9"/>
          <p:cNvSpPr/>
          <p:nvPr/>
        </p:nvSpPr>
        <p:spPr>
          <a:xfrm>
            <a:off x="4601617" y="2585591"/>
            <a:ext cx="307837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검수 통과율 · 재생성 · 응답 시간 · 비용</a:t>
            </a:r>
            <a:endParaRPr lang="en-US" sz="1200" dirty="0"/>
          </a:p>
        </p:txBody>
      </p:sp>
      <p:sp>
        <p:nvSpPr>
          <p:cNvPr id="12" name="Shape 10"/>
          <p:cNvSpPr/>
          <p:nvPr/>
        </p:nvSpPr>
        <p:spPr>
          <a:xfrm>
            <a:off x="7964984" y="1771600"/>
            <a:ext cx="3407866" cy="2056160"/>
          </a:xfrm>
          <a:prstGeom prst="roundRect">
            <a:avLst>
              <a:gd name="adj" fmla="val 4632"/>
            </a:avLst>
          </a:prstGeom>
          <a:solidFill>
            <a:srgbClr val="FDFDFB"/>
          </a:solidFill>
          <a:ln w="12700">
            <a:solidFill>
              <a:srgbClr val="DDE3E0"/>
            </a:solidFill>
            <a:prstDash val="solid"/>
          </a:ln>
        </p:spPr>
      </p:sp>
      <p:sp>
        <p:nvSpPr>
          <p:cNvPr id="13" name="Text 11"/>
          <p:cNvSpPr/>
          <p:nvPr/>
        </p:nvSpPr>
        <p:spPr>
          <a:xfrm>
            <a:off x="8174534" y="1981150"/>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안전성</a:t>
            </a:r>
            <a:endParaRPr lang="en-US" sz="1200" dirty="0"/>
          </a:p>
        </p:txBody>
      </p:sp>
      <p:sp>
        <p:nvSpPr>
          <p:cNvPr id="14" name="Text 12"/>
          <p:cNvSpPr/>
          <p:nvPr/>
        </p:nvSpPr>
        <p:spPr>
          <a:xfrm>
            <a:off x="8174534" y="2257971"/>
            <a:ext cx="3078429"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2202F"/>
                </a:solidFill>
                <a:latin typeface="Noto Sans KR" pitchFamily="34" charset="0"/>
                <a:ea typeface="Noto Sans KR" pitchFamily="34" charset="-122"/>
                <a:cs typeface="Noto Sans KR" pitchFamily="34" charset="-120"/>
              </a:rPr>
              <a:t>무승인 적용 차단</a:t>
            </a:r>
            <a:endParaRPr lang="en-US" sz="1600" dirty="0"/>
          </a:p>
        </p:txBody>
      </p:sp>
      <p:sp>
        <p:nvSpPr>
          <p:cNvPr id="15" name="Text 13"/>
          <p:cNvSpPr/>
          <p:nvPr/>
        </p:nvSpPr>
        <p:spPr>
          <a:xfrm>
            <a:off x="8174534" y="2585591"/>
            <a:ext cx="307842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거래 적요 · API 응답 속 지시문 무시</a:t>
            </a:r>
            <a:endParaRPr lang="en-US" sz="1200" dirty="0"/>
          </a:p>
        </p:txBody>
      </p:sp>
      <p:sp>
        <p:nvSpPr>
          <p:cNvPr id="16" name="Shape 14"/>
          <p:cNvSpPr/>
          <p:nvPr/>
        </p:nvSpPr>
        <p:spPr>
          <a:xfrm>
            <a:off x="819150" y="3992860"/>
            <a:ext cx="3407817" cy="1842790"/>
          </a:xfrm>
          <a:prstGeom prst="roundRect">
            <a:avLst>
              <a:gd name="adj" fmla="val 5169"/>
            </a:avLst>
          </a:prstGeom>
          <a:solidFill>
            <a:srgbClr val="FDFDFB"/>
          </a:solidFill>
          <a:ln w="12700">
            <a:solidFill>
              <a:srgbClr val="DDE3E0"/>
            </a:solidFill>
            <a:prstDash val="solid"/>
          </a:ln>
        </p:spPr>
      </p:sp>
      <p:sp>
        <p:nvSpPr>
          <p:cNvPr id="17" name="Text 15"/>
          <p:cNvSpPr/>
          <p:nvPr/>
        </p:nvSpPr>
        <p:spPr>
          <a:xfrm>
            <a:off x="1028700" y="4202410"/>
            <a:ext cx="3078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거래 분류</a:t>
            </a:r>
            <a:endParaRPr lang="en-US" sz="1200" dirty="0"/>
          </a:p>
        </p:txBody>
      </p:sp>
      <p:sp>
        <p:nvSpPr>
          <p:cNvPr id="18" name="Text 16"/>
          <p:cNvSpPr/>
          <p:nvPr/>
        </p:nvSpPr>
        <p:spPr>
          <a:xfrm>
            <a:off x="1028700" y="4479230"/>
            <a:ext cx="3078378"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2202F"/>
                </a:solidFill>
                <a:latin typeface="Noto Sans KR" pitchFamily="34" charset="0"/>
                <a:ea typeface="Noto Sans KR" pitchFamily="34" charset="-122"/>
                <a:cs typeface="Noto Sans KR" pitchFamily="34" charset="-120"/>
              </a:rPr>
              <a:t>macro-F1</a:t>
            </a:r>
            <a:endParaRPr lang="en-US" sz="1600" dirty="0"/>
          </a:p>
        </p:txBody>
      </p:sp>
      <p:sp>
        <p:nvSpPr>
          <p:cNvPr id="19" name="Text 17"/>
          <p:cNvSpPr/>
          <p:nvPr/>
        </p:nvSpPr>
        <p:spPr>
          <a:xfrm>
            <a:off x="1028700" y="4806851"/>
            <a:ext cx="307837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실제 거래 표본으로 검증</a:t>
            </a:r>
            <a:endParaRPr lang="en-US" sz="1200" dirty="0"/>
          </a:p>
        </p:txBody>
      </p:sp>
      <p:sp>
        <p:nvSpPr>
          <p:cNvPr id="20" name="Shape 18"/>
          <p:cNvSpPr/>
          <p:nvPr/>
        </p:nvSpPr>
        <p:spPr>
          <a:xfrm>
            <a:off x="4392067" y="3992860"/>
            <a:ext cx="3407817" cy="1842790"/>
          </a:xfrm>
          <a:prstGeom prst="roundRect">
            <a:avLst>
              <a:gd name="adj" fmla="val 5169"/>
            </a:avLst>
          </a:prstGeom>
          <a:solidFill>
            <a:srgbClr val="FDFDFB"/>
          </a:solidFill>
          <a:ln w="12700">
            <a:solidFill>
              <a:srgbClr val="DDE3E0"/>
            </a:solidFill>
            <a:prstDash val="solid"/>
          </a:ln>
        </p:spPr>
      </p:sp>
      <p:sp>
        <p:nvSpPr>
          <p:cNvPr id="21" name="Text 19"/>
          <p:cNvSpPr/>
          <p:nvPr/>
        </p:nvSpPr>
        <p:spPr>
          <a:xfrm>
            <a:off x="4601617" y="4202410"/>
            <a:ext cx="3078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예산 설계</a:t>
            </a:r>
            <a:endParaRPr lang="en-US" sz="1200" dirty="0"/>
          </a:p>
        </p:txBody>
      </p:sp>
      <p:sp>
        <p:nvSpPr>
          <p:cNvPr id="22" name="Text 20"/>
          <p:cNvSpPr/>
          <p:nvPr/>
        </p:nvSpPr>
        <p:spPr>
          <a:xfrm>
            <a:off x="4601617" y="4479230"/>
            <a:ext cx="3078378"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2202F"/>
                </a:solidFill>
                <a:latin typeface="Noto Sans KR" pitchFamily="34" charset="0"/>
                <a:ea typeface="Noto Sans KR" pitchFamily="34" charset="-122"/>
                <a:cs typeface="Noto Sans KR" pitchFamily="34" charset="-120"/>
              </a:rPr>
              <a:t>평균 기준선 대비</a:t>
            </a:r>
            <a:endParaRPr lang="en-US" sz="1600" dirty="0"/>
          </a:p>
        </p:txBody>
      </p:sp>
      <p:sp>
        <p:nvSpPr>
          <p:cNvPr id="23" name="Text 21"/>
          <p:cNvSpPr/>
          <p:nvPr/>
        </p:nvSpPr>
        <p:spPr>
          <a:xfrm>
            <a:off x="4601617" y="4806851"/>
            <a:ext cx="307837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카테고리 비율 오차 · 사용자 수정률</a:t>
            </a:r>
            <a:endParaRPr lang="en-US" sz="1200" dirty="0"/>
          </a:p>
        </p:txBody>
      </p:sp>
      <p:sp>
        <p:nvSpPr>
          <p:cNvPr id="24" name="Shape 22"/>
          <p:cNvSpPr/>
          <p:nvPr/>
        </p:nvSpPr>
        <p:spPr>
          <a:xfrm>
            <a:off x="7964984" y="3992860"/>
            <a:ext cx="3407866" cy="1842790"/>
          </a:xfrm>
          <a:prstGeom prst="roundRect">
            <a:avLst>
              <a:gd name="adj" fmla="val 5169"/>
            </a:avLst>
          </a:prstGeom>
          <a:solidFill>
            <a:srgbClr val="FDFDFB"/>
          </a:solidFill>
          <a:ln w="12700">
            <a:solidFill>
              <a:srgbClr val="DDE3E0"/>
            </a:solidFill>
            <a:prstDash val="solid"/>
          </a:ln>
        </p:spPr>
      </p:sp>
      <p:sp>
        <p:nvSpPr>
          <p:cNvPr id="25" name="Text 23"/>
          <p:cNvSpPr/>
          <p:nvPr/>
        </p:nvSpPr>
        <p:spPr>
          <a:xfrm>
            <a:off x="8174534" y="4202410"/>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806E"/>
                </a:solidFill>
                <a:latin typeface="Noto Sans KR" pitchFamily="34" charset="0"/>
                <a:ea typeface="Noto Sans KR" pitchFamily="34" charset="-122"/>
                <a:cs typeface="Noto Sans KR" pitchFamily="34" charset="-120"/>
              </a:rPr>
              <a:t>실패 대응</a:t>
            </a:r>
            <a:endParaRPr lang="en-US" sz="1200" dirty="0"/>
          </a:p>
        </p:txBody>
      </p:sp>
      <p:sp>
        <p:nvSpPr>
          <p:cNvPr id="26" name="Text 24"/>
          <p:cNvSpPr/>
          <p:nvPr/>
        </p:nvSpPr>
        <p:spPr>
          <a:xfrm>
            <a:off x="8174534" y="4479230"/>
            <a:ext cx="3078429"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2202F"/>
                </a:solidFill>
                <a:latin typeface="Noto Sans KR" pitchFamily="34" charset="0"/>
                <a:ea typeface="Noto Sans KR" pitchFamily="34" charset="-122"/>
                <a:cs typeface="Noto Sans KR" pitchFamily="34" charset="-120"/>
              </a:rPr>
              <a:t>안전한 종료</a:t>
            </a:r>
            <a:endParaRPr lang="en-US" sz="1600" dirty="0"/>
          </a:p>
        </p:txBody>
      </p:sp>
      <p:sp>
        <p:nvSpPr>
          <p:cNvPr id="27" name="Text 25"/>
          <p:cNvSpPr/>
          <p:nvPr/>
        </p:nvSpPr>
        <p:spPr>
          <a:xfrm>
            <a:off x="8174534" y="4806851"/>
            <a:ext cx="307842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장애 · 재생성 3회 실패 시 사용자 확인</a:t>
            </a:r>
            <a:endParaRPr lang="en-US" sz="1200" dirty="0"/>
          </a:p>
        </p:txBody>
      </p:sp>
      <p:sp>
        <p:nvSpPr>
          <p:cNvPr id="28" name="Text 2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0806E"/>
                </a:solidFill>
                <a:latin typeface="Noto Sans KR" pitchFamily="34" charset="0"/>
                <a:ea typeface="Noto Sans KR" pitchFamily="34" charset="-122"/>
                <a:cs typeface="Noto Sans KR" pitchFamily="34" charset="-120"/>
              </a:rPr>
              <a:t>PART 03 · 기대효과 · BM</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2202F"/>
                </a:solidFill>
                <a:latin typeface="Noto Sans KR" pitchFamily="34" charset="0"/>
                <a:ea typeface="Noto Sans KR" pitchFamily="34" charset="-122"/>
                <a:cs typeface="Noto Sans KR" pitchFamily="34" charset="-120"/>
              </a:rPr>
              <a:t>기대효과와 수익 모델 가설</a:t>
            </a:r>
            <a:endParaRPr lang="en-US" sz="2800" dirty="0"/>
          </a:p>
        </p:txBody>
      </p:sp>
      <p:sp>
        <p:nvSpPr>
          <p:cNvPr id="4" name="Text 2"/>
          <p:cNvSpPr/>
          <p:nvPr/>
        </p:nvSpPr>
        <p:spPr>
          <a:xfrm>
            <a:off x="812800" y="1765250"/>
            <a:ext cx="510159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Noto Sans KR" pitchFamily="34" charset="0"/>
                <a:ea typeface="Noto Sans KR" pitchFamily="34" charset="-122"/>
                <a:cs typeface="Noto Sans KR" pitchFamily="34" charset="-120"/>
              </a:rPr>
              <a:t>기대효과</a:t>
            </a:r>
            <a:endParaRPr lang="en-US" sz="1600" dirty="0"/>
          </a:p>
        </p:txBody>
      </p:sp>
      <p:sp>
        <p:nvSpPr>
          <p:cNvPr id="5" name="Shape 3"/>
          <p:cNvSpPr/>
          <p:nvPr/>
        </p:nvSpPr>
        <p:spPr>
          <a:xfrm>
            <a:off x="819150" y="2129730"/>
            <a:ext cx="4940300" cy="914400"/>
          </a:xfrm>
          <a:prstGeom prst="roundRect">
            <a:avLst>
              <a:gd name="adj" fmla="val 9028"/>
            </a:avLst>
          </a:prstGeom>
          <a:solidFill>
            <a:srgbClr val="FDFDFB"/>
          </a:solidFill>
          <a:ln w="12700">
            <a:solidFill>
              <a:srgbClr val="DDE3E0"/>
            </a:solidFill>
            <a:prstDash val="solid"/>
          </a:ln>
        </p:spPr>
      </p:sp>
      <p:sp>
        <p:nvSpPr>
          <p:cNvPr id="6" name="Text 4"/>
          <p:cNvSpPr/>
          <p:nvPr/>
        </p:nvSpPr>
        <p:spPr>
          <a:xfrm>
            <a:off x="1003300" y="2313880"/>
            <a:ext cx="4709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0806E"/>
                </a:solidFill>
                <a:latin typeface="Noto Sans KR" pitchFamily="34" charset="0"/>
                <a:ea typeface="Noto Sans KR" pitchFamily="34" charset="-122"/>
                <a:cs typeface="Noto Sans KR" pitchFamily="34" charset="-120"/>
              </a:rPr>
              <a:t>재무 점검 습관</a:t>
            </a:r>
            <a:endParaRPr lang="en-US" sz="1500" dirty="0"/>
          </a:p>
        </p:txBody>
      </p:sp>
      <p:sp>
        <p:nvSpPr>
          <p:cNvPr id="7" name="Text 5"/>
          <p:cNvSpPr/>
          <p:nvPr/>
        </p:nvSpPr>
        <p:spPr>
          <a:xfrm>
            <a:off x="1003300" y="2631380"/>
            <a:ext cx="470916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“얼마까지 써도 되는지” 매달 한 화면에서 확인</a:t>
            </a:r>
            <a:endParaRPr lang="en-US" sz="1200" dirty="0"/>
          </a:p>
        </p:txBody>
      </p:sp>
      <p:sp>
        <p:nvSpPr>
          <p:cNvPr id="8" name="Shape 6"/>
          <p:cNvSpPr/>
          <p:nvPr/>
        </p:nvSpPr>
        <p:spPr>
          <a:xfrm>
            <a:off x="819150" y="3171130"/>
            <a:ext cx="4940300" cy="914400"/>
          </a:xfrm>
          <a:prstGeom prst="roundRect">
            <a:avLst>
              <a:gd name="adj" fmla="val 9028"/>
            </a:avLst>
          </a:prstGeom>
          <a:solidFill>
            <a:srgbClr val="FDFDFB"/>
          </a:solidFill>
          <a:ln w="12700">
            <a:solidFill>
              <a:srgbClr val="DDE3E0"/>
            </a:solidFill>
            <a:prstDash val="solid"/>
          </a:ln>
        </p:spPr>
      </p:sp>
      <p:sp>
        <p:nvSpPr>
          <p:cNvPr id="9" name="Text 7"/>
          <p:cNvSpPr/>
          <p:nvPr/>
        </p:nvSpPr>
        <p:spPr>
          <a:xfrm>
            <a:off x="1003300" y="3355280"/>
            <a:ext cx="4709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0806E"/>
                </a:solidFill>
                <a:latin typeface="Noto Sans KR" pitchFamily="34" charset="0"/>
                <a:ea typeface="Noto Sans KR" pitchFamily="34" charset="-122"/>
                <a:cs typeface="Noto Sans KR" pitchFamily="34" charset="-120"/>
              </a:rPr>
              <a:t>포기 대신 회복</a:t>
            </a:r>
            <a:endParaRPr lang="en-US" sz="1500" dirty="0"/>
          </a:p>
        </p:txBody>
      </p:sp>
      <p:sp>
        <p:nvSpPr>
          <p:cNvPr id="10" name="Text 8"/>
          <p:cNvSpPr/>
          <p:nvPr/>
        </p:nvSpPr>
        <p:spPr>
          <a:xfrm>
            <a:off x="1003300" y="3672780"/>
            <a:ext cx="470916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돌발 지출 뒤에도 계획을 되살리는 경험</a:t>
            </a:r>
            <a:endParaRPr lang="en-US" sz="1200" dirty="0"/>
          </a:p>
        </p:txBody>
      </p:sp>
      <p:sp>
        <p:nvSpPr>
          <p:cNvPr id="11" name="Shape 9"/>
          <p:cNvSpPr/>
          <p:nvPr/>
        </p:nvSpPr>
        <p:spPr>
          <a:xfrm>
            <a:off x="819150" y="4212530"/>
            <a:ext cx="4940300" cy="914400"/>
          </a:xfrm>
          <a:prstGeom prst="roundRect">
            <a:avLst>
              <a:gd name="adj" fmla="val 9028"/>
            </a:avLst>
          </a:prstGeom>
          <a:solidFill>
            <a:srgbClr val="FDFDFB"/>
          </a:solidFill>
          <a:ln w="12700">
            <a:solidFill>
              <a:srgbClr val="DDE3E0"/>
            </a:solidFill>
            <a:prstDash val="solid"/>
          </a:ln>
        </p:spPr>
      </p:sp>
      <p:sp>
        <p:nvSpPr>
          <p:cNvPr id="12" name="Text 10"/>
          <p:cNvSpPr/>
          <p:nvPr/>
        </p:nvSpPr>
        <p:spPr>
          <a:xfrm>
            <a:off x="1003300" y="4396680"/>
            <a:ext cx="4709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0806E"/>
                </a:solidFill>
                <a:latin typeface="Noto Sans KR" pitchFamily="34" charset="0"/>
                <a:ea typeface="Noto Sans KR" pitchFamily="34" charset="-122"/>
                <a:cs typeface="Noto Sans KR" pitchFamily="34" charset="-120"/>
              </a:rPr>
              <a:t>큰 지출 미리 준비</a:t>
            </a:r>
            <a:endParaRPr lang="en-US" sz="1500" dirty="0"/>
          </a:p>
        </p:txBody>
      </p:sp>
      <p:sp>
        <p:nvSpPr>
          <p:cNvPr id="13" name="Text 11"/>
          <p:cNvSpPr/>
          <p:nvPr/>
        </p:nvSpPr>
        <p:spPr>
          <a:xfrm>
            <a:off x="1003300" y="4714180"/>
            <a:ext cx="470916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4525F"/>
                </a:solidFill>
                <a:latin typeface="Noto Sans KR" pitchFamily="34" charset="0"/>
                <a:ea typeface="Noto Sans KR" pitchFamily="34" charset="-122"/>
                <a:cs typeface="Noto Sans KR" pitchFamily="34" charset="-120"/>
              </a:rPr>
              <a:t>지원 제도와 대출 조건을 비교해 미리 준비</a:t>
            </a:r>
            <a:endParaRPr lang="en-US" sz="1200" dirty="0"/>
          </a:p>
        </p:txBody>
      </p:sp>
      <p:sp>
        <p:nvSpPr>
          <p:cNvPr id="14" name="Shape 12"/>
          <p:cNvSpPr/>
          <p:nvPr/>
        </p:nvSpPr>
        <p:spPr>
          <a:xfrm>
            <a:off x="5969000" y="1765250"/>
            <a:ext cx="5410200" cy="4076750"/>
          </a:xfrm>
          <a:prstGeom prst="roundRect">
            <a:avLst>
              <a:gd name="adj" fmla="val 2492"/>
            </a:avLst>
          </a:prstGeom>
          <a:solidFill>
            <a:srgbClr val="12202F"/>
          </a:solidFill>
          <a:ln/>
        </p:spPr>
      </p:sp>
      <p:sp>
        <p:nvSpPr>
          <p:cNvPr id="15" name="Text 13"/>
          <p:cNvSpPr/>
          <p:nvPr/>
        </p:nvSpPr>
        <p:spPr>
          <a:xfrm>
            <a:off x="6197600" y="1993850"/>
            <a:ext cx="510159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D700"/>
                </a:solidFill>
                <a:latin typeface="Noto Sans KR" pitchFamily="34" charset="0"/>
                <a:ea typeface="Noto Sans KR" pitchFamily="34" charset="-122"/>
                <a:cs typeface="Noto Sans KR" pitchFamily="34" charset="-120"/>
              </a:rPr>
              <a:t>BM 가설</a:t>
            </a:r>
            <a:endParaRPr lang="en-US" sz="1600" dirty="0"/>
          </a:p>
        </p:txBody>
      </p:sp>
      <p:sp>
        <p:nvSpPr>
          <p:cNvPr id="16" name="Shape 14"/>
          <p:cNvSpPr/>
          <p:nvPr/>
        </p:nvSpPr>
        <p:spPr>
          <a:xfrm>
            <a:off x="6197600" y="3002855"/>
            <a:ext cx="4953000" cy="0"/>
          </a:xfrm>
          <a:prstGeom prst="line">
            <a:avLst/>
          </a:prstGeom>
          <a:noFill/>
          <a:ln w="6350">
            <a:solidFill>
              <a:srgbClr val="2E4256"/>
            </a:solidFill>
            <a:prstDash val="solid"/>
          </a:ln>
        </p:spPr>
      </p:sp>
      <p:sp>
        <p:nvSpPr>
          <p:cNvPr id="17" name="Text 15"/>
          <p:cNvSpPr/>
          <p:nvPr/>
        </p:nvSpPr>
        <p:spPr>
          <a:xfrm>
            <a:off x="6197600" y="2351980"/>
            <a:ext cx="510159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7F3"/>
                </a:solidFill>
                <a:latin typeface="Noto Sans KR" pitchFamily="34" charset="0"/>
                <a:ea typeface="Noto Sans KR" pitchFamily="34" charset="-122"/>
                <a:cs typeface="Noto Sans KR" pitchFamily="34" charset="-120"/>
              </a:rPr>
              <a:t>프리미엄 구독</a:t>
            </a:r>
            <a:endParaRPr lang="en-US" sz="1500" dirty="0"/>
          </a:p>
        </p:txBody>
      </p:sp>
      <p:sp>
        <p:nvSpPr>
          <p:cNvPr id="18" name="Text 16"/>
          <p:cNvSpPr/>
          <p:nvPr/>
        </p:nvSpPr>
        <p:spPr>
          <a:xfrm>
            <a:off x="6197600" y="2656780"/>
            <a:ext cx="510159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5D3DA"/>
                </a:solidFill>
                <a:latin typeface="Noto Sans KR" pitchFamily="34" charset="0"/>
                <a:ea typeface="Noto Sans KR" pitchFamily="34" charset="-122"/>
                <a:cs typeface="Noto Sans KR" pitchFamily="34" charset="-120"/>
              </a:rPr>
              <a:t>상세 리포트 · 목표 코칭 유료화 검토</a:t>
            </a:r>
            <a:endParaRPr lang="en-US" sz="1200" dirty="0"/>
          </a:p>
        </p:txBody>
      </p:sp>
      <p:sp>
        <p:nvSpPr>
          <p:cNvPr id="19" name="Shape 17"/>
          <p:cNvSpPr/>
          <p:nvPr/>
        </p:nvSpPr>
        <p:spPr>
          <a:xfrm>
            <a:off x="6197600" y="3771205"/>
            <a:ext cx="4953000" cy="0"/>
          </a:xfrm>
          <a:prstGeom prst="line">
            <a:avLst/>
          </a:prstGeom>
          <a:noFill/>
          <a:ln w="6350">
            <a:solidFill>
              <a:srgbClr val="2E4256"/>
            </a:solidFill>
            <a:prstDash val="solid"/>
          </a:ln>
        </p:spPr>
      </p:sp>
      <p:sp>
        <p:nvSpPr>
          <p:cNvPr id="20" name="Text 18"/>
          <p:cNvSpPr/>
          <p:nvPr/>
        </p:nvSpPr>
        <p:spPr>
          <a:xfrm>
            <a:off x="6197600" y="3120330"/>
            <a:ext cx="510159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7F3"/>
                </a:solidFill>
                <a:latin typeface="Noto Sans KR" pitchFamily="34" charset="0"/>
                <a:ea typeface="Noto Sans KR" pitchFamily="34" charset="-122"/>
                <a:cs typeface="Noto Sans KR" pitchFamily="34" charset="-120"/>
              </a:rPr>
              <a:t>청년 금융상품 제휴</a:t>
            </a:r>
            <a:endParaRPr lang="en-US" sz="1500" dirty="0"/>
          </a:p>
        </p:txBody>
      </p:sp>
      <p:sp>
        <p:nvSpPr>
          <p:cNvPr id="21" name="Text 19"/>
          <p:cNvSpPr/>
          <p:nvPr/>
        </p:nvSpPr>
        <p:spPr>
          <a:xfrm>
            <a:off x="6197600" y="3425130"/>
            <a:ext cx="510159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5D3DA"/>
                </a:solidFill>
                <a:latin typeface="Noto Sans KR" pitchFamily="34" charset="0"/>
                <a:ea typeface="Noto Sans KR" pitchFamily="34" charset="-122"/>
                <a:cs typeface="Noto Sans KR" pitchFamily="34" charset="-120"/>
              </a:rPr>
              <a:t>제휴가 추천 순위를 바꾸지 않음</a:t>
            </a:r>
            <a:endParaRPr lang="en-US" sz="1200" dirty="0"/>
          </a:p>
        </p:txBody>
      </p:sp>
      <p:sp>
        <p:nvSpPr>
          <p:cNvPr id="22" name="Text 20"/>
          <p:cNvSpPr/>
          <p:nvPr/>
        </p:nvSpPr>
        <p:spPr>
          <a:xfrm>
            <a:off x="6197600" y="3888680"/>
            <a:ext cx="510159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7F3"/>
                </a:solidFill>
                <a:latin typeface="Noto Sans KR" pitchFamily="34" charset="0"/>
                <a:ea typeface="Noto Sans KR" pitchFamily="34" charset="-122"/>
                <a:cs typeface="Noto Sans KR" pitchFamily="34" charset="-120"/>
              </a:rPr>
              <a:t>B2B · B2G 금융교육</a:t>
            </a:r>
            <a:endParaRPr lang="en-US" sz="1500" dirty="0"/>
          </a:p>
        </p:txBody>
      </p:sp>
      <p:sp>
        <p:nvSpPr>
          <p:cNvPr id="23" name="Text 21"/>
          <p:cNvSpPr/>
          <p:nvPr/>
        </p:nvSpPr>
        <p:spPr>
          <a:xfrm>
            <a:off x="6197600" y="4193480"/>
            <a:ext cx="510159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5D3DA"/>
                </a:solidFill>
                <a:latin typeface="Noto Sans KR" pitchFamily="34" charset="0"/>
                <a:ea typeface="Noto Sans KR" pitchFamily="34" charset="-122"/>
                <a:cs typeface="Noto Sans KR" pitchFamily="34" charset="-120"/>
              </a:rPr>
              <a:t>신입사원 온보딩 · 청년센터 연계</a:t>
            </a:r>
            <a:endParaRPr lang="en-US" sz="1200" dirty="0"/>
          </a:p>
        </p:txBody>
      </p:sp>
      <p:sp>
        <p:nvSpPr>
          <p:cNvPr id="24"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0"/>
                </a:solidFill>
                <a:latin typeface="Noto Sans KR" pitchFamily="34" charset="0"/>
                <a:ea typeface="Noto Sans KR" pitchFamily="34" charset="-122"/>
                <a:cs typeface="Noto Sans K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202F"/>
        </a:solidFill>
      </p:bgPr>
    </p:bg>
    <p:spTree>
      <p:nvGrpSpPr>
        <p:cNvPr id="1" name=""/>
        <p:cNvGrpSpPr/>
        <p:nvPr/>
      </p:nvGrpSpPr>
      <p:grpSpPr>
        <a:xfrm>
          <a:off x="0" y="0"/>
          <a:ext cx="0" cy="0"/>
          <a:chOff x="0" y="0"/>
          <a:chExt cx="0" cy="0"/>
        </a:xfrm>
      </p:grpSpPr>
      <p:sp>
        <p:nvSpPr>
          <p:cNvPr id="2" name="Shape 0"/>
          <p:cNvSpPr/>
          <p:nvPr/>
        </p:nvSpPr>
        <p:spPr>
          <a:xfrm>
            <a:off x="8509000" y="1143000"/>
            <a:ext cx="2794000" cy="2794000"/>
          </a:xfrm>
          <a:prstGeom prst="roundRect">
            <a:avLst>
              <a:gd name="adj" fmla="val 50000"/>
            </a:avLst>
          </a:prstGeom>
          <a:solidFill>
            <a:srgbClr val="00BFA5">
              <a:alpha val="16000"/>
            </a:srgbClr>
          </a:solidFill>
          <a:ln/>
        </p:spPr>
      </p:sp>
      <p:sp>
        <p:nvSpPr>
          <p:cNvPr id="3" name="Shape 1"/>
          <p:cNvSpPr/>
          <p:nvPr/>
        </p:nvSpPr>
        <p:spPr>
          <a:xfrm>
            <a:off x="9525000" y="2667000"/>
            <a:ext cx="1905000" cy="1905000"/>
          </a:xfrm>
          <a:prstGeom prst="roundRect">
            <a:avLst>
              <a:gd name="adj" fmla="val 50000"/>
            </a:avLst>
          </a:prstGeom>
          <a:solidFill>
            <a:srgbClr val="FFD700">
              <a:alpha val="14000"/>
            </a:srgbClr>
          </a:solidFill>
          <a:ln/>
        </p:spPr>
      </p:sp>
      <p:sp>
        <p:nvSpPr>
          <p:cNvPr id="4" name="Text 2"/>
          <p:cNvSpPr/>
          <p:nvPr>
            <p:ph type="title"/>
          </p:nvPr>
        </p:nvSpPr>
        <p:spPr>
          <a:xfrm>
            <a:off x="812800" y="2431107"/>
            <a:ext cx="10883392" cy="1025525"/>
          </a:xfrm>
          <a:prstGeom prst="rect">
            <a:avLst/>
          </a:prstGeom>
          <a:noFill/>
          <a:ln/>
        </p:spPr>
        <p:txBody>
          <a:bodyPr wrap="square" lIns="0" tIns="0" rIns="0" bIns="0" rtlCol="0" anchor="t">
            <a:normAutofit/>
          </a:bodyPr>
          <a:lstStyle/>
          <a:p>
            <a:pPr algn="l" indent="0" marL="0">
              <a:lnSpc>
                <a:spcPts val="7875"/>
              </a:lnSpc>
              <a:buNone/>
            </a:pPr>
            <a:r>
              <a:rPr lang="en-US" sz="7500" b="1" i="0" dirty="0">
                <a:solidFill>
                  <a:srgbClr val="F6F7F3"/>
                </a:solidFill>
                <a:latin typeface="Noto Sans KR" pitchFamily="34" charset="0"/>
                <a:ea typeface="Noto Sans KR" pitchFamily="34" charset="-122"/>
                <a:cs typeface="Noto Sans KR" pitchFamily="34" charset="-120"/>
              </a:rPr>
              <a:t>Q&amp;A</a:t>
            </a:r>
            <a:endParaRPr lang="en-US" sz="7500" dirty="0"/>
          </a:p>
        </p:txBody>
      </p:sp>
      <p:sp>
        <p:nvSpPr>
          <p:cNvPr id="5" name="Text 3"/>
          <p:cNvSpPr/>
          <p:nvPr/>
        </p:nvSpPr>
        <p:spPr>
          <a:xfrm>
            <a:off x="812800" y="3609032"/>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DCE6EA"/>
                </a:solidFill>
                <a:latin typeface="Noto Sans KR" pitchFamily="34" charset="0"/>
                <a:ea typeface="Noto Sans KR" pitchFamily="34" charset="-122"/>
                <a:cs typeface="Noto Sans KR" pitchFamily="34" charset="-120"/>
              </a:rPr>
              <a:t>감사합니다</a:t>
            </a:r>
            <a:endParaRPr lang="en-US" sz="2200" dirty="0"/>
          </a:p>
        </p:txBody>
      </p:sp>
      <p:sp>
        <p:nvSpPr>
          <p:cNvPr id="6" name="Text 4"/>
          <p:cNvSpPr/>
          <p:nvPr/>
        </p:nvSpPr>
        <p:spPr>
          <a:xfrm>
            <a:off x="812800" y="4177953"/>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BFA5"/>
                </a:solidFill>
                <a:latin typeface="Noto Sans KR" pitchFamily="34" charset="0"/>
                <a:ea typeface="Noto Sans KR" pitchFamily="34" charset="-122"/>
                <a:cs typeface="Noto Sans KR" pitchFamily="34" charset="-120"/>
              </a:rPr>
              <a:t>머니쿠션 · SK네트웍스 Family AI 캠프 33기 4팀</a:t>
            </a:r>
            <a:endParaRPr lang="en-US" sz="1400" dirty="0"/>
          </a:p>
        </p:txBody>
      </p:sp>
    </p:spTree>
  </p:cSld>
  <p:clrMapOvr>
    <a:masterClrMapping/>
  </p:clrMapOvr>
</p:sld>
</file>

<file path=ppt/theme/theme1.xml><?xml version="1.0" encoding="utf-8"?>
<a:theme xmlns:a="http://schemas.openxmlformats.org/drawingml/2006/main" name="머니쿠션 중간 발표">
  <a:themeElements>
    <a:clrScheme name="머니쿠션 중간 발표">
      <a:dk1>
        <a:srgbClr val="12202F"/>
      </a:dk1>
      <a:lt1>
        <a:srgbClr val="F6F7F3"/>
      </a:lt1>
      <a:dk2>
        <a:srgbClr val="4B5660"/>
      </a:dk2>
      <a:lt2>
        <a:srgbClr val="DFE2DF"/>
      </a:lt2>
      <a:accent1>
        <a:srgbClr val="00806E"/>
      </a:accent1>
      <a:accent2>
        <a:srgbClr val="00BFA5"/>
      </a:accent2>
      <a:accent3>
        <a:srgbClr val="FFD700"/>
      </a:accent3>
      <a:accent4>
        <a:srgbClr val="FFF3B0"/>
      </a:accent4>
      <a:accent5>
        <a:srgbClr val="44525F"/>
      </a:accent5>
      <a:accent6>
        <a:srgbClr val="8A96A0"/>
      </a:accent6>
      <a:hlink>
        <a:srgbClr val="0563C1"/>
      </a:hlink>
      <a:folHlink>
        <a:srgbClr val="954F72"/>
      </a:folHlink>
    </a:clrScheme>
    <a:fontScheme name="머니쿠션 중간 발표">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머니쿠션 중간 발표</dc:title>
  <dc:subject/>
  <dc:creator/>
  <cp:lastModifiedBy/>
  <cp:revision>1</cp:revision>
  <dcterms:created xsi:type="dcterms:W3CDTF">2026-10-14T08:50:16Z</dcterms:created>
  <dcterms:modified xsi:type="dcterms:W3CDTF">2026-10-14T08:50:16Z</dcterms:modified>
</cp:coreProperties>
</file>